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9acc19e324147" /><Relationship Type="http://schemas.openxmlformats.org/officeDocument/2006/relationships/extended-properties" Target="/docProps/app.xml" Id="R4f2126f135b04248" /><Relationship Type="http://schemas.openxmlformats.org/officeDocument/2006/relationships/officeDocument" Target="/ppt/presentation.xml" Id="Re006fcc1b8da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fa55dc7cdd4bfc"/>
  </p:sldMasterIdLst>
  <p:notesMasterIdLst>
    <p:notesMasterId xmlns:r="http://schemas.openxmlformats.org/officeDocument/2006/relationships" r:id="R93beb4eadc234ebb"/>
  </p:notesMasterIdLst>
  <p:sldIdLst>
    <p:sldId xmlns:r="http://schemas.openxmlformats.org/officeDocument/2006/relationships" id="256" r:id="R43d4af4cb6334984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2dfbf858704908" /><Relationship Type="http://schemas.openxmlformats.org/officeDocument/2006/relationships/slideMaster" Target="/ppt/slideMasters/slideMaster1.xml" Id="R7afa55dc7cdd4bfc" /><Relationship Type="http://schemas.openxmlformats.org/officeDocument/2006/relationships/notesMaster" Target="/ppt/notesMasters/notesMaster1.xml" Id="R93beb4eadc234ebb" /><Relationship Type="http://schemas.openxmlformats.org/officeDocument/2006/relationships/presProps" Target="/ppt/presProps.xml" Id="R7ad6d0ae20dc426b" /><Relationship Type="http://schemas.openxmlformats.org/officeDocument/2006/relationships/viewProps" Target="/ppt/viewProps.xml" Id="R5dc37a4e82c74478" /><Relationship Type="http://schemas.openxmlformats.org/officeDocument/2006/relationships/tableStyles" Target="/ppt/tableStyles.xml" Id="R2dea999e59f04003" /><Relationship Type="http://schemas.openxmlformats.org/officeDocument/2006/relationships/slide" Target="/ppt/slides/slide1.xml" Id="R43d4af4cb633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319a10f35441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b7215628a84e8d" /><Relationship Type="http://schemas.openxmlformats.org/officeDocument/2006/relationships/notesMaster" Target="/ppt/notesMasters/notesMaster1.xml" Id="Rfe24a1da15e741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model: MOSR. Source model identity: unchanged delivered R152 checkpoint.</a:t>
            </a:r>
            <a:endParaRPr/>
          </a:p>
          <a:p xmlns:a="http://schemas.openxmlformats.org/drawingml/2006/main">
            <a:pPr>
              <a:buNone/>
            </a:pPr>
            <a:r>
              <a:t>Data: C:\Users\Rio\.codex\worktrees\impact-r152\GMM_2_Final\Experiments\R152_IMPACT2026Validation\results\separate_conditions\poster_data_30steps.json</a:t>
            </a:r>
            <a:endParaRPr/>
          </a:p>
          <a:p xmlns:a="http://schemas.openxmlformats.org/drawingml/2006/main">
            <a:pPr>
              <a:buNone/>
            </a:pPr>
            <a:r>
              <a:t>20x: September 3 thesis run 003412_XY_0, acquisition run 7, the first evaluation run after the existing first-six-RAW-scan direction calibration split. Use all 31 frames and all 30 adjacent steps. This presentation selection follows the user request after full 30-scan auditing and is not a preregistered original-study choice.</a:t>
            </a:r>
            <a:endParaRPr/>
          </a:p>
          <a:p xmlns:a="http://schemas.openxmlformats.org/drawingml/2006/main">
            <a:pPr>
              <a:buNone/>
            </a:pPr>
            <a:r>
              <a:t>50x: July 2 original 1 micrometer cohort, all 30 original Raw-locked adjacent pairs, ordered by acquisition index. They are selected pairs rather than a new 31-frame scan.</a:t>
            </a:r>
            <a:endParaRPr/>
          </a:p>
          <a:p xmlns:a="http://schemas.openxmlformats.org/drawingml/2006/main">
            <a:pPr>
              <a:buNone/>
            </a:pPr>
            <a:r>
              <a:t>Each headline is 100*(1-SD(MOSR)/SD(Raw)), using sample SD of exactly 30 image-measured steps in that condition. There is no pooled scan statistic and no cross-objective average on this poster.</a:t>
            </a:r>
            <a:endParaRPr/>
          </a:p>
          <a:p xmlns:a="http://schemas.openxmlformats.org/drawingml/2006/main">
            <a:pPr>
              <a:buNone/>
            </a:pPr>
            <a:r>
              <a:t>Curve values are observed image-measured displacements minus nominal 1000 nm, with identical axes in both plots. No per-method recentering, detrending, scaling, clipping or outlier removal is applied.</a:t>
            </a:r>
            <a:endParaRPr/>
          </a:p>
          <a:p xmlns:a="http://schemas.openxmlformats.org/drawingml/2006/main">
            <a:pPr>
              <a:buNone/>
            </a:pPr>
            <a:r>
              <a:t>The complete 30-scan 20x study and 0.5 micrometer 50x result remain in the supplementary records. The submitted two-page manuscript is unchanged.</a:t>
            </a:r>
            <a:endParaRPr/>
          </a:p>
          <a:p xmlns:a="http://schemas.openxmlformats.org/drawingml/2006/main">
            <a:pPr>
              <a:buNone/>
            </a:pPr>
            <a:r>
              <a:t>Both methods use the same normal-gradient geometric LSC family with the same settings within each condition. The submitted manuscript supplies references [1]-[4].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1cce3d47346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ef8e271ab43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6b79641ec47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54a55cf1f4b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e483239dd41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8e1ca7ed34f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7b32d83d549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aac536ebe49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153b8a5e3418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88b5008bb4e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302a107b64088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87e1cd321e4659" /><Relationship Type="http://schemas.openxmlformats.org/officeDocument/2006/relationships/slideLayout" Target="/ppt/slideLayouts/slideLayout1.xml" Id="R95bc589b5d3e4cef" /><Relationship Type="http://schemas.openxmlformats.org/officeDocument/2006/relationships/slideLayout" Target="/ppt/slideLayouts/slideLayout2.xml" Id="Ra3a6d2871ad24c5d" /><Relationship Type="http://schemas.openxmlformats.org/officeDocument/2006/relationships/slideLayout" Target="/ppt/slideLayouts/slideLayout3.xml" Id="R8fa419c03d274722" /><Relationship Type="http://schemas.openxmlformats.org/officeDocument/2006/relationships/slideLayout" Target="/ppt/slideLayouts/slideLayout4.xml" Id="Ra4c503b6ddcf4561" /><Relationship Type="http://schemas.openxmlformats.org/officeDocument/2006/relationships/slideLayout" Target="/ppt/slideLayouts/slideLayout5.xml" Id="R8ffbb8ad005c4068" /><Relationship Type="http://schemas.openxmlformats.org/officeDocument/2006/relationships/slideLayout" Target="/ppt/slideLayouts/slideLayout6.xml" Id="R380e98951eb541ae" /><Relationship Type="http://schemas.openxmlformats.org/officeDocument/2006/relationships/slideLayout" Target="/ppt/slideLayouts/slideLayout7.xml" Id="R045de67172fc42b1" /><Relationship Type="http://schemas.openxmlformats.org/officeDocument/2006/relationships/slideLayout" Target="/ppt/slideLayouts/slideLayout8.xml" Id="Rde7b15898783454e" /><Relationship Type="http://schemas.openxmlformats.org/officeDocument/2006/relationships/slideLayout" Target="/ppt/slideLayouts/slideLayout9.xml" Id="R215c2f77b19e4893" /><Relationship Type="http://schemas.openxmlformats.org/officeDocument/2006/relationships/slideLayout" Target="/ppt/slideLayouts/slideLayout10.xml" Id="Ra84b04cb15e64f55" /><Relationship Type="http://schemas.openxmlformats.org/officeDocument/2006/relationships/slideLayout" Target="/ppt/slideLayouts/slideLayout11.xml" Id="R858fcbeafcaf411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c589b5d3e4cef"/>
    <p:sldLayoutId xmlns:r="http://schemas.openxmlformats.org/officeDocument/2006/relationships" id="2147483650" r:id="Ra3a6d2871ad24c5d"/>
    <p:sldLayoutId xmlns:r="http://schemas.openxmlformats.org/officeDocument/2006/relationships" id="2147483651" r:id="R8fa419c03d274722"/>
    <p:sldLayoutId xmlns:r="http://schemas.openxmlformats.org/officeDocument/2006/relationships" id="2147483652" r:id="Ra4c503b6ddcf4561"/>
    <p:sldLayoutId xmlns:r="http://schemas.openxmlformats.org/officeDocument/2006/relationships" id="2147483653" r:id="R8ffbb8ad005c4068"/>
    <p:sldLayoutId xmlns:r="http://schemas.openxmlformats.org/officeDocument/2006/relationships" id="2147483654" r:id="R380e98951eb541ae"/>
    <p:sldLayoutId xmlns:r="http://schemas.openxmlformats.org/officeDocument/2006/relationships" id="2147483655" r:id="R045de67172fc42b1"/>
    <p:sldLayoutId xmlns:r="http://schemas.openxmlformats.org/officeDocument/2006/relationships" id="2147483656" r:id="Rde7b15898783454e"/>
    <p:sldLayoutId xmlns:r="http://schemas.openxmlformats.org/officeDocument/2006/relationships" id="2147483657" r:id="R215c2f77b19e4893"/>
    <p:sldLayoutId xmlns:r="http://schemas.openxmlformats.org/officeDocument/2006/relationships" id="2147483658" r:id="Ra84b04cb15e64f55"/>
    <p:sldLayoutId xmlns:r="http://schemas.openxmlformats.org/officeDocument/2006/relationships" id="2147483659" r:id="R858fcbeafcaf4111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8c5a5c0c74a2f" /><Relationship Type="http://schemas.openxmlformats.org/officeDocument/2006/relationships/image" Target="/ppt/media/image.jpeg" Id="Rb6e1dd8785224077" /><Relationship Type="http://schemas.openxmlformats.org/officeDocument/2006/relationships/image" Target="/ppt/media/image.png" Id="Rd72bbfa86a98449b" /><Relationship Type="http://schemas.openxmlformats.org/officeDocument/2006/relationships/image" Target="/ppt/media/image2.png" Id="R32a6f7471aa14673" /><Relationship Type="http://schemas.openxmlformats.org/officeDocument/2006/relationships/image" Target="/ppt/media/image3.png" Id="R4c6eb4c15f124849" /><Relationship Type="http://schemas.openxmlformats.org/officeDocument/2006/relationships/image" Target="/ppt/media/image4.png" Id="Rb86307395df74880" /><Relationship Type="http://schemas.openxmlformats.org/officeDocument/2006/relationships/chart" Target="/ppt/slides/charts/chart1.xml" Id="R0818a8b9828241e5" /><Relationship Type="http://schemas.openxmlformats.org/officeDocument/2006/relationships/chart" Target="/ppt/slides/charts/chart2.xml" Id="Rd13bf76d325a4ed5" /><Relationship Type="http://schemas.openxmlformats.org/officeDocument/2006/relationships/notesSlide" Target="/ppt/notesSlides/notesSlide1.xml" Id="R0c7b637e29b9477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-5.500603</c:v>
                </c:pt>
                <c:pt idx="1">
                  <c:v>-5.908449</c:v>
                </c:pt>
                <c:pt idx="2">
                  <c:v>2.69955</c:v>
                </c:pt>
                <c:pt idx="3">
                  <c:v>4.106944</c:v>
                </c:pt>
                <c:pt idx="4">
                  <c:v>8.655457</c:v>
                </c:pt>
                <c:pt idx="5">
                  <c:v>2.396533</c:v>
                </c:pt>
                <c:pt idx="6">
                  <c:v>-8.565548</c:v>
                </c:pt>
                <c:pt idx="7">
                  <c:v>0.508422</c:v>
                </c:pt>
                <c:pt idx="8">
                  <c:v>12.650861</c:v>
                </c:pt>
                <c:pt idx="9">
                  <c:v>-5.735517</c:v>
                </c:pt>
                <c:pt idx="10">
                  <c:v>11.784784</c:v>
                </c:pt>
                <c:pt idx="11">
                  <c:v>-26.069287</c:v>
                </c:pt>
                <c:pt idx="12">
                  <c:v>5.606411</c:v>
                </c:pt>
                <c:pt idx="13">
                  <c:v>10.025318</c:v>
                </c:pt>
                <c:pt idx="14">
                  <c:v>-11.478591</c:v>
                </c:pt>
                <c:pt idx="15">
                  <c:v>20.234999</c:v>
                </c:pt>
                <c:pt idx="16">
                  <c:v>-8.759684</c:v>
                </c:pt>
                <c:pt idx="17">
                  <c:v>-4.175094</c:v>
                </c:pt>
                <c:pt idx="18">
                  <c:v>10.560885</c:v>
                </c:pt>
                <c:pt idx="19">
                  <c:v>-5.878099</c:v>
                </c:pt>
                <c:pt idx="20">
                  <c:v>4.019884</c:v>
                </c:pt>
                <c:pt idx="21">
                  <c:v>3.772859</c:v>
                </c:pt>
                <c:pt idx="22">
                  <c:v>4.2599</c:v>
                </c:pt>
                <c:pt idx="23">
                  <c:v>0.617848</c:v>
                </c:pt>
                <c:pt idx="24">
                  <c:v>7.136656</c:v>
                </c:pt>
                <c:pt idx="25">
                  <c:v>0.218938</c:v>
                </c:pt>
                <c:pt idx="26">
                  <c:v>9.489033</c:v>
                </c:pt>
                <c:pt idx="27">
                  <c:v>11.02197</c:v>
                </c:pt>
                <c:pt idx="28">
                  <c:v>-10.847007</c:v>
                </c:pt>
                <c:pt idx="29">
                  <c:v>9.775089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1.216177</c:v>
                </c:pt>
                <c:pt idx="1">
                  <c:v>2.717153</c:v>
                </c:pt>
                <c:pt idx="2">
                  <c:v>-5.017586</c:v>
                </c:pt>
                <c:pt idx="3">
                  <c:v>-4.797491</c:v>
                </c:pt>
                <c:pt idx="4">
                  <c:v>-6.494276</c:v>
                </c:pt>
                <c:pt idx="5">
                  <c:v>8.034867</c:v>
                </c:pt>
                <c:pt idx="6">
                  <c:v>2.334531</c:v>
                </c:pt>
                <c:pt idx="7">
                  <c:v>-0.051228</c:v>
                </c:pt>
                <c:pt idx="8">
                  <c:v>-4.941241</c:v>
                </c:pt>
                <c:pt idx="9">
                  <c:v>-2.722</c:v>
                </c:pt>
                <c:pt idx="10">
                  <c:v>5.586717</c:v>
                </c:pt>
                <c:pt idx="11">
                  <c:v>6.563323</c:v>
                </c:pt>
                <c:pt idx="12">
                  <c:v>2.912163</c:v>
                </c:pt>
                <c:pt idx="13">
                  <c:v>2.068432</c:v>
                </c:pt>
                <c:pt idx="14">
                  <c:v>-1.430616</c:v>
                </c:pt>
                <c:pt idx="15">
                  <c:v>2.43275</c:v>
                </c:pt>
                <c:pt idx="16">
                  <c:v>17.393</c:v>
                </c:pt>
                <c:pt idx="17">
                  <c:v>9.439032</c:v>
                </c:pt>
                <c:pt idx="18">
                  <c:v>7.841508</c:v>
                </c:pt>
                <c:pt idx="19">
                  <c:v>-1.531477</c:v>
                </c:pt>
                <c:pt idx="20">
                  <c:v>2.702926</c:v>
                </c:pt>
                <c:pt idx="21">
                  <c:v>-0.045107</c:v>
                </c:pt>
                <c:pt idx="22">
                  <c:v>12.382601</c:v>
                </c:pt>
                <c:pt idx="23">
                  <c:v>-0.034985</c:v>
                </c:pt>
                <c:pt idx="24">
                  <c:v>0.03399</c:v>
                </c:pt>
                <c:pt idx="25">
                  <c:v>-3.439241</c:v>
                </c:pt>
                <c:pt idx="26">
                  <c:v>11.283227</c:v>
                </c:pt>
                <c:pt idx="27">
                  <c:v>-2.529997</c:v>
                </c:pt>
                <c:pt idx="28">
                  <c:v>1.623318</c:v>
                </c:pt>
                <c:pt idx="29">
                  <c:v>-5.178834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-3.227868</c:v>
                </c:pt>
                <c:pt idx="1">
                  <c:v>2.710964</c:v>
                </c:pt>
                <c:pt idx="2">
                  <c:v>-2.745939</c:v>
                </c:pt>
                <c:pt idx="3">
                  <c:v>-10.368061</c:v>
                </c:pt>
                <c:pt idx="4">
                  <c:v>-3.924594</c:v>
                </c:pt>
                <c:pt idx="5">
                  <c:v>9.661482</c:v>
                </c:pt>
                <c:pt idx="6">
                  <c:v>-1.869753</c:v>
                </c:pt>
                <c:pt idx="7">
                  <c:v>-3.653498</c:v>
                </c:pt>
                <c:pt idx="8">
                  <c:v>2.079089</c:v>
                </c:pt>
                <c:pt idx="9">
                  <c:v>1.76388</c:v>
                </c:pt>
                <c:pt idx="10">
                  <c:v>-0.209511</c:v>
                </c:pt>
                <c:pt idx="11">
                  <c:v>6.087434</c:v>
                </c:pt>
                <c:pt idx="12">
                  <c:v>0.209496</c:v>
                </c:pt>
                <c:pt idx="13">
                  <c:v>2.521649</c:v>
                </c:pt>
                <c:pt idx="14">
                  <c:v>4.634937</c:v>
                </c:pt>
                <c:pt idx="15">
                  <c:v>5.615431</c:v>
                </c:pt>
                <c:pt idx="16">
                  <c:v>0.258603</c:v>
                </c:pt>
                <c:pt idx="17">
                  <c:v>1.537293</c:v>
                </c:pt>
                <c:pt idx="18">
                  <c:v>1.837462</c:v>
                </c:pt>
                <c:pt idx="19">
                  <c:v>1.170726</c:v>
                </c:pt>
                <c:pt idx="20">
                  <c:v>1.593509</c:v>
                </c:pt>
                <c:pt idx="21">
                  <c:v>1.493215</c:v>
                </c:pt>
                <c:pt idx="22">
                  <c:v>5.060378</c:v>
                </c:pt>
                <c:pt idx="23">
                  <c:v>-2.324919</c:v>
                </c:pt>
                <c:pt idx="24">
                  <c:v>8.597368</c:v>
                </c:pt>
                <c:pt idx="25">
                  <c:v>4.286585</c:v>
                </c:pt>
                <c:pt idx="26">
                  <c:v>0.363105</c:v>
                </c:pt>
                <c:pt idx="27">
                  <c:v>5.261717</c:v>
                </c:pt>
                <c:pt idx="28">
                  <c:v>4.081247</c:v>
                </c:pt>
                <c:pt idx="29">
                  <c:v>1.123131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2.686368</c:v>
                </c:pt>
                <c:pt idx="1">
                  <c:v>9.182534</c:v>
                </c:pt>
                <c:pt idx="2">
                  <c:v>2.138453</c:v>
                </c:pt>
                <c:pt idx="3">
                  <c:v>19.038464</c:v>
                </c:pt>
                <c:pt idx="4">
                  <c:v>7.55241</c:v>
                </c:pt>
                <c:pt idx="5">
                  <c:v>8.292485</c:v>
                </c:pt>
                <c:pt idx="6">
                  <c:v>1.938353</c:v>
                </c:pt>
                <c:pt idx="7">
                  <c:v>0.169756</c:v>
                </c:pt>
                <c:pt idx="8">
                  <c:v>12.516923</c:v>
                </c:pt>
                <c:pt idx="9">
                  <c:v>-7.524604</c:v>
                </c:pt>
                <c:pt idx="10">
                  <c:v>7.555743</c:v>
                </c:pt>
                <c:pt idx="11">
                  <c:v>-6.01632</c:v>
                </c:pt>
                <c:pt idx="12">
                  <c:v>2.937759</c:v>
                </c:pt>
                <c:pt idx="13">
                  <c:v>4.849974</c:v>
                </c:pt>
                <c:pt idx="14">
                  <c:v>-1.991931</c:v>
                </c:pt>
                <c:pt idx="15">
                  <c:v>7.006504</c:v>
                </c:pt>
                <c:pt idx="16">
                  <c:v>10.385565</c:v>
                </c:pt>
                <c:pt idx="17">
                  <c:v>4.370432</c:v>
                </c:pt>
                <c:pt idx="18">
                  <c:v>-4.605217</c:v>
                </c:pt>
                <c:pt idx="19">
                  <c:v>1.729503</c:v>
                </c:pt>
                <c:pt idx="20">
                  <c:v>6.639988</c:v>
                </c:pt>
                <c:pt idx="21">
                  <c:v>2.952791</c:v>
                </c:pt>
                <c:pt idx="22">
                  <c:v>1.565323</c:v>
                </c:pt>
                <c:pt idx="23">
                  <c:v>-1.842113</c:v>
                </c:pt>
                <c:pt idx="24">
                  <c:v>11.002118</c:v>
                </c:pt>
                <c:pt idx="25">
                  <c:v>7.265897</c:v>
                </c:pt>
                <c:pt idx="26">
                  <c:v>-3.046962</c:v>
                </c:pt>
                <c:pt idx="27">
                  <c:v>12.251693</c:v>
                </c:pt>
                <c:pt idx="28">
                  <c:v>1.922943</c:v>
                </c:pt>
                <c:pt idx="29">
                  <c:v>4.484335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0.776912</c:v>
                </c:pt>
                <c:pt idx="1">
                  <c:v>9.592831</c:v>
                </c:pt>
                <c:pt idx="2">
                  <c:v>0.733851</c:v>
                </c:pt>
                <c:pt idx="3">
                  <c:v>9.536013</c:v>
                </c:pt>
                <c:pt idx="4">
                  <c:v>6.043761</c:v>
                </c:pt>
                <c:pt idx="5">
                  <c:v>8.937796</c:v>
                </c:pt>
                <c:pt idx="6">
                  <c:v>5.038577</c:v>
                </c:pt>
                <c:pt idx="7">
                  <c:v>-2.234989</c:v>
                </c:pt>
                <c:pt idx="8">
                  <c:v>8.741583</c:v>
                </c:pt>
                <c:pt idx="9">
                  <c:v>-9.188174</c:v>
                </c:pt>
                <c:pt idx="10">
                  <c:v>4.837024</c:v>
                </c:pt>
                <c:pt idx="11">
                  <c:v>2.31548</c:v>
                </c:pt>
                <c:pt idx="12">
                  <c:v>0.548453</c:v>
                </c:pt>
                <c:pt idx="13">
                  <c:v>0.922328</c:v>
                </c:pt>
                <c:pt idx="14">
                  <c:v>1.656364</c:v>
                </c:pt>
                <c:pt idx="15">
                  <c:v>7.469376</c:v>
                </c:pt>
                <c:pt idx="16">
                  <c:v>8.894075</c:v>
                </c:pt>
                <c:pt idx="17">
                  <c:v>1.793953</c:v>
                </c:pt>
                <c:pt idx="18">
                  <c:v>-7.004938</c:v>
                </c:pt>
                <c:pt idx="19">
                  <c:v>0.586654</c:v>
                </c:pt>
                <c:pt idx="20">
                  <c:v>6.626341</c:v>
                </c:pt>
                <c:pt idx="21">
                  <c:v>1.477375</c:v>
                </c:pt>
                <c:pt idx="22">
                  <c:v>1.980899</c:v>
                </c:pt>
                <c:pt idx="23">
                  <c:v>2.507699</c:v>
                </c:pt>
                <c:pt idx="24">
                  <c:v>3.572485</c:v>
                </c:pt>
                <c:pt idx="25">
                  <c:v>8.726712</c:v>
                </c:pt>
                <c:pt idx="26">
                  <c:v>3.90271</c:v>
                </c:pt>
                <c:pt idx="27">
                  <c:v>10.370118</c:v>
                </c:pt>
                <c:pt idx="28">
                  <c:v>7.791488</c:v>
                </c:pt>
                <c:pt idx="29">
                  <c:v>4.299462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0.680232</c:v>
                </c:pt>
                <c:pt idx="1">
                  <c:v>12.242885</c:v>
                </c:pt>
                <c:pt idx="2">
                  <c:v>1.863735</c:v>
                </c:pt>
                <c:pt idx="3">
                  <c:v>12.564694</c:v>
                </c:pt>
                <c:pt idx="4">
                  <c:v>5.435655</c:v>
                </c:pt>
                <c:pt idx="5">
                  <c:v>7.208391</c:v>
                </c:pt>
                <c:pt idx="6">
                  <c:v>4.623323</c:v>
                </c:pt>
                <c:pt idx="7">
                  <c:v>-1.305476</c:v>
                </c:pt>
                <c:pt idx="8">
                  <c:v>7.424037</c:v>
                </c:pt>
                <c:pt idx="9">
                  <c:v>-7.976704</c:v>
                </c:pt>
                <c:pt idx="10">
                  <c:v>3.492664</c:v>
                </c:pt>
                <c:pt idx="11">
                  <c:v>-1.536607</c:v>
                </c:pt>
                <c:pt idx="12">
                  <c:v>0.768757</c:v>
                </c:pt>
                <c:pt idx="13">
                  <c:v>0.782678</c:v>
                </c:pt>
                <c:pt idx="14">
                  <c:v>-0.286744</c:v>
                </c:pt>
                <c:pt idx="15">
                  <c:v>4.945026</c:v>
                </c:pt>
                <c:pt idx="16">
                  <c:v>9.192739</c:v>
                </c:pt>
                <c:pt idx="17">
                  <c:v>1.055709</c:v>
                </c:pt>
                <c:pt idx="18">
                  <c:v>-5.153098</c:v>
                </c:pt>
                <c:pt idx="19">
                  <c:v>-0.645551</c:v>
                </c:pt>
                <c:pt idx="20">
                  <c:v>6.037578</c:v>
                </c:pt>
                <c:pt idx="21">
                  <c:v>0.465356</c:v>
                </c:pt>
                <c:pt idx="22">
                  <c:v>4.159249</c:v>
                </c:pt>
                <c:pt idx="23">
                  <c:v>3.294079</c:v>
                </c:pt>
                <c:pt idx="24">
                  <c:v>2.30634</c:v>
                </c:pt>
                <c:pt idx="25">
                  <c:v>6.304203</c:v>
                </c:pt>
                <c:pt idx="26">
                  <c:v>2.782126</c:v>
                </c:pt>
                <c:pt idx="27">
                  <c:v>8.773705</c:v>
                </c:pt>
                <c:pt idx="28">
                  <c:v>3.920411</c:v>
                </c:pt>
                <c:pt idx="29">
                  <c:v>2.086435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062500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35625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96875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1dd87852240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C35648B5-472B-404F-BAE0-29C960A5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91FFB1B9-5310-4C8E-83FE-1A58F7F4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9C402D2B-005F-4037-A776-ED3AC171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A11441C3-C67B-40A1-AFB0-D6257768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6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estimates motion from image features. A sharper reconstructed edge is useful when its measured position remains stable. Optical blur, pixel sampling and reconstruction-induced boundary shifts can all change the reported displacement, especially when an inspection workflow switches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U-Net context [1], calibrated optical guidance and anti-aliased processing [2] to address these effects. Bounded correction retains the original image grid and limits geometry changes while improving boundary visibility. One fixed set of learned weights serves both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this study compares Raw, fixed Wiener and MOSR at 20× and 50×. Each condition contributes 30 measured single steps. The central outcome is the variation of these steps, linking reconstruction quality directly to displacement measurement.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19CEA3AC-F667-4309-81F7-EE25B70F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750" y="16406250"/>
            <a:ext cx="4968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527AAAAA-5E56-4514-9ED1-31ACE576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000" y="16406250"/>
            <a:ext cx="4968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 xmlns:a="http://schemas.openxmlformats.org/drawingml/2006/main">
              <a:ext uri="{FF2B5EF4-FFF2-40B4-BE49-F238E27FC236}">
                <a16:creationId xmlns:a16="http://schemas.microsoft.com/office/drawing/2014/main" id="{C852B771-A49F-466C-9729-ED060D8B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6734375"/>
            <a:ext cx="1546875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bbfa86a98449b"/>
          <a:stretch xmlns:a="http://schemas.openxmlformats.org/drawingml/2006/main"/>
        </p:blipFill>
        <p:spPr>
          <a:xfrm xmlns:a="http://schemas.openxmlformats.org/drawingml/2006/main">
            <a:off x="1893750" y="17250000"/>
            <a:ext cx="4968750" cy="4968750"/>
          </a:xfrm>
          <a:prstGeom xmlns:a="http://schemas.openxmlformats.org/drawingml/2006/main" prst="rect">
            <a:avLst/>
          </a:prstGeom>
        </p:spPr>
      </p:pic>
      <p:sp>
        <p:nvSpPr>
          <p:cNvPr id="3104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8DB6C5DB-0990-404E-BAB8-3E65FABF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096" y="21871875"/>
            <a:ext cx="5939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2FA1572D-B8E6-4D5A-98C1-EC7C9FE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96" y="21365625"/>
            <a:ext cx="968904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6f7471aa14673"/>
          <a:stretch xmlns:a="http://schemas.openxmlformats.org/drawingml/2006/main"/>
        </p:blipFill>
        <p:spPr>
          <a:xfrm xmlns:a="http://schemas.openxmlformats.org/drawingml/2006/main">
            <a:off x="9300000" y="17250000"/>
            <a:ext cx="4968750" cy="4968750"/>
          </a:xfrm>
          <a:prstGeom xmlns:a="http://schemas.openxmlformats.org/drawingml/2006/main" prst="rect">
            <a:avLst/>
          </a:prstGeom>
        </p:spPr>
      </p:pic>
      <p:sp>
        <p:nvSpPr>
          <p:cNvPr id="3107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5F03BE97-7DA9-42E2-9C97-BED69569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7346" y="21871875"/>
            <a:ext cx="5939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4F8E8B12-0F85-4A8B-B13A-8CFCFDCB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846" y="21365625"/>
            <a:ext cx="968904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 xmlns:a="http://schemas.openxmlformats.org/drawingml/2006/main">
              <a:ext uri="{FF2B5EF4-FFF2-40B4-BE49-F238E27FC236}">
                <a16:creationId xmlns:a16="http://schemas.microsoft.com/office/drawing/2014/main" id="{AFD4380E-D5AF-4095-8D8E-85E3A1EA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2453125"/>
            <a:ext cx="1546875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eb4c15f124849"/>
          <a:stretch xmlns:a="http://schemas.openxmlformats.org/drawingml/2006/main"/>
        </p:blipFill>
        <p:spPr>
          <a:xfrm xmlns:a="http://schemas.openxmlformats.org/drawingml/2006/main">
            <a:off x="1893750" y="22979694"/>
            <a:ext cx="4968750" cy="4946861"/>
          </a:xfrm>
          <a:prstGeom xmlns:a="http://schemas.openxmlformats.org/drawingml/2006/main" prst="rect">
            <a:avLst/>
          </a:prstGeom>
        </p:spPr>
      </p:pic>
      <p:sp>
        <p:nvSpPr>
          <p:cNvPr id="3111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71A693A6-355C-4FFC-97B2-37AAEAF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543" y="27590625"/>
            <a:ext cx="634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63557CBF-C3E4-4533-8EBD-747719D7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043" y="27084375"/>
            <a:ext cx="1009457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307395df74880"/>
          <a:stretch xmlns:a="http://schemas.openxmlformats.org/drawingml/2006/main"/>
        </p:blipFill>
        <p:spPr>
          <a:xfrm xmlns:a="http://schemas.openxmlformats.org/drawingml/2006/main">
            <a:off x="9300000" y="22979694"/>
            <a:ext cx="4968750" cy="4946861"/>
          </a:xfrm>
          <a:prstGeom xmlns:a="http://schemas.openxmlformats.org/drawingml/2006/main" prst="rect">
            <a:avLst/>
          </a:prstGeom>
        </p:spPr>
      </p:pic>
      <p:sp>
        <p:nvSpPr>
          <p:cNvPr id="3114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6F67D9E4-8AD6-4C1D-9F8C-714893C2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793" y="27590625"/>
            <a:ext cx="634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F9803184-C54A-4FD6-87D6-CFB07C04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9293" y="27084375"/>
            <a:ext cx="1009457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EFB4038C-E05E-4375-B24E-BA2476C4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078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measured 20× and 50×, 1 µm datasets. Paired images use identical fields and grayscale ranges.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5BDFB114-075A-4BE3-8D74-4D35178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0562500"/>
            <a:ext cx="13875000" cy="6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 and reconstruction. At 20×, 31 frames form 30 consecutive steps; 50× uses the original 30 locked adjacent pairs. Both conditions employ a 1 µm nominal step. MOSR uses fixed weights and native-grid outputs, with 25 measured PSF kernels at 20× and one calibrated kernel at 50×. Fixed Wiener uses a regularization value of 0.0565.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and center. A coarse active contour [3] initializes each pillar boundary. Intensity profiles normal to the contour use 0.1-pixel spacing. Quadratic refinement locates each gradient maximum between samples. Geometric least-squares circle fitting [4] uses 64 refined points at 20× and 96 at 50× to estimate the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 and statistics. Coordinate-wise medians of nine pillar-center changes define the array shift. Its component along the acquisition motion direction gives the measured step. Object-space conversion uses the scale in Table I. Each condition yields one sample SD from its 30 steps. Raw, Wiener and MOSR share the same images, features and center-calculation settings.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DB56DBE0-0C2F-4EA4-895E-8D1D25C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78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"/>
          <p:cNvGraphicFramePr/>
          <p:nvPr/>
        </p:nvGraphicFramePr>
        <p:xfrm>
          <a:off xmlns:a="http://schemas.openxmlformats.org/drawingml/2006/main" x="1218750" y="38531250"/>
          <a:ext xmlns:a="http://schemas.openxmlformats.org/drawingml/2006/main" cx="13781250" cy="173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2500"/>
                <a:gridCol w="2906250"/>
                <a:gridCol w="4781250"/>
                <a:gridCol w="3281250"/>
              </a:tblGrid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EB5D8AC9-FFC9-4B49-8850-CC522B4A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593750"/>
            <a:ext cx="13781250" cy="11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uses all 30 displacements with denominator 29. Reduction (%) = 100 × (1 − SD(MOSR) / SD(Raw)). Each trace plots measured step minus the nominal 1 µm; each objective is summarized separately.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4456E7B6-9ADB-4BC5-98B1-6EE52263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 xmlns:a="http://schemas.openxmlformats.org/drawingml/2006/main">
              <a:ext uri="{FF2B5EF4-FFF2-40B4-BE49-F238E27FC236}">
                <a16:creationId xmlns:a16="http://schemas.microsoft.com/office/drawing/2014/main" id="{35019B60-8893-4431-B347-60EF6AF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7187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123" name="20x_gain">
            <a:extLst xmlns:a="http://schemas.openxmlformats.org/drawingml/2006/main">
              <a:ext uri="{FF2B5EF4-FFF2-40B4-BE49-F238E27FC236}">
                <a16:creationId xmlns:a16="http://schemas.microsoft.com/office/drawing/2014/main" id="{847DF336-23FA-4727-BB8B-EE0BA6AE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7265625" cy="154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124" name="20x_values">
            <a:extLst xmlns:a="http://schemas.openxmlformats.org/drawingml/2006/main">
              <a:ext uri="{FF2B5EF4-FFF2-40B4-BE49-F238E27FC236}">
                <a16:creationId xmlns:a16="http://schemas.microsoft.com/office/drawing/2014/main" id="{C72275CE-22D7-4F5D-A34A-34B9CB8F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1293750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9.506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  MOSR</a:t>
            </a:r>
          </a:p>
        </p:txBody>
      </p:sp>
      <p:sp>
        <p:nvSpPr>
          <p:cNvPr id="3125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CB2839E1-F846-4491-ADE9-F7DD82BF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203125"/>
            <a:ext cx="13593750" cy="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mlns:a="http://schemas.openxmlformats.org/drawingml/2006/main" x="17062500" y="15093750"/>
          <a:ext xmlns:a="http://schemas.openxmlformats.org/drawingml/2006/main" cx="14156250" cy="562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18a8b9828241e5"/>
          </a:graphicData>
        </a:graphic>
      </p:graphicFrame>
      <p:sp>
        <p:nvSpPr>
          <p:cNvPr id="3127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6F702251-1429-43A9-8076-EE3508DB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0906250"/>
            <a:ext cx="13781250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Thirty single-step displacements at 20×. The traces show measured step minus 1 µm, using the same axes and units as the 50× experiment.</a:t>
            </a:r>
          </a:p>
        </p:txBody>
      </p:sp>
      <p:sp>
        <p:nvSpPr>
          <p:cNvPr id="3128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C5AFD605-3DB7-48CA-8722-FAC33798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Step SD decreases from 9.506 nm for Raw to 5.794 nm for fixed Wiener and 4.068 nm for MOSR. MOSR reduces the variation by 57.2% relative to Raw.</a:t>
            </a:r>
          </a:p>
        </p:txBody>
      </p:sp>
      <p:sp>
        <p:nvSpPr>
          <p:cNvPr id="3129" name="50x_heading">
            <a:extLst xmlns:a="http://schemas.openxmlformats.org/drawingml/2006/main">
              <a:ext uri="{FF2B5EF4-FFF2-40B4-BE49-F238E27FC236}">
                <a16:creationId xmlns:a16="http://schemas.microsoft.com/office/drawing/2014/main" id="{8F053F6C-1E5F-4830-BA1B-4ADFFA15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9062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130" name="50x_gain">
            <a:extLst xmlns:a="http://schemas.openxmlformats.org/drawingml/2006/main">
              <a:ext uri="{FF2B5EF4-FFF2-40B4-BE49-F238E27FC236}">
                <a16:creationId xmlns:a16="http://schemas.microsoft.com/office/drawing/2014/main" id="{845E828D-CB72-4618-A621-7D98E29B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843750"/>
            <a:ext cx="7265625" cy="1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 xmlns:a="http://schemas.openxmlformats.org/drawingml/2006/main">
              <a:ext uri="{FF2B5EF4-FFF2-40B4-BE49-F238E27FC236}">
                <a16:creationId xmlns:a16="http://schemas.microsoft.com/office/drawing/2014/main" id="{2EDF9C6E-FC88-4B70-9E94-91023251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2503125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59B338FB-9EDF-41A2-ACF5-14711A79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250000"/>
            <a:ext cx="135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mlns:a="http://schemas.openxmlformats.org/drawingml/2006/main" x="17062500" y="27000000"/>
          <a:ext xmlns:a="http://schemas.openxmlformats.org/drawingml/2006/main" cx="14156250" cy="47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3bf76d325a4ed5"/>
          </a:graphicData>
        </a:graphic>
      </p:graphicFrame>
      <p:sp>
        <p:nvSpPr>
          <p:cNvPr id="3134" name="fig3_caption">
            <a:extLst xmlns:a="http://schemas.openxmlformats.org/drawingml/2006/main">
              <a:ext uri="{FF2B5EF4-FFF2-40B4-BE49-F238E27FC236}">
                <a16:creationId xmlns:a16="http://schemas.microsoft.com/office/drawing/2014/main" id="{E959230F-A566-4993-ACF7-28D9226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96875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Thirty locked single-step displacements at 50×. Step SD is 5.938 nm for Raw, 4.722 nm for fixed Wiener and 4.542 nm for MOSR.</a:t>
            </a:r>
          </a:p>
        </p:txBody>
      </p:sp>
      <p:sp>
        <p:nvSpPr>
          <p:cNvPr id="3135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848232E7-6A56-4829-8E09-9ACCE5C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156250"/>
            <a:ext cx="13781250" cy="24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the SD of 30 measured single steps by 57.2% at 20× and 23.5% at 50×, at a common nominal step of 1 µm. Each result retains its own acquisition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calibrated optical inputs. Clearer boundaries and lower step variation support cross-magnification optical inspection.</a:t>
            </a:r>
          </a:p>
        </p:txBody>
      </p:sp>
      <p:sp>
        <p:nvSpPr>
          <p:cNvPr id="3136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58B6191E-8A8F-4C43-925B-D4240390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9375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2026-09-29T17:34:22.7190000Z</dcterms:created>
  <dcterms:modified xsi:type="dcterms:W3CDTF">2026-09-29T17:34:22.7190000Z</dcterms:modified>
</coreProperties>
</file>