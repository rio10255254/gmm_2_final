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c20a883a8e4282" /><Relationship Type="http://schemas.openxmlformats.org/officeDocument/2006/relationships/extended-properties" Target="/docProps/app.xml" Id="R454ceec59fa949fb" /><Relationship Type="http://schemas.openxmlformats.org/officeDocument/2006/relationships/officeDocument" Target="/ppt/presentation.xml" Id="Ra371e5e0e7e14a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e9cf33afb345d2"/>
  </p:sldMasterIdLst>
  <p:notesMasterIdLst>
    <p:notesMasterId xmlns:r="http://schemas.openxmlformats.org/officeDocument/2006/relationships" r:id="Rdaabd4eecb8c4f60"/>
  </p:notesMasterIdLst>
  <p:sldIdLst>
    <p:sldId xmlns:r="http://schemas.openxmlformats.org/officeDocument/2006/relationships" id="256" r:id="R6d831ee8902748c6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fa9491d79146b6" /><Relationship Type="http://schemas.openxmlformats.org/officeDocument/2006/relationships/slideMaster" Target="/ppt/slideMasters/slideMaster1.xml" Id="R6ee9cf33afb345d2" /><Relationship Type="http://schemas.openxmlformats.org/officeDocument/2006/relationships/notesMaster" Target="/ppt/notesMasters/notesMaster1.xml" Id="Rdaabd4eecb8c4f60" /><Relationship Type="http://schemas.openxmlformats.org/officeDocument/2006/relationships/presProps" Target="/ppt/presProps.xml" Id="R247caf4d70a44acb" /><Relationship Type="http://schemas.openxmlformats.org/officeDocument/2006/relationships/viewProps" Target="/ppt/viewProps.xml" Id="R82109d1c9eae479b" /><Relationship Type="http://schemas.openxmlformats.org/officeDocument/2006/relationships/tableStyles" Target="/ppt/tableStyles.xml" Id="Ra0dea9e00f854063" /><Relationship Type="http://schemas.openxmlformats.org/officeDocument/2006/relationships/slide" Target="/ppt/slides/slide1.xml" Id="R6d831ee8902748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e43227a6b642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530235b9a4484" /><Relationship Type="http://schemas.openxmlformats.org/officeDocument/2006/relationships/notesMaster" Target="/ppt/notesMasters/notesMaster1.xml" Id="R2afee81603bc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 name: MOSR. Internal provenance maps to the fixed R152 delivery checkpoint in the experiment record.</a:t>
            </a:r>
            <a:endParaRPr/>
          </a:p>
          <a:p xmlns:a="http://schemas.openxmlformats.org/drawingml/2006/main">
            <a:pPr>
              <a:buNone/>
            </a:pPr>
            <a:r>
              <a:t>User selected the original four-condition dataset with 30 single steps per condition; the separate 30-repeat-scan dataset is not part of this poster.</a:t>
            </a:r>
            <a:endParaRPr/>
          </a:p>
          <a:p xmlns:a="http://schemas.openxmlformats.org/drawingml/2006/main">
            <a:pPr>
              <a:buNone/>
            </a:pPr>
            <a:r>
              <a:t>Source summary: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Source pair data: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Primary quantity: one sample SD (ddof=1) of 30 image-measured single-step displacements per condition. The four SDs are averaged arithmetically. Percentage reduction of the mean uses the ratio of those means.</a:t>
            </a:r>
            <a:endParaRPr/>
          </a:p>
          <a:p xmlns:a="http://schemas.openxmlformats.org/drawingml/2006/main">
            <a:pPr>
              <a:buNone/>
            </a:pPr>
            <a:r>
              <a:t>Images are the first locked 0.5 µm frame at each objective. Common crop and grayscale mapping; exact image paths remain in the source inspection manifest.</a:t>
            </a:r>
            <a:endParaRPr/>
          </a:p>
          <a:p xmlns:a="http://schemas.openxmlformats.org/drawingml/2006/main">
            <a:pPr>
              <a:buNone/>
            </a:pPr>
            <a:r>
              <a:t>Chart style follows the submitted manuscript: Times New Roman chart text, monochrome patterns, explicit native-pixel scales, zero-baseline axes, and manuscript-style captions and table rules.</a:t>
            </a:r>
            <a:endParaRPr/>
          </a:p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e92e2bd2044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3babb0d1849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ab7ddd05c4c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4153c88bb41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c837af8d746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c30cacb4c40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a396ad32a40e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27abe8a404c0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682d01d9c4c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847b18cf94a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6066654aa41e9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1899366-7325-4CA7-BB8A-475EEBEFBDA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974007CE-BE5F-4E18-8945-E5D56EC5F5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3EEF59-354E-428F-B83A-6D513D1E4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30371A2-8C8F-45D3-9ADF-4003343F74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B630F1-FA2D-4848-862D-B5844E3A1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0659A61-6956-4A38-B377-58103644A3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2F6E4C2-38D3-4176-B4DC-44400F8A1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CB76581C-1483-4F17-8FF6-2E2F144A0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52AEAF1C-2C68-4CA0-B563-C38C296899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3A193C5-07FD-42DC-9CE1-2F837D3A2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326F465-9034-4E6E-99FE-6B9BD83577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49025D1-B084-49CA-9DC3-23FCB3C879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5F3F4EC9-DFE9-4A83-AF38-39536996697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508336FA-AA25-4138-8CDF-AD8B688C456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F181088-C852-4091-ABE5-4CB9C1CAB5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A062849-40D4-4CA0-9EFF-6A8E23E771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472DA5C-F03F-4472-8FF6-13A9FA46A7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1D96F81-B0EC-47E5-B5DF-024E55E6FE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3006325-AAB0-445B-9878-D343279DD9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78A0CD51-DEA9-408A-93DD-6EBC680ED6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8713B038-8026-47FC-8E2B-197428B1D8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0507067-4D12-4580-B758-175259B9E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1792DEBA-2409-4D0D-AF6D-9E9275B9D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086ADA45-24BD-4307-B615-F7CCD77D9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2ED5579-E44D-4CA6-90D0-1F73FC6022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fa987daf9545f7" /><Relationship Type="http://schemas.openxmlformats.org/officeDocument/2006/relationships/slideLayout" Target="/ppt/slideLayouts/slideLayout1.xml" Id="R93d6abfd7f6446ca" /><Relationship Type="http://schemas.openxmlformats.org/officeDocument/2006/relationships/slideLayout" Target="/ppt/slideLayouts/slideLayout2.xml" Id="R8d75520656604e00" /><Relationship Type="http://schemas.openxmlformats.org/officeDocument/2006/relationships/slideLayout" Target="/ppt/slideLayouts/slideLayout3.xml" Id="R4d7b3b7c03754ee9" /><Relationship Type="http://schemas.openxmlformats.org/officeDocument/2006/relationships/slideLayout" Target="/ppt/slideLayouts/slideLayout4.xml" Id="R111d5ba5ff354460" /><Relationship Type="http://schemas.openxmlformats.org/officeDocument/2006/relationships/slideLayout" Target="/ppt/slideLayouts/slideLayout5.xml" Id="R4d8c5e9661954930" /><Relationship Type="http://schemas.openxmlformats.org/officeDocument/2006/relationships/slideLayout" Target="/ppt/slideLayouts/slideLayout6.xml" Id="R8c6ba234db954532" /><Relationship Type="http://schemas.openxmlformats.org/officeDocument/2006/relationships/slideLayout" Target="/ppt/slideLayouts/slideLayout7.xml" Id="R2d64f060958f4014" /><Relationship Type="http://schemas.openxmlformats.org/officeDocument/2006/relationships/slideLayout" Target="/ppt/slideLayouts/slideLayout8.xml" Id="R2b5cd0e4e75a42b1" /><Relationship Type="http://schemas.openxmlformats.org/officeDocument/2006/relationships/slideLayout" Target="/ppt/slideLayouts/slideLayout9.xml" Id="R2616c8352af44055" /><Relationship Type="http://schemas.openxmlformats.org/officeDocument/2006/relationships/slideLayout" Target="/ppt/slideLayouts/slideLayout10.xml" Id="Rc346f8fc4e7c4308" /><Relationship Type="http://schemas.openxmlformats.org/officeDocument/2006/relationships/slideLayout" Target="/ppt/slideLayouts/slideLayout11.xml" Id="R44a298d9b852435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d6abfd7f6446ca"/>
    <p:sldLayoutId xmlns:r="http://schemas.openxmlformats.org/officeDocument/2006/relationships" id="2147483650" r:id="R8d75520656604e00"/>
    <p:sldLayoutId xmlns:r="http://schemas.openxmlformats.org/officeDocument/2006/relationships" id="2147483651" r:id="R4d7b3b7c03754ee9"/>
    <p:sldLayoutId xmlns:r="http://schemas.openxmlformats.org/officeDocument/2006/relationships" id="2147483652" r:id="R111d5ba5ff354460"/>
    <p:sldLayoutId xmlns:r="http://schemas.openxmlformats.org/officeDocument/2006/relationships" id="2147483653" r:id="R4d8c5e9661954930"/>
    <p:sldLayoutId xmlns:r="http://schemas.openxmlformats.org/officeDocument/2006/relationships" id="2147483654" r:id="R8c6ba234db954532"/>
    <p:sldLayoutId xmlns:r="http://schemas.openxmlformats.org/officeDocument/2006/relationships" id="2147483655" r:id="R2d64f060958f4014"/>
    <p:sldLayoutId xmlns:r="http://schemas.openxmlformats.org/officeDocument/2006/relationships" id="2147483656" r:id="R2b5cd0e4e75a42b1"/>
    <p:sldLayoutId xmlns:r="http://schemas.openxmlformats.org/officeDocument/2006/relationships" id="2147483657" r:id="R2616c8352af44055"/>
    <p:sldLayoutId xmlns:r="http://schemas.openxmlformats.org/officeDocument/2006/relationships" id="2147483658" r:id="Rc346f8fc4e7c4308"/>
    <p:sldLayoutId xmlns:r="http://schemas.openxmlformats.org/officeDocument/2006/relationships" id="2147483659" r:id="R44a298d9b8524354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cfad87cd1460d" /><Relationship Type="http://schemas.openxmlformats.org/officeDocument/2006/relationships/image" Target="/ppt/media/image.jpeg" Id="Rc1b2731b8b784c39" /><Relationship Type="http://schemas.openxmlformats.org/officeDocument/2006/relationships/image" Target="/ppt/media/image.png" Id="Rfdc71896b7a64bcd" /><Relationship Type="http://schemas.openxmlformats.org/officeDocument/2006/relationships/image" Target="/ppt/media/image2.png" Id="R13dc2cf4bd094197" /><Relationship Type="http://schemas.openxmlformats.org/officeDocument/2006/relationships/image" Target="/ppt/media/image3.png" Id="Rcafc00e68e9e49dd" /><Relationship Type="http://schemas.openxmlformats.org/officeDocument/2006/relationships/image" Target="/ppt/media/image4.png" Id="Ra5e7e5cfc0df4bed" /><Relationship Type="http://schemas.openxmlformats.org/officeDocument/2006/relationships/chart" Target="/ppt/slides/charts/chart1.xml" Id="R4e2e84a4728d40e8" /><Relationship Type="http://schemas.openxmlformats.org/officeDocument/2006/relationships/notesSlide" Target="/ppt/notesSlides/notesSlide1.xml" Id="Rd97fccb7f14f489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5.237896</c:v>
              </c:pt>
              <c:pt idx="1">
                <c:v>5.430076</c:v>
              </c:pt>
              <c:pt idx="2">
                <c:v>14.162182</c:v>
              </c:pt>
              <c:pt idx="3">
                <c:v>10.527768</c:v>
              </c:pt>
            </c:numLit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4.907045</c:v>
              </c:pt>
              <c:pt idx="1">
                <c:v>4.589671</c:v>
              </c:pt>
              <c:pt idx="2">
                <c:v>11.076843</c:v>
              </c:pt>
              <c:pt idx="3">
                <c:v>11.006544</c:v>
              </c:pt>
            </c:numLit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4.722652</c:v>
              </c:pt>
              <c:pt idx="1">
                <c:v>4.547155</c:v>
              </c:pt>
              <c:pt idx="2">
                <c:v>10.754313</c:v>
              </c:pt>
              <c:pt idx="3">
                <c:v>8.429192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7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Objective / nominal step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32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0E247A59-3983-4AC9-8365-27C6DB2D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D01DD5C-D179-4CFA-8130-1163F064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7EC3A2D4-2D99-4E60-AFB3-08E6CE74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6C3A9D74-633A-421D-87BB-E6F61C87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25781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B389AFC5-EFC8-439B-B746-65490171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FAA94CC5-FAEF-4D85-822D-385758BC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B8711894-315D-46CA-8F75-FC7445E2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875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EB70231D-41C3-49FE-BDC0-94DD32BE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E873DC96-D251-46B3-9854-537D2C8F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C89BE15D-84FB-4A5A-9370-E340BF2D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3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2731b8b784c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20084710-0907-4128-B1BB-ADAC1158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02CEF0F8-D19B-4834-8B79-E32D6F94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A46DDFA0-D1CC-41B0-8F8F-FF0E58DD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BF14EAC2-85B9-4539-AC4F-5768B414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benefits from reconstruction when clearer boundaries produce more stable position measurements. Changing magnification changes object-space sampling and the pixel phase of the same motion. Single-step displacement dispersion therefore provides a direct test of measurement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original pixel grid. One fixed set of learned weights serves 20× and 50× objectives. Raw, fixed Wiener and MOSR use the same image pairs and pillar identities.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995160A3-8AE6-44E1-900A-6F004C31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305F402A-D6A2-44CE-BA56-AD909E33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×">
            <a:extLst xmlns:a="http://schemas.openxmlformats.org/drawingml/2006/main">
              <a:ext uri="{FF2B5EF4-FFF2-40B4-BE49-F238E27FC236}">
                <a16:creationId xmlns:a16="http://schemas.microsoft.com/office/drawing/2014/main" id="{9D325452-FA1E-4F30-B673-366F00DD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71896b7a64bcd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4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728C8531-E1A9-452C-86C7-11D907B3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BAFD4373-CA9F-4059-8341-0CC1DD9A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c2cf4bd094197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7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8CA7CED5-92B0-4529-8527-F7ED700A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0EB130B9-B943-4414-9827-844DFB2A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×">
            <a:extLst xmlns:a="http://schemas.openxmlformats.org/drawingml/2006/main">
              <a:ext uri="{FF2B5EF4-FFF2-40B4-BE49-F238E27FC236}">
                <a16:creationId xmlns:a16="http://schemas.microsoft.com/office/drawing/2014/main" id="{A39E7797-5540-4A5F-B70F-36040E1C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c00e68e9e49dd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1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D72181BD-E084-4D34-A623-28FE9A7B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D22E542B-C9D1-4AA4-A811-2A04C796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7e5cfc0df4bed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4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0A0C32AF-3BB1-45A4-8FB9-2FAE0E4C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AF487171-D160-4DEE-91FB-C8B131F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419CED98-687D-4098-BA24-3F05463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Native-grid Raw and MOSR pillar fields at 20× and 50×. The common display range preserves direct visual comparison.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0F7D3B5F-F130-4F34-AD3B-26ABC723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47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PSF-guided correction. The learned weights remain fixed across objectives. Optical inputs comprise 25 measured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geometric least-squares circle (LSC) centers [4]. The common reader refines each pillar with 720 uniform radial directions, 0.05-pixel profile sampling and three center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Each image pair yields nine independent horizontal center shifts. After conversion to object space, their absolute median defines one single-step displacement. The same procedure applies to all three image methods.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C010CAD1-DB80-499D-B220-C541D964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FIXED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345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6250"/>
                <a:gridCol w="3468750"/>
                <a:gridCol w="2812500"/>
                <a:gridCol w="3843750"/>
              </a:tblGrid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28CCBEE2-6DC3-44A6-B81E-AC6D9B76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875000"/>
            <a:ext cx="13781250" cy="9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 each condition, Step SD is the sample standard deviation of its 30 single-step displacements (denominator 29). The reported mean is the arithmetic mean of the four condition-level SDs.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92D4F801-9555-4AD5-B27B-7CCA0A91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6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condition contributes one Step SD from 30 measured single steps. MOSR yields the lowest Step SD in all four conditions, directly linking reconstruction to reduced step-to-step dispersion.</a:t>
            </a:r>
          </a:p>
        </p:txBody>
      </p:sp>
      <p:sp>
        <p:nvSpPr>
          <p:cNvPr id="3122" name="primary_gain">
            <a:extLst xmlns:a="http://schemas.openxmlformats.org/drawingml/2006/main">
              <a:ext uri="{FF2B5EF4-FFF2-40B4-BE49-F238E27FC236}">
                <a16:creationId xmlns:a16="http://schemas.microsoft.com/office/drawing/2014/main" id="{B7DAE172-08F5-416D-9AFF-96A76AD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375000"/>
            <a:ext cx="7265625" cy="19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19.5%</a:t>
            </a:r>
          </a:p>
        </p:txBody>
      </p:sp>
      <p:sp>
        <p:nvSpPr>
          <p:cNvPr id="3123" name="primary_values">
            <a:extLst xmlns:a="http://schemas.openxmlformats.org/drawingml/2006/main">
              <a:ext uri="{FF2B5EF4-FFF2-40B4-BE49-F238E27FC236}">
                <a16:creationId xmlns:a16="http://schemas.microsoft.com/office/drawing/2014/main" id="{66D3F1C0-048B-4BC2-9BD0-17A971C7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03125"/>
            <a:ext cx="5578125" cy="13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8.84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7.11 nm  MOSR</a:t>
            </a:r>
          </a:p>
        </p:txBody>
      </p:sp>
      <p:sp>
        <p:nvSpPr>
          <p:cNvPr id="3124" name="primary_gain_label">
            <a:extLst xmlns:a="http://schemas.openxmlformats.org/drawingml/2006/main">
              <a:ext uri="{FF2B5EF4-FFF2-40B4-BE49-F238E27FC236}">
                <a16:creationId xmlns:a16="http://schemas.microsoft.com/office/drawing/2014/main" id="{169D3C7F-0F08-4B17-AE46-52D1E2F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390625"/>
            <a:ext cx="13593750" cy="8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the mean Step SD</a:t>
            </a:r>
          </a:p>
        </p:txBody>
      </p:sp>
      <p:graphicFrame>
        <p:nvGraphicFramePr>
          <p:cNvPr id="3173" name="Chart"/>
          <p:cNvGraphicFramePr/>
          <p:nvPr/>
        </p:nvGraphicFramePr>
        <p:xfrm>
          <a:off xmlns:a="http://schemas.openxmlformats.org/drawingml/2006/main" x="17062500" y="15750000"/>
          <a:ext xmlns:a="http://schemas.openxmlformats.org/drawingml/2006/main" cx="14156250" cy="690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2e84a4728d40e8"/>
          </a:graphicData>
        </a:graphic>
      </p:graphicFrame>
      <p:sp>
        <p:nvSpPr>
          <p:cNvPr id="3126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82216DBE-24A7-4A60-9768-82C58090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968750"/>
            <a:ext cx="13781250" cy="92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Condition-level standard deviation of 30 single-step displacements. All methods use the same locked pairs and circle-center reader.</a:t>
            </a:r>
          </a:p>
        </p:txBody>
      </p:sp>
      <p:sp>
        <p:nvSpPr>
          <p:cNvPr id="3127" name="result_interpretation">
            <a:extLst xmlns:a="http://schemas.openxmlformats.org/drawingml/2006/main">
              <a:ext uri="{FF2B5EF4-FFF2-40B4-BE49-F238E27FC236}">
                <a16:creationId xmlns:a16="http://schemas.microsoft.com/office/drawing/2014/main" id="{BB220CB3-EC22-478F-A7E6-5F4FCFD0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4281250"/>
            <a:ext cx="13781250" cy="17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reduction relative to Raw spans 9.8–24.1% across the four conditions. The largest reduction occurs at 20× with 0.5 µm steps, where Step SD decreases from 14.16 to 10.75 nm. MOSR also improves both 50× conditions.</a:t>
            </a:r>
          </a:p>
        </p:txBody>
      </p:sp>
      <p:sp>
        <p:nvSpPr>
          <p:cNvPr id="3128" name="table2_caption">
            <a:extLst xmlns:a="http://schemas.openxmlformats.org/drawingml/2006/main">
              <a:ext uri="{FF2B5EF4-FFF2-40B4-BE49-F238E27FC236}">
                <a16:creationId xmlns:a16="http://schemas.microsoft.com/office/drawing/2014/main" id="{895290B2-A85F-4503-9439-5EF09170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343750"/>
            <a:ext cx="137812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II. STEP SD AND RELATIVE REDUCTION</a:t>
            </a:r>
          </a:p>
        </p:txBody>
      </p:sp>
      <p:graphicFrame>
        <p:nvGraphicFramePr>
          <p:cNvPr id="3177" name=""/>
          <p:cNvGraphicFramePr/>
          <p:nvPr/>
        </p:nvGraphicFramePr>
        <p:xfrm>
          <a:off xmlns:a="http://schemas.openxmlformats.org/drawingml/2006/main" x="17156250" y="27187500"/>
          <a:ext xmlns:a="http://schemas.openxmlformats.org/drawingml/2006/main" cx="13781250" cy="45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1250"/>
                <a:gridCol w="2109375"/>
                <a:gridCol w="2343750"/>
                <a:gridCol w="2109375"/>
                <a:gridCol w="3187500"/>
              </a:tblGrid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Reduction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Raw (%)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5.24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4.91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10.75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10.53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30" name="table2_note">
            <a:extLst xmlns:a="http://schemas.openxmlformats.org/drawingml/2006/main">
              <a:ext uri="{FF2B5EF4-FFF2-40B4-BE49-F238E27FC236}">
                <a16:creationId xmlns:a16="http://schemas.microsoft.com/office/drawing/2014/main" id="{9A8F37F6-975F-4A74-BDA8-048F81E7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875000"/>
            <a:ext cx="13781250" cy="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row: arithmetic mean of the four SDs. Reduction = (Raw − MOSR) / Raw.</a:t>
            </a:r>
          </a:p>
        </p:txBody>
      </p:sp>
      <p:sp>
        <p:nvSpPr>
          <p:cNvPr id="3131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42698C75-5038-4CC7-A158-32BAB130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4125000"/>
            <a:ext cx="1378125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lowers single-step dispersion in every tested condition, with reductions of 9.8–24.1% relative to Raw. The mean condition-level Step SD decreases by 19.5%.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set of reconstruction weights supports both objectives. Clearer pillar boundaries and lower displacement dispersion establish MOSR as a measurement-oriented reconstruction approach for cross-magnification optical inspection.</a:t>
            </a:r>
          </a:p>
        </p:txBody>
      </p:sp>
      <p:sp>
        <p:nvSpPr>
          <p:cNvPr id="3132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9B81CC8A-FE8C-4B02-9494-233F8A83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0000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777074928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2026-09-29T17:03:43.9590000Z</dcterms:created>
  <dcterms:modified xsi:type="dcterms:W3CDTF">2026-09-29T17:03:43.9590000Z</dcterms:modified>
</coreProperties>
</file>