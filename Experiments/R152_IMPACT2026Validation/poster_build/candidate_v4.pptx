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d1e0ac2e104222" /><Relationship Type="http://schemas.openxmlformats.org/officeDocument/2006/relationships/extended-properties" Target="/docProps/app.xml" Id="Rdf49153f47dd4aac" /><Relationship Type="http://schemas.openxmlformats.org/officeDocument/2006/relationships/officeDocument" Target="/ppt/presentation.xml" Id="R60eb6ae8724245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a0393995c740ab"/>
  </p:sldMasterIdLst>
  <p:notesMasterIdLst>
    <p:notesMasterId xmlns:r="http://schemas.openxmlformats.org/officeDocument/2006/relationships" r:id="R6ba34971926a45d7"/>
  </p:notesMasterIdLst>
  <p:sldIdLst>
    <p:sldId xmlns:r="http://schemas.openxmlformats.org/officeDocument/2006/relationships" id="256" r:id="R55cc70bd97d143d2"/>
  </p:sldIdLst>
  <p:sldSz cx="32400000" cy="4320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96073ef73b44c3" /><Relationship Type="http://schemas.openxmlformats.org/officeDocument/2006/relationships/slideMaster" Target="/ppt/slideMasters/slideMaster1.xml" Id="Rcaa0393995c740ab" /><Relationship Type="http://schemas.openxmlformats.org/officeDocument/2006/relationships/notesMaster" Target="/ppt/notesMasters/notesMaster1.xml" Id="R6ba34971926a45d7" /><Relationship Type="http://schemas.openxmlformats.org/officeDocument/2006/relationships/presProps" Target="/ppt/presProps.xml" Id="Ra063826d2f8e4c4e" /><Relationship Type="http://schemas.openxmlformats.org/officeDocument/2006/relationships/viewProps" Target="/ppt/viewProps.xml" Id="R627b78396d044577" /><Relationship Type="http://schemas.openxmlformats.org/officeDocument/2006/relationships/tableStyles" Target="/ppt/tableStyles.xml" Id="Rfd2accbee53c4036" /><Relationship Type="http://schemas.openxmlformats.org/officeDocument/2006/relationships/slide" Target="/ppt/slides/slide1.xml" Id="R55cc70bd97d143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d261897c4e4a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9644807fc64cd0" /><Relationship Type="http://schemas.openxmlformats.org/officeDocument/2006/relationships/notesMaster" Target="/ppt/notesMasters/notesMaster1.xml" Id="R499bcc78a13341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Template: C:/Users/Rio/OneDrive/學業/碩班/論文/投稿/IMPACT2026/4. Poster_Sample_2026 (2).pptx</a:t>
            </a:r>
            <a:endParaRPr/>
          </a:p>
          <a:p xmlns:a="http://schemas.openxmlformats.org/drawingml/2006/main">
            <a:pPr>
              <a:buNone/>
            </a:pPr>
            <a:r>
              <a:t>Title, authors and affiliation: submitted two-page IMPACT manuscript in sources/submitted_paper.pdf.</a:t>
            </a:r>
            <a:endParaRPr/>
          </a:p>
          <a:p xmlns:a="http://schemas.openxmlformats.org/drawingml/2006/main">
            <a:pPr>
              <a:buNone/>
            </a:pPr>
            <a:r>
              <a:t>Numerical source: C:\Users\Rio\.codex\worktrees\impact-r152\GMM_2_Final\Experiments\R152_IMPACT2026Validation\results\localization_improvement\improved_summary.csv</a:t>
            </a:r>
            <a:endParaRPr/>
          </a:p>
          <a:p xmlns:a="http://schemas.openxmlformats.org/drawingml/2006/main">
            <a:pPr>
              <a:buNone/>
            </a:pPr>
            <a:r>
              <a:t>Pair-level source: C:\Users\Rio\.codex\worktrees\impact-r152\GMM_2_Final\Experiments\R152_IMPACT2026Validation\results\localization_improvement\improved_pairs.csv</a:t>
            </a:r>
            <a:endParaRPr/>
          </a:p>
          <a:p xmlns:a="http://schemas.openxmlformats.org/drawingml/2006/main">
            <a:pPr>
              <a:buNone/>
            </a:pPr>
            <a:r>
              <a:t>Images: inspection/images/2_0000_Raw.png, 2_0000_R152.png, 0_0000_Raw.png, 0_0000_R152.png. These are the first locked 0.5 µm frames at each objective with common 0–1 display mapping.</a:t>
            </a:r>
            <a:endParaRPr/>
          </a:p>
          <a:p xmlns:a="http://schemas.openxmlformats.org/drawingml/2006/main">
            <a:pPr>
              <a:buNone/>
            </a:pPr>
            <a:r>
              <a:t>Current poster readout: radial 720-direction geometric LSC with three refinement passes. The model and raw data are fixed.</a:t>
            </a:r>
            <a:endParaRPr/>
          </a:p>
          <a:p xmlns:a="http://schemas.openxmlformats.org/drawingml/2006/main">
            <a:pPr>
              <a:buNone/>
            </a:pPr>
            <a:r>
              <a:t>R152 learned checkpoint SHA-256: 17bf7c63f070520a5ef8d4428010340686f465bf1fa03ef8225c0a2eadad4a61.</a:t>
            </a:r>
            <a:endParaRPr/>
          </a:p>
          <a:p xmlns:a="http://schemas.openxmlformats.org/drawingml/2006/main">
            <a:pPr>
              <a:buNone/>
            </a:pPr>
            <a:r>
              <a:t>50x optics: original calibrated single PSF, installed through the optional input adapter. 20x optics: native R152 25-kernel bank.</a:t>
            </a:r>
            <a:endParaRPr/>
          </a:p>
          <a:p xmlns:a="http://schemas.openxmlformats.org/drawingml/2006/main">
            <a:pPr>
              <a:buNone/>
            </a:pPr>
            <a:r>
              <a:t>Percent reductions use unrounded aggregate values. All four condition-level values support the stated lowest-value comparison among Raw, Wiener and R152.</a:t>
            </a:r>
            <a:endParaRPr/>
          </a:p>
          <a:p xmlns:a="http://schemas.openxmlformats.org/drawingml/2006/main">
            <a:pPr>
              <a:buNone/>
            </a:pPr>
            <a:r>
              <a:t>Bibliography metadata follows references [3], [4], [6], [8] of the supplied manuscript.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2414426c75423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92a075c8154e8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fd820c284d464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0bf1fd8d7547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9d413c07634a3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f7d4ba92fc472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f9a747ad0d482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ab1db574dc4ae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9d6fd79cc4e1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234041f15c4f9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f9617ae4214b3c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5AF34B33-4B3F-4AC5-AAA4-5C6A14457D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68563" y="13635038"/>
            <a:ext cx="27981275" cy="940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FD390978-1C22-4B1C-B66F-4DB00D880C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37125" y="24871363"/>
            <a:ext cx="23044150" cy="1121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按一下以編輯母片副標題樣式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76BC5FDA-DD86-47BF-A66F-500F38345B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75311594-4696-439D-A41D-3458F8C259E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DE7B442-B9B8-4515-B3B9-09459C5F7D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00325" y="28203525"/>
            <a:ext cx="27981275" cy="8718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9F51CD76-DE4D-4220-904D-8E4D6C2DC4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00325" y="18602325"/>
            <a:ext cx="27981275" cy="960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0C5BC9F-8869-4349-B4B3-2501BB518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F156C093-03EA-4898-8F25-DEEDC6EB24D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14736762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379F6EB7-6BFB-42AB-91A6-0F8CDC992BF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535400" y="10240963"/>
            <a:ext cx="14736763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208E6539-CAD5-4C3F-9598-567E6A1566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5CDACB44-3809-4EB8-B2CA-48F100A8E6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9825038"/>
            <a:ext cx="14544675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3A03E949-43F6-49C7-843A-06E5465983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46238" y="13919200"/>
            <a:ext cx="14544675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9C7DE492-2F92-4873-8540-22F02BF816A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6722725" y="9825038"/>
            <a:ext cx="14549438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EDE9A3C2-1150-4426-960A-469D3AE6C57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6722725" y="13919200"/>
            <a:ext cx="14549438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6E202197-AEA9-4CFA-BEC0-6254DBC9E5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ABB1216-D5C7-4034-944B-1C6B975767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47838"/>
            <a:ext cx="10829925" cy="7437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794B2CC0-0530-4AA7-94EF-FE456AAA7ED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69863" y="1747838"/>
            <a:ext cx="18402300" cy="374602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3ECF7690-F211-4B11-87A9-83DA8A6F91C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46238" y="9185275"/>
            <a:ext cx="10829925" cy="3002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3EC727F-611B-4CF9-A57C-B54D1EBBBE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51600" y="30724475"/>
            <a:ext cx="19751675" cy="362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ACEF6A96-AF24-455B-AB5C-18C75D81363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451600" y="3921125"/>
            <a:ext cx="19751675" cy="26335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311AE8AD-0712-466F-8B52-67DB6A3021E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51600" y="34350325"/>
            <a:ext cx="19751675" cy="5151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DE54949-6D1C-47F2-92B6-0CC6B745F0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B0221F0-D51A-42F1-B4FB-B03C948506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DD339E4D-AF5D-4B74-840C-0AEF640DB3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66475" y="1757363"/>
            <a:ext cx="7405688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F720D610-C0FB-4CD3-A710-7D2BC69F23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757363"/>
            <a:ext cx="22067837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4427d6e44b4c6b" /><Relationship Type="http://schemas.openxmlformats.org/officeDocument/2006/relationships/slideLayout" Target="/ppt/slideLayouts/slideLayout1.xml" Id="R3a8f97f154924ef2" /><Relationship Type="http://schemas.openxmlformats.org/officeDocument/2006/relationships/slideLayout" Target="/ppt/slideLayouts/slideLayout2.xml" Id="R6274ae9ccfe345af" /><Relationship Type="http://schemas.openxmlformats.org/officeDocument/2006/relationships/slideLayout" Target="/ppt/slideLayouts/slideLayout3.xml" Id="R6b14b88e0edb4f17" /><Relationship Type="http://schemas.openxmlformats.org/officeDocument/2006/relationships/slideLayout" Target="/ppt/slideLayouts/slideLayout4.xml" Id="Ra8dcd36d397f48ae" /><Relationship Type="http://schemas.openxmlformats.org/officeDocument/2006/relationships/slideLayout" Target="/ppt/slideLayouts/slideLayout5.xml" Id="R93287ed65d3845cd" /><Relationship Type="http://schemas.openxmlformats.org/officeDocument/2006/relationships/slideLayout" Target="/ppt/slideLayouts/slideLayout6.xml" Id="R4729f06bd68142d1" /><Relationship Type="http://schemas.openxmlformats.org/officeDocument/2006/relationships/slideLayout" Target="/ppt/slideLayouts/slideLayout7.xml" Id="R9425a938546a4ad7" /><Relationship Type="http://schemas.openxmlformats.org/officeDocument/2006/relationships/slideLayout" Target="/ppt/slideLayouts/slideLayout8.xml" Id="R9b12dcd2be5643ab" /><Relationship Type="http://schemas.openxmlformats.org/officeDocument/2006/relationships/slideLayout" Target="/ppt/slideLayouts/slideLayout9.xml" Id="Rd63770e9fdab4a16" /><Relationship Type="http://schemas.openxmlformats.org/officeDocument/2006/relationships/slideLayout" Target="/ppt/slideLayouts/slideLayout10.xml" Id="R1302ce4284504dfd" /><Relationship Type="http://schemas.openxmlformats.org/officeDocument/2006/relationships/slideLayout" Target="/ppt/slideLayouts/slideLayout11.xml" Id="R08e3d50e5368417f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8f97f154924ef2"/>
    <p:sldLayoutId xmlns:r="http://schemas.openxmlformats.org/officeDocument/2006/relationships" id="2147483650" r:id="R6274ae9ccfe345af"/>
    <p:sldLayoutId xmlns:r="http://schemas.openxmlformats.org/officeDocument/2006/relationships" id="2147483651" r:id="R6b14b88e0edb4f17"/>
    <p:sldLayoutId xmlns:r="http://schemas.openxmlformats.org/officeDocument/2006/relationships" id="2147483652" r:id="Ra8dcd36d397f48ae"/>
    <p:sldLayoutId xmlns:r="http://schemas.openxmlformats.org/officeDocument/2006/relationships" id="2147483653" r:id="R93287ed65d3845cd"/>
    <p:sldLayoutId xmlns:r="http://schemas.openxmlformats.org/officeDocument/2006/relationships" id="2147483654" r:id="R4729f06bd68142d1"/>
    <p:sldLayoutId xmlns:r="http://schemas.openxmlformats.org/officeDocument/2006/relationships" id="2147483655" r:id="R9425a938546a4ad7"/>
    <p:sldLayoutId xmlns:r="http://schemas.openxmlformats.org/officeDocument/2006/relationships" id="2147483656" r:id="R9b12dcd2be5643ab"/>
    <p:sldLayoutId xmlns:r="http://schemas.openxmlformats.org/officeDocument/2006/relationships" id="2147483657" r:id="Rd63770e9fdab4a16"/>
    <p:sldLayoutId xmlns:r="http://schemas.openxmlformats.org/officeDocument/2006/relationships" id="2147483658" r:id="R1302ce4284504dfd"/>
    <p:sldLayoutId xmlns:r="http://schemas.openxmlformats.org/officeDocument/2006/relationships" id="2147483659" r:id="R08e3d50e5368417f"/>
  </p:sldLayoutIdLst>
  <p:txStyles>
    <p:titleStyle>
      <a:lvl1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ae55215f04093" /><Relationship Type="http://schemas.openxmlformats.org/officeDocument/2006/relationships/image" Target="/ppt/media/image.jpeg" Id="R5a49a9e81fdf4cb8" /><Relationship Type="http://schemas.openxmlformats.org/officeDocument/2006/relationships/image" Target="/ppt/media/image.png" Id="R135ffedd73c34986" /><Relationship Type="http://schemas.openxmlformats.org/officeDocument/2006/relationships/image" Target="/ppt/media/image2.png" Id="Rdef0e3a049884afa" /><Relationship Type="http://schemas.openxmlformats.org/officeDocument/2006/relationships/image" Target="/ppt/media/image3.png" Id="R91674c1ea4824a09" /><Relationship Type="http://schemas.openxmlformats.org/officeDocument/2006/relationships/image" Target="/ppt/media/image4.png" Id="Rcd65fa3f87484eb9" /><Relationship Type="http://schemas.openxmlformats.org/officeDocument/2006/relationships/chart" Target="/ppt/slides/charts/chart1.xml" Id="R7cb2e7829feb4d0a" /><Relationship Type="http://schemas.openxmlformats.org/officeDocument/2006/relationships/notesSlide" Target="/ppt/notesSlides/notesSlide1.xml" Id="R333221f3e775418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A8ADB3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Step SD</c:v>
              </c:pt>
              <c:pt idx="1">
                <c:v>Nominal MAE</c:v>
              </c:pt>
              <c:pt idx="2">
                <c:v>Within-grid SD</c:v>
              </c:pt>
            </c:strLit>
          </c:cat>
          <c:val>
            <c:numLit>
              <c:formatCode>0.00</c:formatCode>
              <c:ptCount val="3"/>
              <c:pt idx="0">
                <c:v>8.839481</c:v>
              </c:pt>
              <c:pt idx="1">
                <c:v>7.233079</c:v>
              </c:pt>
              <c:pt idx="2">
                <c:v>10.862548</c:v>
              </c:pt>
            </c:numLit>
          </c:val>
        </c:ser>
        <c:ser>
          <c:idx val="1"/>
          <c:order val="1"/>
          <c:tx>
            <c:v>Wiener</c:v>
          </c:tx>
          <c:spPr>
            <a:solidFill xmlns:a="http://schemas.openxmlformats.org/drawingml/2006/main">
              <a:srgbClr val="7896B5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Step SD</c:v>
              </c:pt>
              <c:pt idx="1">
                <c:v>Nominal MAE</c:v>
              </c:pt>
              <c:pt idx="2">
                <c:v>Within-grid SD</c:v>
              </c:pt>
            </c:strLit>
          </c:cat>
          <c:val>
            <c:numLit>
              <c:formatCode>0.00</c:formatCode>
              <c:ptCount val="3"/>
              <c:pt idx="0">
                <c:v>7.895025</c:v>
              </c:pt>
              <c:pt idx="1">
                <c:v>6.541878</c:v>
              </c:pt>
              <c:pt idx="2">
                <c:v>6.451894</c:v>
              </c:pt>
            </c:numLit>
          </c:val>
        </c:ser>
        <c:ser>
          <c:idx val="2"/>
          <c:order val="2"/>
          <c:tx>
            <c:v>R152</c:v>
          </c:tx>
          <c:spPr>
            <a:solidFill xmlns:a="http://schemas.openxmlformats.org/drawingml/2006/main">
              <a:srgbClr val="003064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Step SD</c:v>
              </c:pt>
              <c:pt idx="1">
                <c:v>Nominal MAE</c:v>
              </c:pt>
              <c:pt idx="2">
                <c:v>Within-grid SD</c:v>
              </c:pt>
            </c:strLit>
          </c:cat>
          <c:val>
            <c:numLit>
              <c:formatCode>0.00</c:formatCode>
              <c:ptCount val="3"/>
              <c:pt idx="0">
                <c:v>7.113328</c:v>
              </c:pt>
              <c:pt idx="1">
                <c:v>5.558788</c:v>
              </c:pt>
              <c:pt idx="2">
                <c:v>4.258168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 b="1">
                  <a:solidFill>
                    <a:srgbClr val="111111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14288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400">
                    <a:solidFill>
                      <a:srgbClr val="111111"/>
                    </a:solidFill>
                    <a:latin typeface="Arial"/>
                    <a:ea typeface="Arial"/>
                    <a:cs typeface="Arial"/>
                  </a:rPr>
                  <a:t>nm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400">
                  <a:solidFill>
                    <a:srgbClr val="11111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4288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325">
              <a:solidFill>
                <a:srgbClr val="11111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4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7CFF181F-B878-4CDD-96A7-B1FB385C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8750" y="80375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5B992554-B456-4B76-8304-81226C1C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00" y="80000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7" name="Text Box 10">
            <a:extLst xmlns:a="http://schemas.openxmlformats.org/drawingml/2006/main">
              <a:ext uri="{FF2B5EF4-FFF2-40B4-BE49-F238E27FC236}">
                <a16:creationId xmlns:a16="http://schemas.microsoft.com/office/drawing/2014/main" id="{7CD5EC61-78A9-49F0-9FA6-E33E4A7D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9634375"/>
            <a:ext cx="1406250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 xmlns:a="http://schemas.openxmlformats.org/drawingml/2006/main">
              <a:ext uri="{FF2B5EF4-FFF2-40B4-BE49-F238E27FC236}">
                <a16:creationId xmlns:a16="http://schemas.microsoft.com/office/drawing/2014/main" id="{0A270026-7DB8-45C8-877A-37BB51DC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27843750"/>
            <a:ext cx="1415625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9E8010DE-AB10-42CB-829C-E6F651C8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0" y="500000"/>
            <a:ext cx="31387500" cy="6900000"/>
          </a:xfrm>
          <a:prstGeom xmlns:a="http://schemas.openxmlformats.org/drawingml/2006/main" prst="roundRect">
            <a:avLst>
              <a:gd name="adj" fmla="val 10870"/>
            </a:avLst>
          </a:prstGeom>
          <a:gradFill xmlns:a="http://schemas.openxmlformats.org/drawingml/2006/main"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 xmlns:a="http://schemas.openxmlformats.org/drawingml/2006/main">
              <a:ext uri="{FF2B5EF4-FFF2-40B4-BE49-F238E27FC236}">
                <a16:creationId xmlns:a16="http://schemas.microsoft.com/office/drawing/2014/main" id="{21A3E190-0689-46BA-9367-A9910FBB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625000"/>
            <a:ext cx="30187500" cy="41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 xmlns:a="http://schemas.openxmlformats.org/drawingml/2006/main">
            <a:pPr algn="ctr" defTabSz="4389438">
              <a:lnSpc>
                <a:spcPct val="103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 xmlns:a="http://schemas.openxmlformats.org/drawingml/2006/main">
              <a:ext uri="{FF2B5EF4-FFF2-40B4-BE49-F238E27FC236}">
                <a16:creationId xmlns:a16="http://schemas.microsoft.com/office/drawing/2014/main" id="{F125D471-1761-4BB1-B247-B60609FF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6375000"/>
            <a:ext cx="13687500" cy="1111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6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 xmlns:a="http://schemas.openxmlformats.org/drawingml/2006/main">
              <a:ext uri="{FF2B5EF4-FFF2-40B4-BE49-F238E27FC236}">
                <a16:creationId xmlns:a16="http://schemas.microsoft.com/office/drawing/2014/main" id="{DDB77CDA-7640-4676-964D-76313F04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8596875"/>
            <a:ext cx="1406250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 xmlns:a="http://schemas.openxmlformats.org/drawingml/2006/main">
              <a:ext uri="{FF2B5EF4-FFF2-40B4-BE49-F238E27FC236}">
                <a16:creationId xmlns:a16="http://schemas.microsoft.com/office/drawing/2014/main" id="{C89FA397-2CEB-45C7-8E79-ADD3B8AB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8615625"/>
            <a:ext cx="1415625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 xmlns:a="http://schemas.openxmlformats.org/drawingml/2006/main">
              <a:ext uri="{FF2B5EF4-FFF2-40B4-BE49-F238E27FC236}">
                <a16:creationId xmlns:a16="http://schemas.microsoft.com/office/drawing/2014/main" id="{386CABCB-4624-41C5-98F0-27F2102C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0000" y="1846875"/>
            <a:ext cx="3281250" cy="16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</a:t>
            </a:r>
          </a:p>
        </p:txBody>
      </p:sp>
      <p:pic>
        <p:nvPicPr>
          <p:cNvPr id="3142" name="圖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9a9e81fdf4cb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40625" y="857813"/>
            <a:ext cx="2512500" cy="84375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096" name="authors">
            <a:extLst xmlns:a="http://schemas.openxmlformats.org/drawingml/2006/main">
              <a:ext uri="{FF2B5EF4-FFF2-40B4-BE49-F238E27FC236}">
                <a16:creationId xmlns:a16="http://schemas.microsoft.com/office/drawing/2014/main" id="{5C12AAE7-CF0D-42E5-8AF3-57BB74CB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5437500"/>
            <a:ext cx="29343750" cy="6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097" name="affiliation">
            <a:extLst xmlns:a="http://schemas.openxmlformats.org/drawingml/2006/main">
              <a:ext uri="{FF2B5EF4-FFF2-40B4-BE49-F238E27FC236}">
                <a16:creationId xmlns:a16="http://schemas.microsoft.com/office/drawing/2014/main" id="{064E35F1-3851-4962-BD14-337B3556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6140625"/>
            <a:ext cx="29343750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098" name="contact">
            <a:extLst xmlns:a="http://schemas.openxmlformats.org/drawingml/2006/main">
              <a:ext uri="{FF2B5EF4-FFF2-40B4-BE49-F238E27FC236}">
                <a16:creationId xmlns:a16="http://schemas.microsoft.com/office/drawing/2014/main" id="{7B862C94-DB20-40AF-B646-C03D165B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750" y="6759375"/>
            <a:ext cx="29156250" cy="4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099" name="intro_body">
            <a:extLst xmlns:a="http://schemas.openxmlformats.org/drawingml/2006/main">
              <a:ext uri="{FF2B5EF4-FFF2-40B4-BE49-F238E27FC236}">
                <a16:creationId xmlns:a16="http://schemas.microsoft.com/office/drawing/2014/main" id="{47D1D99E-424A-41D9-B5A9-82E5EDD2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0218750"/>
            <a:ext cx="13875000" cy="32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Reliable optical inspection requires clear boundaries and stable feature positions. R152 reconstructs microscopy images on the original pixel grid and connects them to one geometric measurement pipeline.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 fixed set of learned weights processes 20× and 50× images with objective-specific optical information. Bounded correction sharpens pillar boundaries on the native grid [1, 2].</a:t>
            </a:r>
          </a:p>
        </p:txBody>
      </p:sp>
      <p:sp>
        <p:nvSpPr>
          <p:cNvPr id="3100" name="fig1_label">
            <a:extLst xmlns:a="http://schemas.openxmlformats.org/drawingml/2006/main">
              <a:ext uri="{FF2B5EF4-FFF2-40B4-BE49-F238E27FC236}">
                <a16:creationId xmlns:a16="http://schemas.microsoft.com/office/drawing/2014/main" id="{5E749031-C7C4-4508-8353-45DBC5A5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7500" y="13659375"/>
            <a:ext cx="6750000" cy="93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5400" b="1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400" b="1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Figure #1</a:t>
            </a:r>
          </a:p>
        </p:txBody>
      </p:sp>
      <p:sp>
        <p:nvSpPr>
          <p:cNvPr id="3101" name="raw_label">
            <a:extLst xmlns:a="http://schemas.openxmlformats.org/drawingml/2006/main">
              <a:ext uri="{FF2B5EF4-FFF2-40B4-BE49-F238E27FC236}">
                <a16:creationId xmlns:a16="http://schemas.microsoft.com/office/drawing/2014/main" id="{ED295C39-F2B9-4D24-984A-4065A5DB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75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02" name="r152_label">
            <a:extLst xmlns:a="http://schemas.openxmlformats.org/drawingml/2006/main">
              <a:ext uri="{FF2B5EF4-FFF2-40B4-BE49-F238E27FC236}">
                <a16:creationId xmlns:a16="http://schemas.microsoft.com/office/drawing/2014/main" id="{9CA764FE-ED83-4142-AD0B-3554A110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500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003064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003064"/>
                </a:solidFill>
                <a:latin typeface="Arial"/>
                <a:ea typeface="Arial"/>
                <a:cs typeface="Arial"/>
              </a:rPr>
              <a:t>R152</a:t>
            </a:r>
          </a:p>
        </p:txBody>
      </p:sp>
      <p:sp>
        <p:nvSpPr>
          <p:cNvPr id="3103" name="mag-20×">
            <a:extLst xmlns:a="http://schemas.openxmlformats.org/drawingml/2006/main">
              <a:ext uri="{FF2B5EF4-FFF2-40B4-BE49-F238E27FC236}">
                <a16:creationId xmlns:a16="http://schemas.microsoft.com/office/drawing/2014/main" id="{B4B979DD-737D-4EEA-B18C-EE46256C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500000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5ffedd73c34986"/>
          <a:stretch xmlns:a="http://schemas.openxmlformats.org/drawingml/2006/main"/>
        </p:blipFill>
        <p:spPr>
          <a:xfrm xmlns:a="http://schemas.openxmlformats.org/drawingml/2006/main">
            <a:off x="1546875" y="15595618"/>
            <a:ext cx="6093750" cy="6027514"/>
          </a:xfrm>
          <a:prstGeom xmlns:a="http://schemas.openxmlformats.org/drawingml/2006/main" prst="rect">
            <a:avLst/>
          </a:prstGeom>
        </p:spPr>
      </p:pic>
      <p:sp>
        <p:nvSpPr>
          <p:cNvPr id="3105" name="scale-20×-Raw">
            <a:extLst xmlns:a="http://schemas.openxmlformats.org/drawingml/2006/main">
              <a:ext uri="{FF2B5EF4-FFF2-40B4-BE49-F238E27FC236}">
                <a16:creationId xmlns:a16="http://schemas.microsoft.com/office/drawing/2014/main" id="{51A7F5A3-EA8E-467A-8B8B-DFB7E0E2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0792" y="21225000"/>
            <a:ext cx="767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06" name="scale-label-20×-Raw">
            <a:extLst xmlns:a="http://schemas.openxmlformats.org/drawingml/2006/main">
              <a:ext uri="{FF2B5EF4-FFF2-40B4-BE49-F238E27FC236}">
                <a16:creationId xmlns:a16="http://schemas.microsoft.com/office/drawing/2014/main" id="{9278E685-96EA-44F9-A024-5B9F0A17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292" y="20671875"/>
            <a:ext cx="114295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0e3a049884afa"/>
          <a:stretch xmlns:a="http://schemas.openxmlformats.org/drawingml/2006/main"/>
        </p:blipFill>
        <p:spPr>
          <a:xfrm xmlns:a="http://schemas.openxmlformats.org/drawingml/2006/main">
            <a:off x="8812500" y="15595618"/>
            <a:ext cx="6093750" cy="6027514"/>
          </a:xfrm>
          <a:prstGeom xmlns:a="http://schemas.openxmlformats.org/drawingml/2006/main" prst="rect">
            <a:avLst/>
          </a:prstGeom>
        </p:spPr>
      </p:pic>
      <p:sp>
        <p:nvSpPr>
          <p:cNvPr id="3108" name="scale-20×-R152">
            <a:extLst xmlns:a="http://schemas.openxmlformats.org/drawingml/2006/main">
              <a:ext uri="{FF2B5EF4-FFF2-40B4-BE49-F238E27FC236}">
                <a16:creationId xmlns:a16="http://schemas.microsoft.com/office/drawing/2014/main" id="{0691D5DD-BEF6-4540-9BFB-BA0D3D6F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417" y="21225000"/>
            <a:ext cx="767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09" name="scale-label-20×-R152">
            <a:extLst xmlns:a="http://schemas.openxmlformats.org/drawingml/2006/main">
              <a:ext uri="{FF2B5EF4-FFF2-40B4-BE49-F238E27FC236}">
                <a16:creationId xmlns:a16="http://schemas.microsoft.com/office/drawing/2014/main" id="{2F32DDAC-A056-4DA6-99E8-822229A7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8917" y="20671875"/>
            <a:ext cx="114295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0" name="mag-50×">
            <a:extLst xmlns:a="http://schemas.openxmlformats.org/drawingml/2006/main">
              <a:ext uri="{FF2B5EF4-FFF2-40B4-BE49-F238E27FC236}">
                <a16:creationId xmlns:a16="http://schemas.microsoft.com/office/drawing/2014/main" id="{9834176B-E553-477B-A488-82D7A056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184375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674c1ea4824a09"/>
          <a:stretch xmlns:a="http://schemas.openxmlformats.org/drawingml/2006/main"/>
        </p:blipFill>
        <p:spPr>
          <a:xfrm xmlns:a="http://schemas.openxmlformats.org/drawingml/2006/main">
            <a:off x="1546875" y="2240625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12" name="scale-50×-Raw">
            <a:extLst xmlns:a="http://schemas.openxmlformats.org/drawingml/2006/main">
              <a:ext uri="{FF2B5EF4-FFF2-40B4-BE49-F238E27FC236}">
                <a16:creationId xmlns:a16="http://schemas.microsoft.com/office/drawing/2014/main" id="{28573ABB-C116-4BB5-9482-87E747D4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199" y="28068750"/>
            <a:ext cx="781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13" name="scale-label-50×-Raw">
            <a:extLst xmlns:a="http://schemas.openxmlformats.org/drawingml/2006/main">
              <a:ext uri="{FF2B5EF4-FFF2-40B4-BE49-F238E27FC236}">
                <a16:creationId xmlns:a16="http://schemas.microsoft.com/office/drawing/2014/main" id="{3A74E149-8AC7-4CA4-B08F-E5A5D65B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699" y="27515625"/>
            <a:ext cx="1156551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5fa3f87484eb9"/>
          <a:stretch xmlns:a="http://schemas.openxmlformats.org/drawingml/2006/main"/>
        </p:blipFill>
        <p:spPr>
          <a:xfrm xmlns:a="http://schemas.openxmlformats.org/drawingml/2006/main">
            <a:off x="8812500" y="2240625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15" name="scale-50×-R152">
            <a:extLst xmlns:a="http://schemas.openxmlformats.org/drawingml/2006/main">
              <a:ext uri="{FF2B5EF4-FFF2-40B4-BE49-F238E27FC236}">
                <a16:creationId xmlns:a16="http://schemas.microsoft.com/office/drawing/2014/main" id="{9EBB5FA0-E7B6-446D-9E66-7BD77EAB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2824" y="28068750"/>
            <a:ext cx="781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16" name="scale-label-50×-R152">
            <a:extLst xmlns:a="http://schemas.openxmlformats.org/drawingml/2006/main">
              <a:ext uri="{FF2B5EF4-FFF2-40B4-BE49-F238E27FC236}">
                <a16:creationId xmlns:a16="http://schemas.microsoft.com/office/drawing/2014/main" id="{0ECC1B16-9302-4BD0-B3B5-73938290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324" y="27515625"/>
            <a:ext cx="1156551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7" name="fig1_caption">
            <a:extLst xmlns:a="http://schemas.openxmlformats.org/drawingml/2006/main">
              <a:ext uri="{FF2B5EF4-FFF2-40B4-BE49-F238E27FC236}">
                <a16:creationId xmlns:a16="http://schemas.microsoft.com/office/drawing/2014/main" id="{02450E30-30FB-4372-A1B2-1FAB2D7C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8687500"/>
            <a:ext cx="13875000" cy="8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Representative pillar fields at 20× and 50×. R152 yields clearer boundaries on the native pixel grid. Scale bars: 2 µm.</a:t>
            </a:r>
          </a:p>
        </p:txBody>
      </p:sp>
      <p:sp>
        <p:nvSpPr>
          <p:cNvPr id="3118" name="methods_body">
            <a:extLst xmlns:a="http://schemas.openxmlformats.org/drawingml/2006/main">
              <a:ext uri="{FF2B5EF4-FFF2-40B4-BE49-F238E27FC236}">
                <a16:creationId xmlns:a16="http://schemas.microsoft.com/office/drawing/2014/main" id="{B95C9705-9517-4FD0-9F44-F1B68047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1406250"/>
            <a:ext cx="13875000" cy="29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R152 combines PSF-guided reconstruction, anti-aliased processing and bounded output correction. The optical inputs comprise 25 kernels at 20× and one calibrated kernel at 50×.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All image methods share one LSC pipeline [3, 4]. Each pillar uses 720 radial samples and three center-refinement passes. The median horizontal shift of nine pillars defines each step.</a:t>
            </a:r>
          </a:p>
        </p:txBody>
      </p:sp>
      <p:sp>
        <p:nvSpPr>
          <p:cNvPr id="3119" name="experiment_table_label">
            <a:extLst xmlns:a="http://schemas.openxmlformats.org/drawingml/2006/main">
              <a:ext uri="{FF2B5EF4-FFF2-40B4-BE49-F238E27FC236}">
                <a16:creationId xmlns:a16="http://schemas.microsoft.com/office/drawing/2014/main" id="{D6E0E82C-2C24-4220-832D-4F5E6F8B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4593750"/>
            <a:ext cx="13781250" cy="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#1. Locked acquisition conditions</a:t>
            </a:r>
          </a:p>
        </p:txBody>
      </p:sp>
      <p:graphicFrame>
        <p:nvGraphicFramePr>
          <p:cNvPr id="3167" name=""/>
          <p:cNvGraphicFramePr/>
          <p:nvPr/>
        </p:nvGraphicFramePr>
        <p:xfrm>
          <a:off xmlns:a="http://schemas.openxmlformats.org/drawingml/2006/main" x="1218750" y="35343750"/>
          <a:ext xmlns:a="http://schemas.openxmlformats.org/drawingml/2006/main" cx="13781250" cy="397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50000"/>
                <a:gridCol w="3375000"/>
                <a:gridCol w="2812500"/>
                <a:gridCol w="3843750"/>
              </a:tblGrid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(µm)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Pairs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1" name="metric_definitions">
            <a:extLst xmlns:a="http://schemas.openxmlformats.org/drawingml/2006/main">
              <a:ext uri="{FF2B5EF4-FFF2-40B4-BE49-F238E27FC236}">
                <a16:creationId xmlns:a16="http://schemas.microsoft.com/office/drawing/2014/main" id="{1B98C883-370C-40BC-BB6C-6C1DE657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9843750"/>
            <a:ext cx="13687500" cy="173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SD: mean of four condition-level standard deviations.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Nominal MAE: mean absolute difference from the set step.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Within-grid SD: median of 120 nine-pillar standard deviations.</a:t>
            </a:r>
          </a:p>
        </p:txBody>
      </p:sp>
      <p:sp>
        <p:nvSpPr>
          <p:cNvPr id="3122" name="result_hero">
            <a:extLst xmlns:a="http://schemas.openxmlformats.org/drawingml/2006/main">
              <a:ext uri="{FF2B5EF4-FFF2-40B4-BE49-F238E27FC236}">
                <a16:creationId xmlns:a16="http://schemas.microsoft.com/office/drawing/2014/main" id="{82572E91-AB82-438C-A179-7DFD7EBF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0171875"/>
            <a:ext cx="7968750" cy="23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4600" b="1" i="0">
                <a:solidFill>
                  <a:srgbClr val="003064"/>
                </a:solidFill>
                <a:latin typeface="Arial"/>
                <a:ea typeface="Arial"/>
                <a:cs typeface="Arial"/>
              </a:defRPr>
            </a:pPr>
            <a:r>
              <a:rPr sz="14600" b="1" i="0">
                <a:solidFill>
                  <a:srgbClr val="003064"/>
                </a:solidFill>
                <a:latin typeface="Arial"/>
                <a:ea typeface="Arial"/>
                <a:cs typeface="Arial"/>
              </a:rPr>
              <a:t>60.8%</a:t>
            </a:r>
          </a:p>
        </p:txBody>
      </p:sp>
      <p:sp>
        <p:nvSpPr>
          <p:cNvPr id="3123" name="result_scope">
            <a:extLst xmlns:a="http://schemas.openxmlformats.org/drawingml/2006/main">
              <a:ext uri="{FF2B5EF4-FFF2-40B4-BE49-F238E27FC236}">
                <a16:creationId xmlns:a16="http://schemas.microsoft.com/office/drawing/2014/main" id="{631F1FAC-B841-4A3D-A1DB-8D2AA1D2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1250" y="10687500"/>
            <a:ext cx="4921875" cy="160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120 paired steps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 and 50×</a:t>
            </a:r>
          </a:p>
        </p:txBody>
      </p:sp>
      <p:sp>
        <p:nvSpPr>
          <p:cNvPr id="3124" name="result_hero_label">
            <a:extLst xmlns:a="http://schemas.openxmlformats.org/drawingml/2006/main">
              <a:ext uri="{FF2B5EF4-FFF2-40B4-BE49-F238E27FC236}">
                <a16:creationId xmlns:a16="http://schemas.microsoft.com/office/drawing/2014/main" id="{739C7012-C087-4066-9F07-61E50676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2750000"/>
            <a:ext cx="13593750" cy="8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Lower median within-grid SD versus Raw</a:t>
            </a:r>
          </a:p>
        </p:txBody>
      </p:sp>
      <p:sp>
        <p:nvSpPr>
          <p:cNvPr id="3125" name="results_table_label">
            <a:extLst xmlns:a="http://schemas.openxmlformats.org/drawingml/2006/main">
              <a:ext uri="{FF2B5EF4-FFF2-40B4-BE49-F238E27FC236}">
                <a16:creationId xmlns:a16="http://schemas.microsoft.com/office/drawing/2014/main" id="{268D3974-D540-4D0E-8405-D1814A03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13903125"/>
            <a:ext cx="1368750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#2. Aggregate displacement results (nm)</a:t>
            </a:r>
          </a:p>
        </p:txBody>
      </p:sp>
      <p:graphicFrame>
        <p:nvGraphicFramePr>
          <p:cNvPr id="3173" name=""/>
          <p:cNvGraphicFramePr/>
          <p:nvPr/>
        </p:nvGraphicFramePr>
        <p:xfrm>
          <a:off xmlns:a="http://schemas.openxmlformats.org/drawingml/2006/main" x="17156250" y="14700000"/>
          <a:ext xmlns:a="http://schemas.openxmlformats.org/drawingml/2006/main" cx="13781250" cy="376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6250"/>
                <a:gridCol w="3187500"/>
                <a:gridCol w="3562500"/>
                <a:gridCol w="4125000"/>
              </a:tblGrid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Method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SD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Nominal MAE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Median</a:t>
                      </a:r>
                    </a:p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within-grid SD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</a:tr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Wiener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6.54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6.45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R152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4.26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7" name="fig2_label">
            <a:extLst xmlns:a="http://schemas.openxmlformats.org/drawingml/2006/main">
              <a:ext uri="{FF2B5EF4-FFF2-40B4-BE49-F238E27FC236}">
                <a16:creationId xmlns:a16="http://schemas.microsoft.com/office/drawing/2014/main" id="{0B5C5A30-B21F-4543-AEF7-C52710CB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7500" y="18843750"/>
            <a:ext cx="7218750" cy="104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6000" b="1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0" b="1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Figure #2</a:t>
            </a:r>
          </a:p>
        </p:txBody>
      </p:sp>
      <p:graphicFrame>
        <p:nvGraphicFramePr>
          <p:cNvPr id="3175" name="Chart"/>
          <p:cNvGraphicFramePr/>
          <p:nvPr/>
        </p:nvGraphicFramePr>
        <p:xfrm>
          <a:off xmlns:a="http://schemas.openxmlformats.org/drawingml/2006/main" x="17043750" y="20062500"/>
          <a:ext xmlns:a="http://schemas.openxmlformats.org/drawingml/2006/main" cx="14156250" cy="609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b2e7829feb4d0a"/>
          </a:graphicData>
        </a:graphic>
      </p:graphicFrame>
      <p:sp>
        <p:nvSpPr>
          <p:cNvPr id="3129" name="fig2_caption">
            <a:extLst xmlns:a="http://schemas.openxmlformats.org/drawingml/2006/main">
              <a:ext uri="{FF2B5EF4-FFF2-40B4-BE49-F238E27FC236}">
                <a16:creationId xmlns:a16="http://schemas.microsoft.com/office/drawing/2014/main" id="{6498DADC-1AA5-4C72-883E-F70ACAA9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6625000"/>
            <a:ext cx="13875000" cy="98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R152 achieves the lowest measured values for all three criteria across the four imaging conditions.</a:t>
            </a:r>
          </a:p>
        </p:txBody>
      </p:sp>
      <p:sp>
        <p:nvSpPr>
          <p:cNvPr id="3130" name="conclusions_body">
            <a:extLst xmlns:a="http://schemas.openxmlformats.org/drawingml/2006/main">
              <a:ext uri="{FF2B5EF4-FFF2-40B4-BE49-F238E27FC236}">
                <a16:creationId xmlns:a16="http://schemas.microsoft.com/office/drawing/2014/main" id="{9636769B-A9DF-49D3-9315-943694AC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9625000"/>
            <a:ext cx="13781250" cy="59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R152 reduces median within-grid variation from 10.86 nm to 4.26 nm, a 60.8% reduction relative to Raw.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SD and nominal MAE decrease by 19.5% and 23.1%, respectively. The same learned weights deliver the lowest measured values in every tested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variation reaches 0.056 pixel at 20× and 0.067 pixel at 50×. R152 combines clear pillar boundaries with stronger positional consistency across both objectives.</a:t>
            </a:r>
          </a:p>
        </p:txBody>
      </p:sp>
      <p:sp>
        <p:nvSpPr>
          <p:cNvPr id="3131" name="bibliography_body">
            <a:extLst xmlns:a="http://schemas.openxmlformats.org/drawingml/2006/main">
              <a:ext uri="{FF2B5EF4-FFF2-40B4-BE49-F238E27FC236}">
                <a16:creationId xmlns:a16="http://schemas.microsoft.com/office/drawing/2014/main" id="{EE0E9ADC-2668-4963-B52C-E16FCD85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7575000"/>
            <a:ext cx="13687500" cy="376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303742070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2026-09-29T15:30:15.4330000Z</dcterms:created>
  <dcterms:modified xsi:type="dcterms:W3CDTF">2026-09-29T15:30:15.4330000Z</dcterms:modified>
</coreProperties>
</file>