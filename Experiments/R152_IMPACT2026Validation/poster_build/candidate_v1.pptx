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58d63393e3a4f6d" /><Relationship Type="http://schemas.openxmlformats.org/officeDocument/2006/relationships/extended-properties" Target="/docProps/app.xml" Id="R764a234e847047f4" /><Relationship Type="http://schemas.openxmlformats.org/officeDocument/2006/relationships/officeDocument" Target="/ppt/presentation.xml" Id="R6213dd64f88a4c6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607668d7dd54a3d"/>
  </p:sldMasterIdLst>
  <p:notesMasterIdLst>
    <p:notesMasterId xmlns:r="http://schemas.openxmlformats.org/officeDocument/2006/relationships" r:id="R72aba06e291d49ba"/>
  </p:notesMasterIdLst>
  <p:sldIdLst>
    <p:sldId xmlns:r="http://schemas.openxmlformats.org/officeDocument/2006/relationships" id="256" r:id="Re0871b96a9b649d3"/>
  </p:sldIdLst>
  <p:sldSz cx="32400000" cy="43200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05264416b274977" /><Relationship Type="http://schemas.openxmlformats.org/officeDocument/2006/relationships/slideMaster" Target="/ppt/slideMasters/slideMaster1.xml" Id="R1607668d7dd54a3d" /><Relationship Type="http://schemas.openxmlformats.org/officeDocument/2006/relationships/notesMaster" Target="/ppt/notesMasters/notesMaster1.xml" Id="R72aba06e291d49ba" /><Relationship Type="http://schemas.openxmlformats.org/officeDocument/2006/relationships/presProps" Target="/ppt/presProps.xml" Id="Rda7201e5296d40f1" /><Relationship Type="http://schemas.openxmlformats.org/officeDocument/2006/relationships/viewProps" Target="/ppt/viewProps.xml" Id="R098db3d19d434934" /><Relationship Type="http://schemas.openxmlformats.org/officeDocument/2006/relationships/tableStyles" Target="/ppt/tableStyles.xml" Id="R9c8ff7eb8ebb461a" /><Relationship Type="http://schemas.openxmlformats.org/officeDocument/2006/relationships/slide" Target="/ppt/slides/slide1.xml" Id="Re0871b96a9b649d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3f0d5d6afda45c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Default Design 1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14402ebc1f7487d" /><Relationship Type="http://schemas.openxmlformats.org/officeDocument/2006/relationships/notesMaster" Target="/ppt/notesMasters/notesMaster1.xml" Id="Ra66d02b5cfde410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Template: C:/Users/Rio/OneDrive/學業/碩班/論文/投稿/IMPACT2026/4. Poster_Sample_2026 (2).pptx</a:t>
            </a:r>
            <a:endParaRPr/>
          </a:p>
          <a:p xmlns:a="http://schemas.openxmlformats.org/drawingml/2006/main">
            <a:pPr>
              <a:buNone/>
            </a:pPr>
            <a:r>
              <a:t>Title, authors and affiliation: submitted two-page IMPACT manuscript in sources/submitted_paper.pdf.</a:t>
            </a:r>
            <a:endParaRPr/>
          </a:p>
          <a:p xmlns:a="http://schemas.openxmlformats.org/drawingml/2006/main">
            <a:pPr>
              <a:buNone/>
            </a:pPr>
            <a:r>
              <a:t>Numerical source: C:\Users\Rio\.codex\worktrees\impact-r152\GMM_2_Final\Experiments\R152_IMPACT2026Validation\results\localization_improvement\improved_summary.csv</a:t>
            </a:r>
            <a:endParaRPr/>
          </a:p>
          <a:p xmlns:a="http://schemas.openxmlformats.org/drawingml/2006/main">
            <a:pPr>
              <a:buNone/>
            </a:pPr>
            <a:r>
              <a:t>Pair-level source: C:\Users\Rio\.codex\worktrees\impact-r152\GMM_2_Final\Experiments\R152_IMPACT2026Validation\results\localization_improvement\improved_pairs.csv</a:t>
            </a:r>
            <a:endParaRPr/>
          </a:p>
          <a:p xmlns:a="http://schemas.openxmlformats.org/drawingml/2006/main">
            <a:pPr>
              <a:buNone/>
            </a:pPr>
            <a:r>
              <a:t>Images: inspection/images/2_0000_Raw.png, 2_0000_R152.png, 0_0000_Raw.png, 0_0000_R152.png. These are the first locked 0.5 µm frames at each objective with common 0–1 display mapping.</a:t>
            </a:r>
            <a:endParaRPr/>
          </a:p>
          <a:p xmlns:a="http://schemas.openxmlformats.org/drawingml/2006/main">
            <a:pPr>
              <a:buNone/>
            </a:pPr>
            <a:r>
              <a:t>Current poster readout: radial 720-direction geometric LSC with three refinement passes. The model and raw data are fixed.</a:t>
            </a:r>
            <a:endParaRPr/>
          </a:p>
          <a:p xmlns:a="http://schemas.openxmlformats.org/drawingml/2006/main">
            <a:pPr>
              <a:buNone/>
            </a:pPr>
            <a:r>
              <a:t>R152 learned checkpoint SHA-256: 17bf7c63f070520a5ef8d4428010340686f465bf1fa03ef8225c0a2eadad4a61.</a:t>
            </a:r>
            <a:endParaRPr/>
          </a:p>
          <a:p xmlns:a="http://schemas.openxmlformats.org/drawingml/2006/main">
            <a:pPr>
              <a:buNone/>
            </a:pPr>
            <a:r>
              <a:t>50x optics: original calibrated single PSF, installed through the optional input adapter. 20x optics: native R152 25-kernel bank.</a:t>
            </a:r>
            <a:endParaRPr/>
          </a:p>
          <a:p xmlns:a="http://schemas.openxmlformats.org/drawingml/2006/main">
            <a:pPr>
              <a:buNone/>
            </a:pPr>
            <a:r>
              <a:t>Percent reductions use unrounded aggregate values. All four condition-level values support the stated lowest-value comparison among Raw, Wiener and R152.</a:t>
            </a:r>
            <a:endParaRPr/>
          </a:p>
          <a:p xmlns:a="http://schemas.openxmlformats.org/drawingml/2006/main">
            <a:pPr>
              <a:buNone/>
            </a:pPr>
            <a:r>
              <a:t>Bibliography metadata follows references [3], [4], [6], [8] of the supplied manuscript.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ea6a210a8c4c4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a83d837d0e48b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9f897315044b3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7f379a6eef482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1808919b383465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a65f228ce0c4dff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2dd3f9f7f9749f0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ae674a2cb9404e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71798949d7420a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3b8bfb932b4119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813b2704a14708" /></Relationships>
</file>

<file path=ppt/slideLayouts/slideLayout1.xml><?xml version="1.0" encoding="utf-8"?>
<p:sldLayout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A05AB66B-2688-440A-AB6D-AE50BF0B0588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2468563" y="13635038"/>
            <a:ext cx="27981275" cy="9407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副標題 2">
            <a:extLst xmlns:a="http://schemas.openxmlformats.org/drawingml/2006/main">
              <a:ext uri="{FF2B5EF4-FFF2-40B4-BE49-F238E27FC236}">
                <a16:creationId xmlns:a16="http://schemas.microsoft.com/office/drawing/2014/main" id="{DAF9E0FB-F00D-4546-8478-0A502E4136D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4937125" y="24871363"/>
            <a:ext cx="23044150" cy="11217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 xmlns:a="http://schemas.openxmlformats.org/drawingml/2006/main">
            <a:r>
              <a:t>按一下以編輯母片副標題樣式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97C8E227-02C2-48C4-9A81-FAED6B04735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646238" y="1757363"/>
            <a:ext cx="29625925" cy="7315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內容版面配置區 2">
            <a:extLst xmlns:a="http://schemas.openxmlformats.org/drawingml/2006/main">
              <a:ext uri="{FF2B5EF4-FFF2-40B4-BE49-F238E27FC236}">
                <a16:creationId xmlns:a16="http://schemas.microsoft.com/office/drawing/2014/main" id="{842FC6A6-1145-4EC2-99BE-907D0D8D6AC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646238" y="10240963"/>
            <a:ext cx="29625925" cy="289671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73EDFF39-1BE7-457A-8EE3-FB9DE75E080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600325" y="28203525"/>
            <a:ext cx="27981275" cy="8718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文字版面配置區 2">
            <a:extLst xmlns:a="http://schemas.openxmlformats.org/drawingml/2006/main">
              <a:ext uri="{FF2B5EF4-FFF2-40B4-BE49-F238E27FC236}">
                <a16:creationId xmlns:a16="http://schemas.microsoft.com/office/drawing/2014/main" id="{8FCB4CF4-DA4E-473A-BC32-A911EE7596F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2600325" y="18602325"/>
            <a:ext cx="27981275" cy="960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992B7B04-F952-4542-A069-02B94413A5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646238" y="1757363"/>
            <a:ext cx="29625925" cy="7315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內容版面配置區 2">
            <a:extLst xmlns:a="http://schemas.openxmlformats.org/drawingml/2006/main">
              <a:ext uri="{FF2B5EF4-FFF2-40B4-BE49-F238E27FC236}">
                <a16:creationId xmlns:a16="http://schemas.microsoft.com/office/drawing/2014/main" id="{52A23145-1141-4CC6-8AA2-B260C2265A9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646238" y="10240963"/>
            <a:ext cx="14736762" cy="289671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  <p:sp>
        <p:nvSpPr>
          <p:cNvPr id="4" name="內容版面配置區 3">
            <a:extLst xmlns:a="http://schemas.openxmlformats.org/drawingml/2006/main">
              <a:ext uri="{FF2B5EF4-FFF2-40B4-BE49-F238E27FC236}">
                <a16:creationId xmlns:a16="http://schemas.microsoft.com/office/drawing/2014/main" id="{F18679D7-D8A6-492F-83DD-F40CD2096C1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16535400" y="10240963"/>
            <a:ext cx="14736763" cy="289671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F8402D02-2457-4725-9F65-B6D43C21C8D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646238" y="1757363"/>
            <a:ext cx="29625925" cy="7315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文字版面配置區 2">
            <a:extLst xmlns:a="http://schemas.openxmlformats.org/drawingml/2006/main">
              <a:ext uri="{FF2B5EF4-FFF2-40B4-BE49-F238E27FC236}">
                <a16:creationId xmlns:a16="http://schemas.microsoft.com/office/drawing/2014/main" id="{07576151-F21E-4379-A916-B7CE1BE27F1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646238" y="9825038"/>
            <a:ext cx="14544675" cy="409416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</p:txBody>
      </p:sp>
      <p:sp>
        <p:nvSpPr>
          <p:cNvPr id="4" name="內容版面配置區 3">
            <a:extLst xmlns:a="http://schemas.openxmlformats.org/drawingml/2006/main">
              <a:ext uri="{FF2B5EF4-FFF2-40B4-BE49-F238E27FC236}">
                <a16:creationId xmlns:a16="http://schemas.microsoft.com/office/drawing/2014/main" id="{7EC0E005-19AC-4B4C-B4DC-40F3E540079F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1646238" y="13919200"/>
            <a:ext cx="14544675" cy="25288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  <p:sp>
        <p:nvSpPr>
          <p:cNvPr id="5" name="文字版面配置區 4">
            <a:extLst xmlns:a="http://schemas.openxmlformats.org/drawingml/2006/main">
              <a:ext uri="{FF2B5EF4-FFF2-40B4-BE49-F238E27FC236}">
                <a16:creationId xmlns:a16="http://schemas.microsoft.com/office/drawing/2014/main" id="{DC42BC07-058B-4F8A-A39C-C480D6EECDFF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16722725" y="9825038"/>
            <a:ext cx="14549438" cy="409416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</p:txBody>
      </p:sp>
      <p:sp>
        <p:nvSpPr>
          <p:cNvPr id="6" name="內容版面配置區 5">
            <a:extLst xmlns:a="http://schemas.openxmlformats.org/drawingml/2006/main">
              <a:ext uri="{FF2B5EF4-FFF2-40B4-BE49-F238E27FC236}">
                <a16:creationId xmlns:a16="http://schemas.microsoft.com/office/drawing/2014/main" id="{63C8DFCE-1B3E-4C70-8DEC-493B6825C43E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16722725" y="13919200"/>
            <a:ext cx="14549438" cy="25288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476F0E5B-F9CE-4795-8E78-53F698961D3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646238" y="1757363"/>
            <a:ext cx="29625925" cy="7315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8.xml><?xml version="1.0" encoding="utf-8"?>
<p:sldLayout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6CC3D557-F3BE-43DB-B839-2A5C6704919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646238" y="1747838"/>
            <a:ext cx="10829925" cy="743743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內容版面配置區 2">
            <a:extLst xmlns:a="http://schemas.openxmlformats.org/drawingml/2006/main">
              <a:ext uri="{FF2B5EF4-FFF2-40B4-BE49-F238E27FC236}">
                <a16:creationId xmlns:a16="http://schemas.microsoft.com/office/drawing/2014/main" id="{B22A15BB-D2F5-4D9A-A711-2BAFA441A3F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869863" y="1747838"/>
            <a:ext cx="18402300" cy="3746023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  <p:sp>
        <p:nvSpPr>
          <p:cNvPr id="4" name="文字版面配置區 3">
            <a:extLst xmlns:a="http://schemas.openxmlformats.org/drawingml/2006/main">
              <a:ext uri="{FF2B5EF4-FFF2-40B4-BE49-F238E27FC236}">
                <a16:creationId xmlns:a16="http://schemas.microsoft.com/office/drawing/2014/main" id="{4554D166-18F5-4A56-9DD6-272DF9AAF3C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646238" y="9185275"/>
            <a:ext cx="10829925" cy="30022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8D5BAAE1-2871-40EA-877E-7B9E6326E98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451600" y="30724475"/>
            <a:ext cx="19751675" cy="3625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圖片版面配置區 2">
            <a:extLst xmlns:a="http://schemas.openxmlformats.org/drawingml/2006/main">
              <a:ext uri="{FF2B5EF4-FFF2-40B4-BE49-F238E27FC236}">
                <a16:creationId xmlns:a16="http://schemas.microsoft.com/office/drawing/2014/main" id="{297AB3AD-D71A-4D05-812D-65B62C7D0DFE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6451600" y="3921125"/>
            <a:ext cx="19751675" cy="263350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endParaRPr/>
          </a:p>
        </p:txBody>
      </p:sp>
      <p:sp>
        <p:nvSpPr>
          <p:cNvPr id="4" name="文字版面配置區 3">
            <a:extLst xmlns:a="http://schemas.openxmlformats.org/drawingml/2006/main">
              <a:ext uri="{FF2B5EF4-FFF2-40B4-BE49-F238E27FC236}">
                <a16:creationId xmlns:a16="http://schemas.microsoft.com/office/drawing/2014/main" id="{13DFE2C5-58A4-4BA0-8951-9501FF65992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51600" y="34350325"/>
            <a:ext cx="19751675" cy="51514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353CDEC2-25EB-44B2-8B65-BD6CB5B2388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646238" y="1757363"/>
            <a:ext cx="29625925" cy="7315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直排文字版面配置區 2">
            <a:extLst xmlns:a="http://schemas.openxmlformats.org/drawingml/2006/main">
              <a:ext uri="{FF2B5EF4-FFF2-40B4-BE49-F238E27FC236}">
                <a16:creationId xmlns:a16="http://schemas.microsoft.com/office/drawing/2014/main" id="{D048C449-1434-4A9E-8719-613275DB1B9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646238" y="10240963"/>
            <a:ext cx="29625925" cy="289671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直排標題 1">
            <a:extLst xmlns:a="http://schemas.openxmlformats.org/drawingml/2006/main">
              <a:ext uri="{FF2B5EF4-FFF2-40B4-BE49-F238E27FC236}">
                <a16:creationId xmlns:a16="http://schemas.microsoft.com/office/drawing/2014/main" id="{41C456F2-F13E-44DE-B9C6-AEDF4EDF9B1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3866475" y="1757363"/>
            <a:ext cx="7405688" cy="374507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直排文字版面配置區 2">
            <a:extLst xmlns:a="http://schemas.openxmlformats.org/drawingml/2006/main">
              <a:ext uri="{FF2B5EF4-FFF2-40B4-BE49-F238E27FC236}">
                <a16:creationId xmlns:a16="http://schemas.microsoft.com/office/drawing/2014/main" id="{2E4D78A7-B81D-4954-AB87-5937FF83ED3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646238" y="1757363"/>
            <a:ext cx="22067837" cy="374507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708c90ad19e405a" /><Relationship Type="http://schemas.openxmlformats.org/officeDocument/2006/relationships/slideLayout" Target="/ppt/slideLayouts/slideLayout1.xml" Id="R5f1d6ab026b9405d" /><Relationship Type="http://schemas.openxmlformats.org/officeDocument/2006/relationships/slideLayout" Target="/ppt/slideLayouts/slideLayout2.xml" Id="R1be528a67e61494b" /><Relationship Type="http://schemas.openxmlformats.org/officeDocument/2006/relationships/slideLayout" Target="/ppt/slideLayouts/slideLayout3.xml" Id="Rcc88270dede14412" /><Relationship Type="http://schemas.openxmlformats.org/officeDocument/2006/relationships/slideLayout" Target="/ppt/slideLayouts/slideLayout4.xml" Id="Ree103251b2444739" /><Relationship Type="http://schemas.openxmlformats.org/officeDocument/2006/relationships/slideLayout" Target="/ppt/slideLayouts/slideLayout5.xml" Id="R3fcc7ecf3b874dc4" /><Relationship Type="http://schemas.openxmlformats.org/officeDocument/2006/relationships/slideLayout" Target="/ppt/slideLayouts/slideLayout6.xml" Id="Rc2af3873d14c4a58" /><Relationship Type="http://schemas.openxmlformats.org/officeDocument/2006/relationships/slideLayout" Target="/ppt/slideLayouts/slideLayout7.xml" Id="Rad4feec9292143c7" /><Relationship Type="http://schemas.openxmlformats.org/officeDocument/2006/relationships/slideLayout" Target="/ppt/slideLayouts/slideLayout8.xml" Id="R277db4281c554027" /><Relationship Type="http://schemas.openxmlformats.org/officeDocument/2006/relationships/slideLayout" Target="/ppt/slideLayouts/slideLayout9.xml" Id="R5d1a5d4f47df4479" /><Relationship Type="http://schemas.openxmlformats.org/officeDocument/2006/relationships/slideLayout" Target="/ppt/slideLayouts/slideLayout10.xml" Id="Re4675cd8c78c48d3" /><Relationship Type="http://schemas.openxmlformats.org/officeDocument/2006/relationships/slideLayout" Target="/ppt/slideLayouts/slideLayout11.xml" Id="R9c3966dba9e349f4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f1d6ab026b9405d"/>
    <p:sldLayoutId xmlns:r="http://schemas.openxmlformats.org/officeDocument/2006/relationships" id="2147483650" r:id="R1be528a67e61494b"/>
    <p:sldLayoutId xmlns:r="http://schemas.openxmlformats.org/officeDocument/2006/relationships" id="2147483651" r:id="Rcc88270dede14412"/>
    <p:sldLayoutId xmlns:r="http://schemas.openxmlformats.org/officeDocument/2006/relationships" id="2147483652" r:id="Ree103251b2444739"/>
    <p:sldLayoutId xmlns:r="http://schemas.openxmlformats.org/officeDocument/2006/relationships" id="2147483653" r:id="R3fcc7ecf3b874dc4"/>
    <p:sldLayoutId xmlns:r="http://schemas.openxmlformats.org/officeDocument/2006/relationships" id="2147483654" r:id="Rc2af3873d14c4a58"/>
    <p:sldLayoutId xmlns:r="http://schemas.openxmlformats.org/officeDocument/2006/relationships" id="2147483655" r:id="Rad4feec9292143c7"/>
    <p:sldLayoutId xmlns:r="http://schemas.openxmlformats.org/officeDocument/2006/relationships" id="2147483656" r:id="R277db4281c554027"/>
    <p:sldLayoutId xmlns:r="http://schemas.openxmlformats.org/officeDocument/2006/relationships" id="2147483657" r:id="R5d1a5d4f47df4479"/>
    <p:sldLayoutId xmlns:r="http://schemas.openxmlformats.org/officeDocument/2006/relationships" id="2147483658" r:id="Re4675cd8c78c48d3"/>
    <p:sldLayoutId xmlns:r="http://schemas.openxmlformats.org/officeDocument/2006/relationships" id="2147483659" r:id="R9c3966dba9e349f4"/>
  </p:sldLayoutIdLst>
  <p:txStyles>
    <p:titleStyle>
      <a:lvl1pPr xmlns:a="http://schemas.openxmlformats.org/drawingml/2006/main"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+mj-lt"/>
          <a:ea typeface="+mj-lt"/>
          <a:cs typeface="+mj-lt"/>
        </a:defRPr>
      </a:lvl1pPr>
      <a:lvl2pPr xmlns:a="http://schemas.openxmlformats.org/drawingml/2006/main"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Arial"/>
          <a:ea typeface="Arial"/>
          <a:cs typeface="Arial"/>
        </a:defRPr>
      </a:lvl2pPr>
      <a:lvl3pPr xmlns:a="http://schemas.openxmlformats.org/drawingml/2006/main"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Arial"/>
          <a:ea typeface="Arial"/>
          <a:cs typeface="Arial"/>
        </a:defRPr>
      </a:lvl3pPr>
      <a:lvl4pPr xmlns:a="http://schemas.openxmlformats.org/drawingml/2006/main"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Arial"/>
          <a:ea typeface="Arial"/>
          <a:cs typeface="Arial"/>
        </a:defRPr>
      </a:lvl4pPr>
      <a:lvl5pPr xmlns:a="http://schemas.openxmlformats.org/drawingml/2006/main"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Arial"/>
          <a:ea typeface="Arial"/>
          <a:cs typeface="Arial"/>
        </a:defRPr>
      </a:lvl5pPr>
      <a:lvl6pPr xmlns:a="http://schemas.openxmlformats.org/drawingml/2006/main" marL="457200"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Arial"/>
          <a:ea typeface="Arial"/>
          <a:cs typeface="Arial"/>
        </a:defRPr>
      </a:lvl6pPr>
      <a:lvl7pPr xmlns:a="http://schemas.openxmlformats.org/drawingml/2006/main" marL="914400"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Arial"/>
          <a:ea typeface="Arial"/>
          <a:cs typeface="Arial"/>
        </a:defRPr>
      </a:lvl7pPr>
      <a:lvl8pPr xmlns:a="http://schemas.openxmlformats.org/drawingml/2006/main" marL="1371600"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Arial"/>
          <a:ea typeface="Arial"/>
          <a:cs typeface="Arial"/>
        </a:defRPr>
      </a:lvl8pPr>
      <a:lvl9pPr xmlns:a="http://schemas.openxmlformats.org/drawingml/2006/main" marL="1828800"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L="1646238" indent="-1646238" algn="l" defTabSz="4389438">
        <a:spcBef>
          <a:spcPct val="20000"/>
        </a:spcBef>
        <a:spcAft>
          <a:spcPct val="0"/>
        </a:spcAft>
        <a:buChar char="•"/>
        <a:defRPr sz="154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3565525" indent="-1371600" algn="l" defTabSz="4389438">
        <a:spcBef>
          <a:spcPct val="20000"/>
        </a:spcBef>
        <a:spcAft>
          <a:spcPct val="0"/>
        </a:spcAft>
        <a:buChar char="–"/>
        <a:defRPr sz="13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5486400" indent="-1096963" algn="l" defTabSz="4389438">
        <a:spcBef>
          <a:spcPct val="20000"/>
        </a:spcBef>
        <a:spcAft>
          <a:spcPct val="0"/>
        </a:spcAft>
        <a:buChar char="•"/>
        <a:defRPr sz="115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7680325" indent="-1096963" algn="l" defTabSz="4389438">
        <a:spcBef>
          <a:spcPct val="20000"/>
        </a:spcBef>
        <a:spcAft>
          <a:spcPct val="0"/>
        </a:spcAft>
        <a:buChar char="–"/>
        <a:defRPr sz="96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9875838" indent="-1096963" algn="l" defTabSz="4389438">
        <a:spcBef>
          <a:spcPct val="20000"/>
        </a:spcBef>
        <a:spcAft>
          <a:spcPct val="0"/>
        </a:spcAft>
        <a:buChar char="»"/>
        <a:defRPr sz="96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10333038" indent="-1096963" algn="l" defTabSz="4389438">
        <a:spcBef>
          <a:spcPct val="20000"/>
        </a:spcBef>
        <a:spcAft>
          <a:spcPct val="0"/>
        </a:spcAft>
        <a:buChar char="»"/>
        <a:defRPr sz="96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10790238" indent="-1096963" algn="l" defTabSz="4389438">
        <a:spcBef>
          <a:spcPct val="20000"/>
        </a:spcBef>
        <a:spcAft>
          <a:spcPct val="0"/>
        </a:spcAft>
        <a:buChar char="»"/>
        <a:defRPr sz="96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11247438" indent="-1096963" algn="l" defTabSz="4389438">
        <a:spcBef>
          <a:spcPct val="20000"/>
        </a:spcBef>
        <a:spcAft>
          <a:spcPct val="0"/>
        </a:spcAft>
        <a:buChar char="»"/>
        <a:defRPr sz="96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11704638" indent="-1096963" algn="l" defTabSz="4389438">
        <a:spcBef>
          <a:spcPct val="20000"/>
        </a:spcBef>
        <a:spcAft>
          <a:spcPct val="0"/>
        </a:spcAft>
        <a:buChar char="»"/>
        <a:defRPr sz="96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Default Design 1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22396d3c154b6e" /><Relationship Type="http://schemas.openxmlformats.org/officeDocument/2006/relationships/image" Target="/ppt/media/image.jpeg" Id="Rd4f2742adf7f4a80" /><Relationship Type="http://schemas.openxmlformats.org/officeDocument/2006/relationships/image" Target="/ppt/media/image.png" Id="R0fb9db5e9bf94d8d" /><Relationship Type="http://schemas.openxmlformats.org/officeDocument/2006/relationships/image" Target="/ppt/media/image2.png" Id="Rede9f1c869144742" /><Relationship Type="http://schemas.openxmlformats.org/officeDocument/2006/relationships/image" Target="/ppt/media/image3.png" Id="R8c49151dd11e4e61" /><Relationship Type="http://schemas.openxmlformats.org/officeDocument/2006/relationships/image" Target="/ppt/media/image4.png" Id="R5ca9d5f70d364098" /><Relationship Type="http://schemas.openxmlformats.org/officeDocument/2006/relationships/chart" Target="/ppt/slides/charts/chart1.xml" Id="R11ad999ae7674326" /><Relationship Type="http://schemas.openxmlformats.org/officeDocument/2006/relationships/notesSlide" Target="/ppt/notesSlides/notesSlide1.xml" Id="R4d4e5291ca784bad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Raw</c:v>
          </c:tx>
          <c:spPr>
            <a:solidFill xmlns:a="http://schemas.openxmlformats.org/drawingml/2006/main">
              <a:srgbClr val="A8ADB3"/>
            </a:solidFill>
            <a:ln xmlns:a="http://schemas.openxmlformats.org/drawingml/2006/main" w="0">
              <a:noFill/>
            </a:ln>
          </c:spPr>
          <c:cat>
            <c:strLit>
              <c:ptCount val="3"/>
              <c:pt idx="0">
                <c:v>Step SD</c:v>
              </c:pt>
              <c:pt idx="1">
                <c:v>Nominal MAE</c:v>
              </c:pt>
              <c:pt idx="2">
                <c:v>Within-grid SD</c:v>
              </c:pt>
            </c:strLit>
          </c:cat>
          <c:val>
            <c:numLit>
              <c:formatCode>0.00</c:formatCode>
              <c:ptCount val="3"/>
              <c:pt idx="0">
                <c:v>8.839480542653641</c:v>
              </c:pt>
              <c:pt idx="1">
                <c:v>7.23307881380063</c:v>
              </c:pt>
              <c:pt idx="2">
                <c:v>10.86254755373104</c:v>
              </c:pt>
            </c:numLit>
          </c:val>
        </c:ser>
        <c:ser>
          <c:idx val="1"/>
          <c:order val="1"/>
          <c:tx>
            <c:v>Wiener</c:v>
          </c:tx>
          <c:spPr>
            <a:solidFill xmlns:a="http://schemas.openxmlformats.org/drawingml/2006/main">
              <a:srgbClr val="7896B5"/>
            </a:solidFill>
            <a:ln xmlns:a="http://schemas.openxmlformats.org/drawingml/2006/main" w="0">
              <a:noFill/>
            </a:ln>
          </c:spPr>
          <c:cat>
            <c:strLit>
              <c:ptCount val="3"/>
              <c:pt idx="0">
                <c:v>Step SD</c:v>
              </c:pt>
              <c:pt idx="1">
                <c:v>Nominal MAE</c:v>
              </c:pt>
              <c:pt idx="2">
                <c:v>Within-grid SD</c:v>
              </c:pt>
            </c:strLit>
          </c:cat>
          <c:val>
            <c:numLit>
              <c:formatCode>0.00</c:formatCode>
              <c:ptCount val="3"/>
              <c:pt idx="0">
                <c:v>7.895025438834128</c:v>
              </c:pt>
              <c:pt idx="1">
                <c:v>6.541877735202178</c:v>
              </c:pt>
              <c:pt idx="2">
                <c:v>6.451894325191165</c:v>
              </c:pt>
            </c:numLit>
          </c:val>
        </c:ser>
        <c:ser>
          <c:idx val="2"/>
          <c:order val="2"/>
          <c:tx>
            <c:v>R152</c:v>
          </c:tx>
          <c:spPr>
            <a:solidFill xmlns:a="http://schemas.openxmlformats.org/drawingml/2006/main">
              <a:srgbClr val="003064"/>
            </a:solidFill>
            <a:ln xmlns:a="http://schemas.openxmlformats.org/drawingml/2006/main" w="0">
              <a:noFill/>
            </a:ln>
          </c:spPr>
          <c:cat>
            <c:strLit>
              <c:ptCount val="3"/>
              <c:pt idx="0">
                <c:v>Step SD</c:v>
              </c:pt>
              <c:pt idx="1">
                <c:v>Nominal MAE</c:v>
              </c:pt>
              <c:pt idx="2">
                <c:v>Within-grid SD</c:v>
              </c:pt>
            </c:strLit>
          </c:cat>
          <c:val>
            <c:numLit>
              <c:formatCode>0.00</c:formatCode>
              <c:ptCount val="3"/>
              <c:pt idx="0">
                <c:v>7.113327865895262</c:v>
              </c:pt>
              <c:pt idx="1">
                <c:v>5.558788300800903</c:v>
              </c:pt>
              <c:pt idx="2">
                <c:v>4.258167912774406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175" b="1">
                  <a:solidFill>
                    <a:srgbClr val="111111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0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14288">
            <a:solidFill>
              <a:srgbClr val="11111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2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0E7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2400">
                    <a:solidFill>
                      <a:srgbClr val="111111"/>
                    </a:solidFill>
                    <a:latin typeface="Arial"/>
                    <a:ea typeface="Arial"/>
                    <a:cs typeface="Arial"/>
                  </a:rPr>
                  <a:t>nm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400">
                  <a:solidFill>
                    <a:srgbClr val="111111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14288">
            <a:solidFill>
              <a:srgbClr val="11111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2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2325">
              <a:solidFill>
                <a:srgbClr val="111111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slide1.xml><?xml version="1.0" encoding="utf-8"?>
<p:sld xmlns:p="http://schemas.openxmlformats.org/presentationml/2006/main">
  <p:cSld>
    <p:bg>
      <p:bgPr>
        <a:gradFill xmlns:a="http://schemas.openxmlformats.org/drawingml/2006/main" rotWithShape="0">
          <a:gsLst>
            <a:gs pos="0">
              <a:srgbClr val="003064"/>
            </a:gs>
            <a:gs pos="50000">
              <a:srgbClr val="EAEAEA"/>
            </a:gs>
            <a:gs pos="100000">
              <a:srgbClr val="003064"/>
            </a:gs>
          </a:gsLst>
          <a:lin ang="5400000" scaled="1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74" name="AutoShape 50">
            <a:extLst xmlns:a="http://schemas.openxmlformats.org/drawingml/2006/main">
              <a:ext uri="{FF2B5EF4-FFF2-40B4-BE49-F238E27FC236}">
                <a16:creationId xmlns:a16="http://schemas.microsoft.com/office/drawing/2014/main" id="{63702224-685B-4DCA-8593-79CBE1678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18750" y="8037500"/>
            <a:ext cx="15243750" cy="341000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>
            <a:solidFill>
              <a:schemeClr val="tx1"/>
            </a:solidFill>
          </a:ln>
        </p:spPr>
        <p:txBody>
          <a:bodyPr xmlns:a="http://schemas.openxmlformats.org/drawingml/2006/main" wrap="non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075" name="AutoShape 4">
            <a:extLst xmlns:a="http://schemas.openxmlformats.org/drawingml/2006/main">
              <a:ext uri="{FF2B5EF4-FFF2-40B4-BE49-F238E27FC236}">
                <a16:creationId xmlns:a16="http://schemas.microsoft.com/office/drawing/2014/main" id="{C0A206A8-60A9-4446-9D9B-DE106D84D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500" y="8000000"/>
            <a:ext cx="15243750" cy="341000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>
            <a:solidFill>
              <a:schemeClr val="tx1"/>
            </a:solidFill>
          </a:ln>
        </p:spPr>
        <p:txBody>
          <a:bodyPr xmlns:a="http://schemas.openxmlformats.org/drawingml/2006/main" wrap="non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077" name="Text Box 10">
            <a:extLst xmlns:a="http://schemas.openxmlformats.org/drawingml/2006/main">
              <a:ext uri="{FF2B5EF4-FFF2-40B4-BE49-F238E27FC236}">
                <a16:creationId xmlns:a16="http://schemas.microsoft.com/office/drawing/2014/main" id="{347CA009-5481-493A-9325-EB164683C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000" y="29634375"/>
            <a:ext cx="14062500" cy="14413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 defTabSz="4389438">
              <a:lnSpc>
                <a:spcPct val="103000"/>
              </a:lnSpc>
              <a:spcBef>
                <a:spcPct val="50000"/>
              </a:spcBef>
              <a:buNone/>
              <a:defRPr sz="86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6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Methods</a:t>
            </a:r>
          </a:p>
        </p:txBody>
      </p:sp>
      <p:sp>
        <p:nvSpPr>
          <p:cNvPr id="3078" name="Text Box 11">
            <a:extLst xmlns:a="http://schemas.openxmlformats.org/drawingml/2006/main">
              <a:ext uri="{FF2B5EF4-FFF2-40B4-BE49-F238E27FC236}">
                <a16:creationId xmlns:a16="http://schemas.microsoft.com/office/drawing/2014/main" id="{26B7943D-C549-4C0A-A3F2-5C2F9FDF0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68750" y="27843750"/>
            <a:ext cx="14156250" cy="14413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 defTabSz="4389438">
              <a:lnSpc>
                <a:spcPct val="103000"/>
              </a:lnSpc>
              <a:spcBef>
                <a:spcPct val="50000"/>
              </a:spcBef>
              <a:buNone/>
              <a:defRPr sz="86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6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Conclusions</a:t>
            </a:r>
          </a:p>
        </p:txBody>
      </p:sp>
      <p:sp>
        <p:nvSpPr>
          <p:cNvPr id="3079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119DE905-E22F-48B3-882D-4FCD71022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250" y="500000"/>
            <a:ext cx="31387500" cy="6900000"/>
          </a:xfrm>
          <a:prstGeom xmlns:a="http://schemas.openxmlformats.org/drawingml/2006/main" prst="roundRect">
            <a:avLst>
              <a:gd name="adj" fmla="val 10870"/>
            </a:avLst>
          </a:prstGeom>
          <a:gradFill xmlns:a="http://schemas.openxmlformats.org/drawingml/2006/main" rotWithShape="1">
            <a:gsLst>
              <a:gs pos="0">
                <a:srgbClr val="A7C4FF"/>
              </a:gs>
              <a:gs pos="100000">
                <a:schemeClr val="bg1"/>
              </a:gs>
            </a:gsLst>
            <a:lin ang="5400000" scaled="1"/>
          </a:gradFill>
          <a:ln xmlns:a="http://schemas.openxmlformats.org/drawingml/2006/main" w="9525">
            <a:solidFill>
              <a:schemeClr val="tx1"/>
            </a:solidFill>
          </a:ln>
        </p:spPr>
        <p:txBody>
          <a:bodyPr xmlns:a="http://schemas.openxmlformats.org/drawingml/2006/main" wrap="none" anchor="ctr"/>
          <a:lstStyle xmlns:a="http://schemas.openxmlformats.org/drawingml/2006/main"/>
          <a:p xmlns:a="http://schemas.openxmlformats.org/drawingml/2006/main">
            <a:pPr algn="ctr" defTabSz="4389438">
              <a:buNone/>
            </a:pPr>
            <a:endParaRPr>
              <a:solidFill>
                <a:schemeClr val="bg1"/>
              </a:solidFill>
            </a:endParaRPr>
          </a:p>
        </p:txBody>
      </p:sp>
      <p:sp>
        <p:nvSpPr>
          <p:cNvPr id="3080" name="Text Box 14">
            <a:extLst xmlns:a="http://schemas.openxmlformats.org/drawingml/2006/main">
              <a:ext uri="{FF2B5EF4-FFF2-40B4-BE49-F238E27FC236}">
                <a16:creationId xmlns:a16="http://schemas.microsoft.com/office/drawing/2014/main" id="{9AA621EB-1332-4186-BA70-ACEFD021C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000" y="1828125"/>
            <a:ext cx="30187500" cy="417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 defTabSz="4389438">
              <a:lnSpc>
                <a:spcPct val="103000"/>
              </a:lnSpc>
              <a:spcBef>
                <a:spcPct val="50000"/>
              </a:spcBef>
              <a:buNone/>
              <a:defRPr sz="86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6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Measurement-Oriented Microscopy Reconstruction</a:t>
            </a:r>
          </a:p>
          <a:p xmlns:a="http://schemas.openxmlformats.org/drawingml/2006/main">
            <a:pPr algn="ctr" defTabSz="4389438">
              <a:lnSpc>
                <a:spcPct val="103000"/>
              </a:lnSpc>
              <a:buNone/>
              <a:defRPr sz="86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6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for Cross-Magnification Micro-Displacement Inspection</a:t>
            </a:r>
          </a:p>
        </p:txBody>
      </p:sp>
      <p:sp>
        <p:nvSpPr>
          <p:cNvPr id="3084" name="Text Box 27">
            <a:extLst xmlns:a="http://schemas.openxmlformats.org/drawingml/2006/main">
              <a:ext uri="{FF2B5EF4-FFF2-40B4-BE49-F238E27FC236}">
                <a16:creationId xmlns:a16="http://schemas.microsoft.com/office/drawing/2014/main" id="{2BAB0CAC-B208-451B-B419-C9C1F6735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6250" y="36375000"/>
            <a:ext cx="13687500" cy="11117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 defTabSz="4389438">
              <a:lnSpc>
                <a:spcPct val="103000"/>
              </a:lnSpc>
              <a:spcBef>
                <a:spcPct val="50000"/>
              </a:spcBef>
              <a:buNone/>
              <a:defRPr sz="6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65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Bibliography</a:t>
            </a:r>
          </a:p>
        </p:txBody>
      </p:sp>
      <p:sp>
        <p:nvSpPr>
          <p:cNvPr id="3090" name="Text Box 42">
            <a:extLst xmlns:a="http://schemas.openxmlformats.org/drawingml/2006/main">
              <a:ext uri="{FF2B5EF4-FFF2-40B4-BE49-F238E27FC236}">
                <a16:creationId xmlns:a16="http://schemas.microsoft.com/office/drawing/2014/main" id="{FB6D3430-EEAB-4F56-88EF-F69E9DD93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000" y="8596875"/>
            <a:ext cx="14062500" cy="14413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 defTabSz="4389438">
              <a:lnSpc>
                <a:spcPct val="103000"/>
              </a:lnSpc>
              <a:spcBef>
                <a:spcPct val="50000"/>
              </a:spcBef>
              <a:buNone/>
              <a:defRPr sz="86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6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Introduction</a:t>
            </a:r>
          </a:p>
        </p:txBody>
      </p:sp>
      <p:sp>
        <p:nvSpPr>
          <p:cNvPr id="3091" name="Text Box 43">
            <a:extLst xmlns:a="http://schemas.openxmlformats.org/drawingml/2006/main">
              <a:ext uri="{FF2B5EF4-FFF2-40B4-BE49-F238E27FC236}">
                <a16:creationId xmlns:a16="http://schemas.microsoft.com/office/drawing/2014/main" id="{6F77FB8A-6CAA-483A-9BE0-1737B6C49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68750" y="8615625"/>
            <a:ext cx="14156250" cy="14413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 defTabSz="4389438">
              <a:lnSpc>
                <a:spcPct val="103000"/>
              </a:lnSpc>
              <a:spcBef>
                <a:spcPct val="50000"/>
              </a:spcBef>
              <a:buNone/>
              <a:defRPr sz="86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6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Results</a:t>
            </a:r>
          </a:p>
        </p:txBody>
      </p:sp>
      <p:sp>
        <p:nvSpPr>
          <p:cNvPr id="3092" name="Text Box 49">
            <a:extLst xmlns:a="http://schemas.openxmlformats.org/drawingml/2006/main">
              <a:ext uri="{FF2B5EF4-FFF2-40B4-BE49-F238E27FC236}">
                <a16:creationId xmlns:a16="http://schemas.microsoft.com/office/drawing/2014/main" id="{14F43A17-656C-41D8-B746-0364CCAB2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00000" y="1846875"/>
            <a:ext cx="3281250" cy="1671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 defTabSz="4389438">
              <a:lnSpc>
                <a:spcPct val="103000"/>
              </a:lnSpc>
              <a:spcBef>
                <a:spcPct val="50000"/>
              </a:spcBef>
              <a:buNone/>
              <a:defRPr sz="28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Paper Code:</a:t>
            </a:r>
          </a:p>
        </p:txBody>
      </p:sp>
      <p:pic>
        <p:nvPicPr>
          <p:cNvPr id="3142" name="圖片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f2742adf7f4a8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8940625" y="857813"/>
            <a:ext cx="2512500" cy="843750"/>
          </a:xfrm>
          <a:prstGeom xmlns:a="http://schemas.openxmlformats.org/drawingml/2006/main" prst="rect">
            <a:avLst/>
          </a:prstGeom>
          <a:ln xmlns:a="http://schemas.openxmlformats.org/drawingml/2006/main" w="9525">
            <a:noFill/>
            <a:miter/>
          </a:ln>
        </p:spPr>
      </p:pic>
      <p:sp>
        <p:nvSpPr>
          <p:cNvPr id="3096" name="authors">
            <a:extLst xmlns:a="http://schemas.openxmlformats.org/drawingml/2006/main">
              <a:ext uri="{FF2B5EF4-FFF2-40B4-BE49-F238E27FC236}">
                <a16:creationId xmlns:a16="http://schemas.microsoft.com/office/drawing/2014/main" id="{9BDCD83F-ED46-46EE-8572-D4F222D05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0000" y="5175000"/>
            <a:ext cx="29343750" cy="73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48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8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Yen Hsuan Chiang, Liang-Chia Chen*</a:t>
            </a:r>
          </a:p>
        </p:txBody>
      </p:sp>
      <p:sp>
        <p:nvSpPr>
          <p:cNvPr id="3097" name="affiliation">
            <a:extLst xmlns:a="http://schemas.openxmlformats.org/drawingml/2006/main">
              <a:ext uri="{FF2B5EF4-FFF2-40B4-BE49-F238E27FC236}">
                <a16:creationId xmlns:a16="http://schemas.microsoft.com/office/drawing/2014/main" id="{CE6987E0-C1C9-4692-9CF0-F132F4901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0000" y="5953125"/>
            <a:ext cx="29343750" cy="571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36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Department of Mechanical Engineering, National Taiwan University</a:t>
            </a:r>
          </a:p>
        </p:txBody>
      </p:sp>
      <p:sp>
        <p:nvSpPr>
          <p:cNvPr id="3098" name="contact">
            <a:extLst xmlns:a="http://schemas.openxmlformats.org/drawingml/2006/main">
              <a:ext uri="{FF2B5EF4-FFF2-40B4-BE49-F238E27FC236}">
                <a16:creationId xmlns:a16="http://schemas.microsoft.com/office/drawing/2014/main" id="{EA115E8B-25DE-44FD-8B90-916DB6432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3750" y="6646875"/>
            <a:ext cx="29156250" cy="45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2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5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No. 1, Sec. 4, Roosevelt Rd., Taipei 10617, Taiwan.  *Correspondence: lchen@ntu.edu.tw</a:t>
            </a:r>
          </a:p>
        </p:txBody>
      </p:sp>
      <p:sp>
        <p:nvSpPr>
          <p:cNvPr id="3099" name="intro_body">
            <a:extLst xmlns:a="http://schemas.openxmlformats.org/drawingml/2006/main">
              <a:ext uri="{FF2B5EF4-FFF2-40B4-BE49-F238E27FC236}">
                <a16:creationId xmlns:a16="http://schemas.microsoft.com/office/drawing/2014/main" id="{23403A3E-E888-452A-9A5D-86EBB4CAA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875" y="10218750"/>
            <a:ext cx="13875000" cy="32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32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Reliable optical inspection requires clear boundaries and stable feature positions. R152 reconstructs microscopy images on the original pixel grid and connects them to one geometric measurement pipeline.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3000"/>
              </a:lnSpc>
              <a:buNone/>
              <a:defRPr sz="32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One fixed set of learned weights processes 20× and 50× images with objective-specific optical information. Bounded correction preserves the input geometry while sharpening the measured boundaries [1, 2].</a:t>
            </a:r>
          </a:p>
        </p:txBody>
      </p:sp>
      <p:sp>
        <p:nvSpPr>
          <p:cNvPr id="3100" name="fig1_label">
            <a:extLst xmlns:a="http://schemas.openxmlformats.org/drawingml/2006/main">
              <a:ext uri="{FF2B5EF4-FFF2-40B4-BE49-F238E27FC236}">
                <a16:creationId xmlns:a16="http://schemas.microsoft.com/office/drawing/2014/main" id="{3457633A-500F-4B72-A9AC-3F1F3D7E5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7500" y="13659375"/>
            <a:ext cx="6750000" cy="93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5400" b="1" i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5400" b="1" i="1">
                <a:solidFill>
                  <a:srgbClr val="111111"/>
                </a:solidFill>
                <a:latin typeface="Arial"/>
                <a:ea typeface="Arial"/>
                <a:cs typeface="Arial"/>
              </a:rPr>
              <a:t>Figure #1</a:t>
            </a:r>
          </a:p>
        </p:txBody>
      </p:sp>
      <p:sp>
        <p:nvSpPr>
          <p:cNvPr id="3101" name="raw_label">
            <a:extLst xmlns:a="http://schemas.openxmlformats.org/drawingml/2006/main">
              <a:ext uri="{FF2B5EF4-FFF2-40B4-BE49-F238E27FC236}">
                <a16:creationId xmlns:a16="http://schemas.microsoft.com/office/drawing/2014/main" id="{EA899B71-51EC-4001-A8F2-B8A993E57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6875" y="14606250"/>
            <a:ext cx="6093750" cy="60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40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0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Raw</a:t>
            </a:r>
          </a:p>
        </p:txBody>
      </p:sp>
      <p:sp>
        <p:nvSpPr>
          <p:cNvPr id="3102" name="r152_label">
            <a:extLst xmlns:a="http://schemas.openxmlformats.org/drawingml/2006/main">
              <a:ext uri="{FF2B5EF4-FFF2-40B4-BE49-F238E27FC236}">
                <a16:creationId xmlns:a16="http://schemas.microsoft.com/office/drawing/2014/main" id="{6CD4995C-A78E-4C1C-B7D4-DA4748835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2500" y="14606250"/>
            <a:ext cx="6093750" cy="60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4000" b="1" i="0">
                <a:solidFill>
                  <a:srgbClr val="003064"/>
                </a:solidFill>
                <a:latin typeface="Arial"/>
                <a:ea typeface="Arial"/>
                <a:cs typeface="Arial"/>
              </a:defRPr>
            </a:pPr>
            <a:r>
              <a:rPr sz="4000" b="1" i="0">
                <a:solidFill>
                  <a:srgbClr val="003064"/>
                </a:solidFill>
                <a:latin typeface="Arial"/>
                <a:ea typeface="Arial"/>
                <a:cs typeface="Arial"/>
              </a:rPr>
              <a:t>R152</a:t>
            </a:r>
          </a:p>
        </p:txBody>
      </p:sp>
      <p:sp>
        <p:nvSpPr>
          <p:cNvPr id="3103" name="mag-20×">
            <a:extLst xmlns:a="http://schemas.openxmlformats.org/drawingml/2006/main">
              <a:ext uri="{FF2B5EF4-FFF2-40B4-BE49-F238E27FC236}">
                <a16:creationId xmlns:a16="http://schemas.microsoft.com/office/drawing/2014/main" id="{9BBD0D5D-BD35-4258-BBDA-F4D98C847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875" y="15281250"/>
            <a:ext cx="1546875" cy="5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30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20×</a:t>
            </a:r>
          </a:p>
        </p:txBody>
      </p:sp>
      <p:pic>
        <p:nvPicPr>
          <p:cNvPr id="31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b9db5e9bf94d8d"/>
          <a:stretch xmlns:a="http://schemas.openxmlformats.org/drawingml/2006/main"/>
        </p:blipFill>
        <p:spPr>
          <a:xfrm xmlns:a="http://schemas.openxmlformats.org/drawingml/2006/main">
            <a:off x="1546875" y="15595618"/>
            <a:ext cx="6093750" cy="6027514"/>
          </a:xfrm>
          <a:prstGeom xmlns:a="http://schemas.openxmlformats.org/drawingml/2006/main" prst="rect">
            <a:avLst/>
          </a:prstGeom>
        </p:spPr>
      </p:pic>
      <p:sp>
        <p:nvSpPr>
          <p:cNvPr id="3105" name="scale-20×-Raw">
            <a:extLst xmlns:a="http://schemas.openxmlformats.org/drawingml/2006/main">
              <a:ext uri="{FF2B5EF4-FFF2-40B4-BE49-F238E27FC236}">
                <a16:creationId xmlns:a16="http://schemas.microsoft.com/office/drawing/2014/main" id="{F0F240F2-35DC-4ECE-8B9C-BBB34B4CE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0792" y="21225000"/>
            <a:ext cx="76795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5625">
            <a:solidFill>
              <a:srgbClr val="FFFFFF"/>
            </a:solidFill>
          </a:ln>
        </p:spPr>
      </p:sp>
      <p:sp>
        <p:nvSpPr>
          <p:cNvPr id="3106" name="scale-label-20×-Raw">
            <a:extLst xmlns:a="http://schemas.openxmlformats.org/drawingml/2006/main">
              <a:ext uri="{FF2B5EF4-FFF2-40B4-BE49-F238E27FC236}">
                <a16:creationId xmlns:a16="http://schemas.microsoft.com/office/drawing/2014/main" id="{8F0CE19C-4563-4B93-9A9F-4A2C78C03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292" y="20671875"/>
            <a:ext cx="1142958" cy="421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24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 µm</a:t>
            </a:r>
          </a:p>
        </p:txBody>
      </p:sp>
      <p:pic>
        <p:nvPicPr>
          <p:cNvPr id="31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e9f1c869144742"/>
          <a:stretch xmlns:a="http://schemas.openxmlformats.org/drawingml/2006/main"/>
        </p:blipFill>
        <p:spPr>
          <a:xfrm xmlns:a="http://schemas.openxmlformats.org/drawingml/2006/main">
            <a:off x="8812500" y="15595618"/>
            <a:ext cx="6093750" cy="6027514"/>
          </a:xfrm>
          <a:prstGeom xmlns:a="http://schemas.openxmlformats.org/drawingml/2006/main" prst="rect">
            <a:avLst/>
          </a:prstGeom>
        </p:spPr>
      </p:pic>
      <p:sp>
        <p:nvSpPr>
          <p:cNvPr id="3108" name="scale-20×-R152">
            <a:extLst xmlns:a="http://schemas.openxmlformats.org/drawingml/2006/main">
              <a:ext uri="{FF2B5EF4-FFF2-40B4-BE49-F238E27FC236}">
                <a16:creationId xmlns:a16="http://schemas.microsoft.com/office/drawing/2014/main" id="{F1D2E38E-3CDA-45DD-89B2-E3BB8EEFC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417" y="21225000"/>
            <a:ext cx="76795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5625">
            <a:solidFill>
              <a:srgbClr val="FFFFFF"/>
            </a:solidFill>
          </a:ln>
        </p:spPr>
      </p:sp>
      <p:sp>
        <p:nvSpPr>
          <p:cNvPr id="3109" name="scale-label-20×-R152">
            <a:extLst xmlns:a="http://schemas.openxmlformats.org/drawingml/2006/main">
              <a:ext uri="{FF2B5EF4-FFF2-40B4-BE49-F238E27FC236}">
                <a16:creationId xmlns:a16="http://schemas.microsoft.com/office/drawing/2014/main" id="{1B0FB321-468E-4EAA-BDAD-0E006F2BA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8917" y="20671875"/>
            <a:ext cx="1142958" cy="421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24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 µm</a:t>
            </a:r>
          </a:p>
        </p:txBody>
      </p:sp>
      <p:sp>
        <p:nvSpPr>
          <p:cNvPr id="3110" name="mag-50×">
            <a:extLst xmlns:a="http://schemas.openxmlformats.org/drawingml/2006/main">
              <a:ext uri="{FF2B5EF4-FFF2-40B4-BE49-F238E27FC236}">
                <a16:creationId xmlns:a16="http://schemas.microsoft.com/office/drawing/2014/main" id="{2F1F691A-950A-4A95-81BE-E4DC7B388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875" y="22125000"/>
            <a:ext cx="1546875" cy="5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30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50×</a:t>
            </a:r>
          </a:p>
        </p:txBody>
      </p:sp>
      <p:pic>
        <p:nvPicPr>
          <p:cNvPr id="315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49151dd11e4e61"/>
          <a:stretch xmlns:a="http://schemas.openxmlformats.org/drawingml/2006/main"/>
        </p:blipFill>
        <p:spPr>
          <a:xfrm xmlns:a="http://schemas.openxmlformats.org/drawingml/2006/main">
            <a:off x="1546875" y="22406250"/>
            <a:ext cx="6093750" cy="6093750"/>
          </a:xfrm>
          <a:prstGeom xmlns:a="http://schemas.openxmlformats.org/drawingml/2006/main" prst="rect">
            <a:avLst/>
          </a:prstGeom>
        </p:spPr>
      </p:pic>
      <p:sp>
        <p:nvSpPr>
          <p:cNvPr id="3112" name="scale-50×-Raw">
            <a:extLst xmlns:a="http://schemas.openxmlformats.org/drawingml/2006/main">
              <a:ext uri="{FF2B5EF4-FFF2-40B4-BE49-F238E27FC236}">
                <a16:creationId xmlns:a16="http://schemas.microsoft.com/office/drawing/2014/main" id="{2AB7F7EF-2813-43B6-B1D7-D4BFB3F0E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7199" y="28068750"/>
            <a:ext cx="78155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5625">
            <a:solidFill>
              <a:srgbClr val="FFFFFF"/>
            </a:solidFill>
          </a:ln>
        </p:spPr>
      </p:sp>
      <p:sp>
        <p:nvSpPr>
          <p:cNvPr id="3113" name="scale-label-50×-Raw">
            <a:extLst xmlns:a="http://schemas.openxmlformats.org/drawingml/2006/main">
              <a:ext uri="{FF2B5EF4-FFF2-40B4-BE49-F238E27FC236}">
                <a16:creationId xmlns:a16="http://schemas.microsoft.com/office/drawing/2014/main" id="{6E7058DF-004B-4998-BE48-7327616F0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9699" y="27515625"/>
            <a:ext cx="1156551" cy="421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24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 µm</a:t>
            </a:r>
          </a:p>
        </p:txBody>
      </p:sp>
      <p:pic>
        <p:nvPicPr>
          <p:cNvPr id="316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a9d5f70d364098"/>
          <a:stretch xmlns:a="http://schemas.openxmlformats.org/drawingml/2006/main"/>
        </p:blipFill>
        <p:spPr>
          <a:xfrm xmlns:a="http://schemas.openxmlformats.org/drawingml/2006/main">
            <a:off x="8812500" y="22406250"/>
            <a:ext cx="6093750" cy="6093750"/>
          </a:xfrm>
          <a:prstGeom xmlns:a="http://schemas.openxmlformats.org/drawingml/2006/main" prst="rect">
            <a:avLst/>
          </a:prstGeom>
        </p:spPr>
      </p:pic>
      <p:sp>
        <p:nvSpPr>
          <p:cNvPr id="3115" name="scale-50×-R152">
            <a:extLst xmlns:a="http://schemas.openxmlformats.org/drawingml/2006/main">
              <a:ext uri="{FF2B5EF4-FFF2-40B4-BE49-F238E27FC236}">
                <a16:creationId xmlns:a16="http://schemas.microsoft.com/office/drawing/2014/main" id="{4DB1131F-994C-48A0-A510-D6C722A8C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02824" y="28068750"/>
            <a:ext cx="78155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5625">
            <a:solidFill>
              <a:srgbClr val="FFFFFF"/>
            </a:solidFill>
          </a:ln>
        </p:spPr>
      </p:sp>
      <p:sp>
        <p:nvSpPr>
          <p:cNvPr id="3116" name="scale-label-50×-R152">
            <a:extLst xmlns:a="http://schemas.openxmlformats.org/drawingml/2006/main">
              <a:ext uri="{FF2B5EF4-FFF2-40B4-BE49-F238E27FC236}">
                <a16:creationId xmlns:a16="http://schemas.microsoft.com/office/drawing/2014/main" id="{65D38578-068B-474A-B503-7863ACAB4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15324" y="27515625"/>
            <a:ext cx="1156551" cy="421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24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 µm</a:t>
            </a:r>
          </a:p>
        </p:txBody>
      </p:sp>
      <p:sp>
        <p:nvSpPr>
          <p:cNvPr id="3117" name="fig1_caption">
            <a:extLst xmlns:a="http://schemas.openxmlformats.org/drawingml/2006/main">
              <a:ext uri="{FF2B5EF4-FFF2-40B4-BE49-F238E27FC236}">
                <a16:creationId xmlns:a16="http://schemas.microsoft.com/office/drawing/2014/main" id="{DE02ADEC-5BE5-4E3A-8811-366D79164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875" y="28687500"/>
            <a:ext cx="13875000" cy="84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2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Representative pillar fields at 20× and 50×. R152 yields clearer boundaries on the native pixel grid. Scale bars: 2 µm.</a:t>
            </a:r>
          </a:p>
        </p:txBody>
      </p:sp>
      <p:sp>
        <p:nvSpPr>
          <p:cNvPr id="3118" name="methods_body">
            <a:extLst xmlns:a="http://schemas.openxmlformats.org/drawingml/2006/main">
              <a:ext uri="{FF2B5EF4-FFF2-40B4-BE49-F238E27FC236}">
                <a16:creationId xmlns:a16="http://schemas.microsoft.com/office/drawing/2014/main" id="{6F567283-2E64-4E44-98C6-3F508277C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875" y="31406250"/>
            <a:ext cx="13875000" cy="29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30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R152 combines PSF-guided reconstruction, anti-aliased processing and bounded output correction. The optical inputs comprise 25 kernels at 20× and one calibrated kernel at 50×.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3000"/>
              </a:lnSpc>
              <a:buNone/>
              <a:defRPr sz="30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All image methods share one LSC pipeline [3, 4]. Each pillar uses 720 radial samples and three center-refinement passes. The median horizontal shift of nine pillars defines each step.</a:t>
            </a:r>
          </a:p>
        </p:txBody>
      </p:sp>
      <p:sp>
        <p:nvSpPr>
          <p:cNvPr id="3119" name="experiment_table_label">
            <a:extLst xmlns:a="http://schemas.openxmlformats.org/drawingml/2006/main">
              <a:ext uri="{FF2B5EF4-FFF2-40B4-BE49-F238E27FC236}">
                <a16:creationId xmlns:a16="http://schemas.microsoft.com/office/drawing/2014/main" id="{E46D075A-EE57-410E-8C18-E70CD14E8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750" y="34593750"/>
            <a:ext cx="13781250" cy="6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30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Table #1. Locked acquisition conditions</a:t>
            </a:r>
          </a:p>
        </p:txBody>
      </p:sp>
      <p:graphicFrame>
        <p:nvGraphicFramePr>
          <p:cNvPr id="3167" name=""/>
          <p:cNvGraphicFramePr/>
          <p:nvPr/>
        </p:nvGraphicFramePr>
        <p:xfrm>
          <a:off xmlns:a="http://schemas.openxmlformats.org/drawingml/2006/main" x="1218750" y="35343750"/>
          <a:ext xmlns:a="http://schemas.openxmlformats.org/drawingml/2006/main" cx="13781250" cy="3975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750000"/>
                <a:gridCol w="3375000"/>
                <a:gridCol w="2812500"/>
                <a:gridCol w="3843750"/>
              </a:tblGrid>
              <a:tr h="79500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9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Objective</a:t>
                      </a:r>
                    </a:p>
                  </a:txBody>
                  <a:tcPr marL="91440" marR="91440" marT="45720" marB="45720" anchor="ctr">
                    <a:solidFill>
                      <a:srgbClr val="E8EF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9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Step (µm)</a:t>
                      </a:r>
                    </a:p>
                  </a:txBody>
                  <a:tcPr marL="91440" marR="91440" marT="45720" marB="45720" anchor="ctr">
                    <a:solidFill>
                      <a:srgbClr val="E8EF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9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Pairs</a:t>
                      </a:r>
                    </a:p>
                  </a:txBody>
                  <a:tcPr marL="91440" marR="91440" marT="45720" marB="45720" anchor="ctr">
                    <a:solidFill>
                      <a:srgbClr val="E8EF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9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µm/pixel</a:t>
                      </a:r>
                    </a:p>
                  </a:txBody>
                  <a:tcPr marL="91440" marR="91440" marT="45720" marB="45720" anchor="ctr">
                    <a:solidFill>
                      <a:srgbClr val="E8EFF8"/>
                    </a:solidFill>
                  </a:tcPr>
                </a:tc>
              </a:tr>
              <a:tr h="79500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9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50×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9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9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9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0.0690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9500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9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50×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9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1.0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9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9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0.0690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9500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9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20×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9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9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9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0.1725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9500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9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20×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9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1.0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9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9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0.1725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121" name="metric_definitions">
            <a:extLst xmlns:a="http://schemas.openxmlformats.org/drawingml/2006/main">
              <a:ext uri="{FF2B5EF4-FFF2-40B4-BE49-F238E27FC236}">
                <a16:creationId xmlns:a16="http://schemas.microsoft.com/office/drawing/2014/main" id="{5BBF2516-7DFF-4323-8A4D-BF4270C29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750" y="39843750"/>
            <a:ext cx="13687500" cy="173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Step SD: mean of four condition-level standard deviations.</a:t>
            </a:r>
          </a:p>
          <a:p xmlns:a="http://schemas.openxmlformats.org/drawingml/2006/main">
            <a:pPr algn="l">
              <a:lnSpc>
                <a:spcPct val="103000"/>
              </a:lnSpc>
              <a:buNone/>
              <a:def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Nominal MAE: mean absolute difference from the set step.</a:t>
            </a:r>
          </a:p>
          <a:p xmlns:a="http://schemas.openxmlformats.org/drawingml/2006/main">
            <a:pPr algn="l">
              <a:lnSpc>
                <a:spcPct val="103000"/>
              </a:lnSpc>
              <a:buNone/>
              <a:def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Within-grid SD: median of 120 nine-pillar standard deviations.</a:t>
            </a:r>
          </a:p>
        </p:txBody>
      </p:sp>
      <p:sp>
        <p:nvSpPr>
          <p:cNvPr id="3122" name="result_hero">
            <a:extLst xmlns:a="http://schemas.openxmlformats.org/drawingml/2006/main">
              <a:ext uri="{FF2B5EF4-FFF2-40B4-BE49-F238E27FC236}">
                <a16:creationId xmlns:a16="http://schemas.microsoft.com/office/drawing/2014/main" id="{B53280B4-5AA9-4C8F-B3A8-2946A4A42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96875" y="10171875"/>
            <a:ext cx="7968750" cy="2371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4600" b="1" i="0">
                <a:solidFill>
                  <a:srgbClr val="003064"/>
                </a:solidFill>
                <a:latin typeface="Arial"/>
                <a:ea typeface="Arial"/>
                <a:cs typeface="Arial"/>
              </a:defRPr>
            </a:pPr>
            <a:r>
              <a:rPr sz="14600" b="1" i="0">
                <a:solidFill>
                  <a:srgbClr val="003064"/>
                </a:solidFill>
                <a:latin typeface="Arial"/>
                <a:ea typeface="Arial"/>
                <a:cs typeface="Arial"/>
              </a:rPr>
              <a:t>60.8%</a:t>
            </a:r>
          </a:p>
        </p:txBody>
      </p:sp>
      <p:sp>
        <p:nvSpPr>
          <p:cNvPr id="3123" name="result_scope">
            <a:extLst xmlns:a="http://schemas.openxmlformats.org/drawingml/2006/main">
              <a:ext uri="{FF2B5EF4-FFF2-40B4-BE49-F238E27FC236}">
                <a16:creationId xmlns:a16="http://schemas.microsoft.com/office/drawing/2014/main" id="{36016510-8F2B-4A57-A95B-E0036E851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81250" y="10687500"/>
            <a:ext cx="4921875" cy="160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40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0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120 paired steps</a:t>
            </a:r>
          </a:p>
          <a:p xmlns:a="http://schemas.openxmlformats.org/drawingml/2006/main">
            <a:pPr algn="ctr">
              <a:lnSpc>
                <a:spcPct val="103000"/>
              </a:lnSpc>
              <a:buNone/>
              <a:defRPr sz="40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0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20× and 50×</a:t>
            </a:r>
          </a:p>
        </p:txBody>
      </p:sp>
      <p:sp>
        <p:nvSpPr>
          <p:cNvPr id="3124" name="result_hero_label">
            <a:extLst xmlns:a="http://schemas.openxmlformats.org/drawingml/2006/main">
              <a:ext uri="{FF2B5EF4-FFF2-40B4-BE49-F238E27FC236}">
                <a16:creationId xmlns:a16="http://schemas.microsoft.com/office/drawing/2014/main" id="{6F137691-7EE4-4F34-A566-75D1A0DB7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96875" y="12750000"/>
            <a:ext cx="13593750" cy="84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38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8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Lower median within-grid SD versus Raw</a:t>
            </a:r>
          </a:p>
        </p:txBody>
      </p:sp>
      <p:sp>
        <p:nvSpPr>
          <p:cNvPr id="3125" name="results_table_label">
            <a:extLst xmlns:a="http://schemas.openxmlformats.org/drawingml/2006/main">
              <a:ext uri="{FF2B5EF4-FFF2-40B4-BE49-F238E27FC236}">
                <a16:creationId xmlns:a16="http://schemas.microsoft.com/office/drawing/2014/main" id="{3D7CC6F7-48FE-4041-9722-2C49022DE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6250" y="13903125"/>
            <a:ext cx="13687500" cy="60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30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Table #2. Aggregate displacement results (nm)</a:t>
            </a:r>
          </a:p>
        </p:txBody>
      </p:sp>
      <p:graphicFrame>
        <p:nvGraphicFramePr>
          <p:cNvPr id="3173" name=""/>
          <p:cNvGraphicFramePr/>
          <p:nvPr/>
        </p:nvGraphicFramePr>
        <p:xfrm>
          <a:off xmlns:a="http://schemas.openxmlformats.org/drawingml/2006/main" x="17156250" y="14700000"/>
          <a:ext xmlns:a="http://schemas.openxmlformats.org/drawingml/2006/main" cx="13781250" cy="3768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06250"/>
                <a:gridCol w="3187500"/>
                <a:gridCol w="3562500"/>
                <a:gridCol w="4125000"/>
              </a:tblGrid>
              <a:tr h="942188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8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Method</a:t>
                      </a:r>
                    </a:p>
                  </a:txBody>
                  <a:tcPr marL="91440" marR="91440" marT="45720" marB="45720" anchor="ctr">
                    <a:solidFill>
                      <a:srgbClr val="E8EF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8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Step SD</a:t>
                      </a:r>
                    </a:p>
                  </a:txBody>
                  <a:tcPr marL="91440" marR="91440" marT="45720" marB="45720" anchor="ctr">
                    <a:solidFill>
                      <a:srgbClr val="E8EF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8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Nominal MAE</a:t>
                      </a:r>
                    </a:p>
                  </a:txBody>
                  <a:tcPr marL="91440" marR="91440" marT="45720" marB="45720" anchor="ctr">
                    <a:solidFill>
                      <a:srgbClr val="E8EF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8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Median</a:t>
                      </a:r>
                    </a:p>
                    <a:p>
                      <a:pPr algn="ctr"/>
                      <a:r>
                        <a:rPr sz="28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within-grid SD</a:t>
                      </a:r>
                    </a:p>
                  </a:txBody>
                  <a:tcPr marL="91440" marR="91440" marT="45720" marB="45720" anchor="ctr">
                    <a:solidFill>
                      <a:srgbClr val="E8EFF8"/>
                    </a:solidFill>
                  </a:tcPr>
                </a:tc>
              </a:tr>
              <a:tr h="942188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8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Raw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8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8.84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8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7.23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8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10.86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942188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8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Wiener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8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7.90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8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6.54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8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6.45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942188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800" b="1">
                          <a:solidFill>
                            <a:srgbClr val="00306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R152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800" b="1">
                          <a:solidFill>
                            <a:srgbClr val="00306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7.11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800" b="1">
                          <a:solidFill>
                            <a:srgbClr val="00306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5.56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800" b="1">
                          <a:solidFill>
                            <a:srgbClr val="00306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4.26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127" name="fig2_label">
            <a:extLst xmlns:a="http://schemas.openxmlformats.org/drawingml/2006/main">
              <a:ext uri="{FF2B5EF4-FFF2-40B4-BE49-F238E27FC236}">
                <a16:creationId xmlns:a16="http://schemas.microsoft.com/office/drawing/2014/main" id="{C131BFC6-96CF-4DCD-9655-67ADD65B4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37500" y="18843750"/>
            <a:ext cx="7218750" cy="104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6000" b="1" i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6000" b="1" i="1">
                <a:solidFill>
                  <a:srgbClr val="111111"/>
                </a:solidFill>
                <a:latin typeface="Arial"/>
                <a:ea typeface="Arial"/>
                <a:cs typeface="Arial"/>
              </a:rPr>
              <a:t>Figure #2</a:t>
            </a:r>
          </a:p>
        </p:txBody>
      </p:sp>
      <p:graphicFrame>
        <p:nvGraphicFramePr>
          <p:cNvPr id="3175" name="Chart"/>
          <p:cNvGraphicFramePr/>
          <p:nvPr/>
        </p:nvGraphicFramePr>
        <p:xfrm>
          <a:off xmlns:a="http://schemas.openxmlformats.org/drawingml/2006/main" x="17043750" y="20062500"/>
          <a:ext xmlns:a="http://schemas.openxmlformats.org/drawingml/2006/main" cx="14156250" cy="609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1ad999ae7674326"/>
          </a:graphicData>
        </a:graphic>
      </p:graphicFrame>
      <p:sp>
        <p:nvSpPr>
          <p:cNvPr id="3129" name="fig2_caption">
            <a:extLst xmlns:a="http://schemas.openxmlformats.org/drawingml/2006/main">
              <a:ext uri="{FF2B5EF4-FFF2-40B4-BE49-F238E27FC236}">
                <a16:creationId xmlns:a16="http://schemas.microsoft.com/office/drawing/2014/main" id="{55665C8E-C58F-44DC-8077-E77359757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6250" y="26625000"/>
            <a:ext cx="13875000" cy="98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2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R152 achieves the lowest measured values for all three criteria across the four imaging conditions.</a:t>
            </a:r>
          </a:p>
        </p:txBody>
      </p:sp>
      <p:sp>
        <p:nvSpPr>
          <p:cNvPr id="3130" name="conclusions_body">
            <a:extLst xmlns:a="http://schemas.openxmlformats.org/drawingml/2006/main">
              <a:ext uri="{FF2B5EF4-FFF2-40B4-BE49-F238E27FC236}">
                <a16:creationId xmlns:a16="http://schemas.microsoft.com/office/drawing/2014/main" id="{C0900020-5E47-4BB7-885C-2424850E7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6250" y="29625000"/>
            <a:ext cx="13781250" cy="59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32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R152 reduces median within-grid variation from 10.86 nm to 4.26 nm, a 60.8% reduction relative to Raw.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3000"/>
              </a:lnSpc>
              <a:buNone/>
              <a:defRPr sz="32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Step SD and nominal MAE decrease by 19.5% and 23.1%, respectively. The same learned weights deliver the lowest measured values in every tested condition.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3000"/>
              </a:lnSpc>
              <a:buNone/>
              <a:defRPr sz="32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Step variation reaches 0.056 pixel at 20× and 0.067 pixel at 50×. R152 combines clear pillar boundaries with stronger positional consistency across both objectives.</a:t>
            </a:r>
          </a:p>
        </p:txBody>
      </p:sp>
      <p:sp>
        <p:nvSpPr>
          <p:cNvPr id="3131" name="bibliography_body">
            <a:extLst xmlns:a="http://schemas.openxmlformats.org/drawingml/2006/main">
              <a:ext uri="{FF2B5EF4-FFF2-40B4-BE49-F238E27FC236}">
                <a16:creationId xmlns:a16="http://schemas.microsoft.com/office/drawing/2014/main" id="{3124265C-CF33-4ADE-BECC-084E55466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6250" y="37575000"/>
            <a:ext cx="13687500" cy="376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2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[1] O. Ronneberger et al., U-Net, MICCAI, 2015, pp. 234–241.</a:t>
            </a:r>
          </a:p>
          <a:p xmlns:a="http://schemas.openxmlformats.org/drawingml/2006/main">
            <a:pPr algn="l">
              <a:lnSpc>
                <a:spcPct val="103000"/>
              </a:lnSpc>
              <a:buNone/>
              <a:defRPr sz="2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[2] R. Zhang, Making convolutional networks shift-invariant again, ICML, 2019, pp. 7324–7334.</a:t>
            </a:r>
          </a:p>
          <a:p xmlns:a="http://schemas.openxmlformats.org/drawingml/2006/main">
            <a:pPr algn="l">
              <a:lnSpc>
                <a:spcPct val="103000"/>
              </a:lnSpc>
              <a:buNone/>
              <a:defRPr sz="2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[3] T. F. Chan and L. A. Vese, Active contours without edges, IEEE Trans. Image Process., 10(2), 266–277, 2001.</a:t>
            </a:r>
          </a:p>
          <a:p xmlns:a="http://schemas.openxmlformats.org/drawingml/2006/main">
            <a:pPr algn="l">
              <a:lnSpc>
                <a:spcPct val="103000"/>
              </a:lnSpc>
              <a:buNone/>
              <a:defRPr sz="2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[4] N. Chernov and C. Lesort, Least squares fitting of circles, J. Math. Imaging Vis., 23, 239–252, 2005.</a:t>
            </a:r>
          </a:p>
        </p:txBody>
      </p:sp>
    </p:spTree>
    <p:extLst>
      <p:ext uri="{BB962C8B-B14F-4D97-AF65-F5344CB8AC3E}">
        <p14:creationId xmlns:p14="http://schemas.microsoft.com/office/powerpoint/2010/main" val="1216339020"/>
      </p:ext>
    </p:extLst>
  </p:cSld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Default Design 1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2026-09-29T15:24:58.4020000Z</dcterms:created>
  <dcterms:modified xsi:type="dcterms:W3CDTF">2026-09-29T15:24:58.4020000Z</dcterms:modified>
</coreProperties>
</file>