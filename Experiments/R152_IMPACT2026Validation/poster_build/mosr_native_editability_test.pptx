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Raw QA</c:v>
          </c:tx>
          <c:spPr>
            <a:pattFill prst="pct5">
              <a:fgClr>
                <a:srgbClr val="111111"/>
              </a:fgClr>
              <a:bgClr>
                <a:srgbClr val="D8D8D8"/>
              </a:bgClr>
            </a:pattFill>
            <a:ln w="9525">
              <a:solidFill>
                <a:srgbClr val="111111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 b="1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5.2378960000000001</c:v>
                </c:pt>
                <c:pt idx="1">
                  <c:v>5.4300759999999997</c:v>
                </c:pt>
                <c:pt idx="2">
                  <c:v>14.162182</c:v>
                </c:pt>
                <c:pt idx="3">
                  <c:v>10.527768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3E-4EB9-AB53-288A91CD6EB7}"/>
            </c:ext>
          </c:extLst>
        </c:ser>
        <c:ser>
          <c:idx val="1"/>
          <c:order val="1"/>
          <c:tx>
            <c:v>Wiener</c:v>
          </c:tx>
          <c:spPr>
            <a:pattFill prst="upDiag">
              <a:fgClr>
                <a:srgbClr val="111111"/>
              </a:fgClr>
              <a:bgClr>
                <a:srgbClr val="AFAFAF"/>
              </a:bgClr>
            </a:pattFill>
            <a:ln w="9525">
              <a:solidFill>
                <a:srgbClr val="111111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 b="1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4.9070450000000001</c:v>
                </c:pt>
                <c:pt idx="1">
                  <c:v>4.5896710000000001</c:v>
                </c:pt>
                <c:pt idx="2">
                  <c:v>11.076843</c:v>
                </c:pt>
                <c:pt idx="3">
                  <c:v>11.006544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3E-4EB9-AB53-288A91CD6EB7}"/>
            </c:ext>
          </c:extLst>
        </c:ser>
        <c:ser>
          <c:idx val="2"/>
          <c:order val="2"/>
          <c:tx>
            <c:v>MOSR</c:v>
          </c:tx>
          <c:spPr>
            <a:solidFill>
              <a:srgbClr val="181818"/>
            </a:solidFill>
            <a:ln w="9525">
              <a:solidFill>
                <a:srgbClr val="111111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 b="1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4.7226520000000001</c:v>
                </c:pt>
                <c:pt idx="1">
                  <c:v>4.5471550000000001</c:v>
                </c:pt>
                <c:pt idx="2">
                  <c:v>10.754313</c:v>
                </c:pt>
                <c:pt idx="3">
                  <c:v>8.4291920000000005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11111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43E-4EB9-AB53-288A91CD6E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autoZero"/>
        <c:crossBetween val="between"/>
        <c:majorUnit val="4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Public model name: MOSR. Internal provenance maps to the fixed R152 delivery checkpoint in the experiment record.</a:t>
            </a:r>
          </a:p>
          <a:p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</a:p>
          <a:p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</a:p>
          <a:p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</a:p>
          <a:p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</a:p>
          <a:p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</a:p>
          <a:p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</a:p>
          <a:p>
            <a:pPr>
              <a:buNone/>
            </a:pPr>
            <a:r>
              <a:t>Template: C:/Users/Rio/OneDrive/學業/碩班/論文/投稿/IMPACT2026/4. Poster_Sample_2026 (2).pptx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25EF9-FDF9-4DFE-AD22-B8E8BEF5D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9C35C32-F397-4386-9EF1-E70632116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F95947-3BBC-4BED-8F35-8928E22B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863C7C-134C-4F9B-AE52-2A7402879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BC993D-705E-43D7-A9C9-36E49ACA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2553F2-9AF0-4B48-BC3B-28E197E43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0368C-4CD9-45AB-9D03-248B8913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C2A066-68FA-43F1-9FDA-FAB1C79A9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14736762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76167A-A3E1-448D-93E5-2F8418EE61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535400" y="10240963"/>
            <a:ext cx="14736763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271BF3-B420-4184-8AFD-48CC8AD0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2D691D-0CB7-4716-A0D0-C1871CE5E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624384-6AF7-49A6-A7E5-1CD59C6A9B5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46238" y="13919200"/>
            <a:ext cx="14544675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21D392-D1BB-49B4-A68F-6064A8456C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722725" y="9825038"/>
            <a:ext cx="14549438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AA04B9-C125-4968-BE07-F995E4B3243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6722725" y="13919200"/>
            <a:ext cx="14549438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7EC73A-A55B-4FF5-AB2A-3B5998CE2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26BA02-490E-48F0-B9E0-30C25FB78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E31F04-A4A7-4B8A-9316-007F5F971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1C7A61-5ECF-4D46-9DBC-892B0D82B2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46238" y="9185275"/>
            <a:ext cx="10829925" cy="3002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1C447C-4E4F-4CC0-A9DA-CB5C4F6A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1444857-1F7C-44B7-865C-2C86FC6F4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3730F8B-D600-4CCE-862F-C4200322971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51600" y="34350325"/>
            <a:ext cx="19751675" cy="5151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F30D65-1E85-421A-8AE9-0132CCD5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3190210-7BAD-4904-AA25-8EFDFF97F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EEBDB6D-710A-4880-9969-10C4C20A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6475" y="1757363"/>
            <a:ext cx="7405688" cy="37450712"/>
          </a:xfrm>
          <a:prstGeom prst="rect">
            <a:avLst/>
          </a:prstGeo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6D7C346-E6D7-426F-BFF1-9D819CB5A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757363"/>
            <a:ext cx="22067837" cy="374507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50">
            <a:extLst>
              <a:ext uri="{FF2B5EF4-FFF2-40B4-BE49-F238E27FC236}">
                <a16:creationId xmlns:a16="http://schemas.microsoft.com/office/drawing/2014/main" id="{E56CE311-59E7-427A-A496-C7F409FFBADD}"/>
              </a:ext>
            </a:extLst>
          </p:cNvPr>
          <p:cNvSpPr>
            <a:spLocks noGrp="1"/>
          </p:cNvSpPr>
          <p:nvPr/>
        </p:nvSpPr>
        <p:spPr>
          <a:xfrm>
            <a:off x="16518750" y="80375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5" name="AutoShape 4">
            <a:extLst>
              <a:ext uri="{FF2B5EF4-FFF2-40B4-BE49-F238E27FC236}">
                <a16:creationId xmlns:a16="http://schemas.microsoft.com/office/drawing/2014/main" id="{FEE5BE96-8435-4829-BF10-D1D4DC3EA268}"/>
              </a:ext>
            </a:extLst>
          </p:cNvPr>
          <p:cNvSpPr>
            <a:spLocks noGrp="1"/>
          </p:cNvSpPr>
          <p:nvPr/>
        </p:nvSpPr>
        <p:spPr>
          <a:xfrm>
            <a:off x="562500" y="80000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7" name="Text Box 10">
            <a:extLst>
              <a:ext uri="{FF2B5EF4-FFF2-40B4-BE49-F238E27FC236}">
                <a16:creationId xmlns:a16="http://schemas.microsoft.com/office/drawing/2014/main" id="{14623ED5-DE4C-4F40-9B13-BF060FE1F2BB}"/>
              </a:ext>
            </a:extLst>
          </p:cNvPr>
          <p:cNvSpPr>
            <a:spLocks noGrp="1"/>
          </p:cNvSpPr>
          <p:nvPr/>
        </p:nvSpPr>
        <p:spPr>
          <a:xfrm>
            <a:off x="1125000" y="29634375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>
              <a:ext uri="{FF2B5EF4-FFF2-40B4-BE49-F238E27FC236}">
                <a16:creationId xmlns:a16="http://schemas.microsoft.com/office/drawing/2014/main" id="{03461EC7-4C4D-4AD6-B85B-03E2B1E2331C}"/>
              </a:ext>
            </a:extLst>
          </p:cNvPr>
          <p:cNvSpPr>
            <a:spLocks noGrp="1"/>
          </p:cNvSpPr>
          <p:nvPr/>
        </p:nvSpPr>
        <p:spPr>
          <a:xfrm>
            <a:off x="16968750" y="32578125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>
              <a:ext uri="{FF2B5EF4-FFF2-40B4-BE49-F238E27FC236}">
                <a16:creationId xmlns:a16="http://schemas.microsoft.com/office/drawing/2014/main" id="{9BE8EFB3-544F-4CF0-AF73-CB61DC8BEFF1}"/>
              </a:ext>
            </a:extLst>
          </p:cNvPr>
          <p:cNvSpPr>
            <a:spLocks noGrp="1"/>
          </p:cNvSpPr>
          <p:nvPr/>
        </p:nvSpPr>
        <p:spPr>
          <a:xfrm>
            <a:off x="506250" y="500000"/>
            <a:ext cx="31387500" cy="690000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>
              <a:ext uri="{FF2B5EF4-FFF2-40B4-BE49-F238E27FC236}">
                <a16:creationId xmlns:a16="http://schemas.microsoft.com/office/drawing/2014/main" id="{4C08EA6B-D8D1-4BA6-BCDB-2316E0692188}"/>
              </a:ext>
            </a:extLst>
          </p:cNvPr>
          <p:cNvSpPr>
            <a:spLocks noGrp="1"/>
          </p:cNvSpPr>
          <p:nvPr/>
        </p:nvSpPr>
        <p:spPr>
          <a:xfrm>
            <a:off x="1125000" y="2625000"/>
            <a:ext cx="30187500" cy="417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>
              <a:ext uri="{FF2B5EF4-FFF2-40B4-BE49-F238E27FC236}">
                <a16:creationId xmlns:a16="http://schemas.microsoft.com/office/drawing/2014/main" id="{1A580D9D-EA9C-4352-9096-F8E03595240E}"/>
              </a:ext>
            </a:extLst>
          </p:cNvPr>
          <p:cNvSpPr>
            <a:spLocks noGrp="1"/>
          </p:cNvSpPr>
          <p:nvPr/>
        </p:nvSpPr>
        <p:spPr>
          <a:xfrm>
            <a:off x="17156250" y="37875000"/>
            <a:ext cx="13687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>
              <a:ext uri="{FF2B5EF4-FFF2-40B4-BE49-F238E27FC236}">
                <a16:creationId xmlns:a16="http://schemas.microsoft.com/office/drawing/2014/main" id="{EBB01C97-AA68-45DD-A023-9F62ACE5C802}"/>
              </a:ext>
            </a:extLst>
          </p:cNvPr>
          <p:cNvSpPr>
            <a:spLocks noGrp="1"/>
          </p:cNvSpPr>
          <p:nvPr/>
        </p:nvSpPr>
        <p:spPr>
          <a:xfrm>
            <a:off x="1125000" y="8596875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>
              <a:ext uri="{FF2B5EF4-FFF2-40B4-BE49-F238E27FC236}">
                <a16:creationId xmlns:a16="http://schemas.microsoft.com/office/drawing/2014/main" id="{2062D85C-E6DD-4CEE-A4B5-CC07666CF7C3}"/>
              </a:ext>
            </a:extLst>
          </p:cNvPr>
          <p:cNvSpPr>
            <a:spLocks noGrp="1"/>
          </p:cNvSpPr>
          <p:nvPr/>
        </p:nvSpPr>
        <p:spPr>
          <a:xfrm>
            <a:off x="16968750" y="8615625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>
              <a:ext uri="{FF2B5EF4-FFF2-40B4-BE49-F238E27FC236}">
                <a16:creationId xmlns:a16="http://schemas.microsoft.com/office/drawing/2014/main" id="{E468FD97-8565-425D-A927-BDD910E51996}"/>
              </a:ext>
            </a:extLst>
          </p:cNvPr>
          <p:cNvSpPr>
            <a:spLocks noGrp="1"/>
          </p:cNvSpPr>
          <p:nvPr/>
        </p:nvSpPr>
        <p:spPr>
          <a:xfrm>
            <a:off x="28200000" y="1846875"/>
            <a:ext cx="3281250" cy="167132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940625" y="857813"/>
            <a:ext cx="2512500" cy="843750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3096" name="authors">
            <a:extLst>
              <a:ext uri="{FF2B5EF4-FFF2-40B4-BE49-F238E27FC236}">
                <a16:creationId xmlns:a16="http://schemas.microsoft.com/office/drawing/2014/main" id="{790AAC4B-9E5E-48E0-8267-841E20D5B0E8}"/>
              </a:ext>
            </a:extLst>
          </p:cNvPr>
          <p:cNvSpPr>
            <a:spLocks noGrp="1"/>
          </p:cNvSpPr>
          <p:nvPr/>
        </p:nvSpPr>
        <p:spPr>
          <a:xfrm>
            <a:off x="1500000" y="5437500"/>
            <a:ext cx="29343750" cy="6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>
              <a:ext uri="{FF2B5EF4-FFF2-40B4-BE49-F238E27FC236}">
                <a16:creationId xmlns:a16="http://schemas.microsoft.com/office/drawing/2014/main" id="{5B6F8DF3-DD9C-4872-A53C-452219BA6AFF}"/>
              </a:ext>
            </a:extLst>
          </p:cNvPr>
          <p:cNvSpPr>
            <a:spLocks noGrp="1"/>
          </p:cNvSpPr>
          <p:nvPr/>
        </p:nvSpPr>
        <p:spPr>
          <a:xfrm>
            <a:off x="1500000" y="6140625"/>
            <a:ext cx="29343750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>
              <a:ext uri="{FF2B5EF4-FFF2-40B4-BE49-F238E27FC236}">
                <a16:creationId xmlns:a16="http://schemas.microsoft.com/office/drawing/2014/main" id="{37AA104E-A0E3-4081-91E6-88DD86EDF58D}"/>
              </a:ext>
            </a:extLst>
          </p:cNvPr>
          <p:cNvSpPr>
            <a:spLocks noGrp="1"/>
          </p:cNvSpPr>
          <p:nvPr/>
        </p:nvSpPr>
        <p:spPr>
          <a:xfrm>
            <a:off x="1593750" y="6759375"/>
            <a:ext cx="29156250" cy="4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>
              <a:ext uri="{FF2B5EF4-FFF2-40B4-BE49-F238E27FC236}">
                <a16:creationId xmlns:a16="http://schemas.microsoft.com/office/drawing/2014/main" id="{BA656FB4-2FC4-41CF-A0B6-98C0E0594165}"/>
              </a:ext>
            </a:extLst>
          </p:cNvPr>
          <p:cNvSpPr>
            <a:spLocks noGrp="1"/>
          </p:cNvSpPr>
          <p:nvPr/>
        </p:nvSpPr>
        <p:spPr>
          <a:xfrm>
            <a:off x="1171875" y="10218750"/>
            <a:ext cx="13875000" cy="40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>
            <a:endParaRPr sz="30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</p:txBody>
      </p:sp>
      <p:sp>
        <p:nvSpPr>
          <p:cNvPr id="3100" name="raw_label">
            <a:extLst>
              <a:ext uri="{FF2B5EF4-FFF2-40B4-BE49-F238E27FC236}">
                <a16:creationId xmlns:a16="http://schemas.microsoft.com/office/drawing/2014/main" id="{FAFB3D15-3A44-49DD-938F-3D7602B3A05D}"/>
              </a:ext>
            </a:extLst>
          </p:cNvPr>
          <p:cNvSpPr>
            <a:spLocks noGrp="1"/>
          </p:cNvSpPr>
          <p:nvPr/>
        </p:nvSpPr>
        <p:spPr>
          <a:xfrm>
            <a:off x="1546875" y="14606250"/>
            <a:ext cx="60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>
              <a:ext uri="{FF2B5EF4-FFF2-40B4-BE49-F238E27FC236}">
                <a16:creationId xmlns:a16="http://schemas.microsoft.com/office/drawing/2014/main" id="{721BAF95-6992-43D9-9C90-2838614D69FB}"/>
              </a:ext>
            </a:extLst>
          </p:cNvPr>
          <p:cNvSpPr>
            <a:spLocks noGrp="1"/>
          </p:cNvSpPr>
          <p:nvPr/>
        </p:nvSpPr>
        <p:spPr>
          <a:xfrm>
            <a:off x="8812500" y="14606250"/>
            <a:ext cx="60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>
              <a:ext uri="{FF2B5EF4-FFF2-40B4-BE49-F238E27FC236}">
                <a16:creationId xmlns:a16="http://schemas.microsoft.com/office/drawing/2014/main" id="{E563D6A6-1C5F-46B4-A5A9-E1213B9AD7C3}"/>
              </a:ext>
            </a:extLst>
          </p:cNvPr>
          <p:cNvSpPr>
            <a:spLocks noGrp="1"/>
          </p:cNvSpPr>
          <p:nvPr/>
        </p:nvSpPr>
        <p:spPr>
          <a:xfrm>
            <a:off x="1171875" y="15000000"/>
            <a:ext cx="1546875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圖片 31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46875" y="15595618"/>
            <a:ext cx="6093750" cy="6027514"/>
          </a:xfrm>
          <a:prstGeom prst="rect">
            <a:avLst/>
          </a:prstGeom>
        </p:spPr>
      </p:pic>
      <p:sp>
        <p:nvSpPr>
          <p:cNvPr id="3104" name="scale-20×-Raw">
            <a:extLst>
              <a:ext uri="{FF2B5EF4-FFF2-40B4-BE49-F238E27FC236}">
                <a16:creationId xmlns:a16="http://schemas.microsoft.com/office/drawing/2014/main" id="{09F93C31-D87A-4FDC-AD49-50C7C9C01432}"/>
              </a:ext>
            </a:extLst>
          </p:cNvPr>
          <p:cNvSpPr>
            <a:spLocks noGrp="1"/>
          </p:cNvSpPr>
          <p:nvPr/>
        </p:nvSpPr>
        <p:spPr>
          <a:xfrm>
            <a:off x="6450792" y="21225000"/>
            <a:ext cx="767958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05" name="scale-label-20×-Raw">
            <a:extLst>
              <a:ext uri="{FF2B5EF4-FFF2-40B4-BE49-F238E27FC236}">
                <a16:creationId xmlns:a16="http://schemas.microsoft.com/office/drawing/2014/main" id="{66CAC7F4-FB14-40EB-B55A-AA87AC12D0B7}"/>
              </a:ext>
            </a:extLst>
          </p:cNvPr>
          <p:cNvSpPr>
            <a:spLocks noGrp="1"/>
          </p:cNvSpPr>
          <p:nvPr/>
        </p:nvSpPr>
        <p:spPr>
          <a:xfrm>
            <a:off x="6263292" y="20671875"/>
            <a:ext cx="1142958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圖片 315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812500" y="15595618"/>
            <a:ext cx="6093750" cy="6027514"/>
          </a:xfrm>
          <a:prstGeom prst="rect">
            <a:avLst/>
          </a:prstGeom>
        </p:spPr>
      </p:pic>
      <p:sp>
        <p:nvSpPr>
          <p:cNvPr id="3107" name="scale-20×-R152">
            <a:extLst>
              <a:ext uri="{FF2B5EF4-FFF2-40B4-BE49-F238E27FC236}">
                <a16:creationId xmlns:a16="http://schemas.microsoft.com/office/drawing/2014/main" id="{A057EF17-476D-4907-A34F-971723D9A087}"/>
              </a:ext>
            </a:extLst>
          </p:cNvPr>
          <p:cNvSpPr>
            <a:spLocks noGrp="1"/>
          </p:cNvSpPr>
          <p:nvPr/>
        </p:nvSpPr>
        <p:spPr>
          <a:xfrm>
            <a:off x="13716417" y="21225000"/>
            <a:ext cx="767958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08" name="scale-label-20×-R152">
            <a:extLst>
              <a:ext uri="{FF2B5EF4-FFF2-40B4-BE49-F238E27FC236}">
                <a16:creationId xmlns:a16="http://schemas.microsoft.com/office/drawing/2014/main" id="{759EDEE7-5009-4529-B98B-1123331EF5D6}"/>
              </a:ext>
            </a:extLst>
          </p:cNvPr>
          <p:cNvSpPr>
            <a:spLocks noGrp="1"/>
          </p:cNvSpPr>
          <p:nvPr/>
        </p:nvSpPr>
        <p:spPr>
          <a:xfrm>
            <a:off x="13528917" y="20671875"/>
            <a:ext cx="1142958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>
              <a:ext uri="{FF2B5EF4-FFF2-40B4-BE49-F238E27FC236}">
                <a16:creationId xmlns:a16="http://schemas.microsoft.com/office/drawing/2014/main" id="{2C87457D-D19F-4D50-9312-1FD0D3F9CDFF}"/>
              </a:ext>
            </a:extLst>
          </p:cNvPr>
          <p:cNvSpPr>
            <a:spLocks noGrp="1"/>
          </p:cNvSpPr>
          <p:nvPr/>
        </p:nvSpPr>
        <p:spPr>
          <a:xfrm>
            <a:off x="1171875" y="21843750"/>
            <a:ext cx="1546875" cy="5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圖片 315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46875" y="22406250"/>
            <a:ext cx="6093750" cy="6093750"/>
          </a:xfrm>
          <a:prstGeom prst="rect">
            <a:avLst/>
          </a:prstGeom>
        </p:spPr>
      </p:pic>
      <p:sp>
        <p:nvSpPr>
          <p:cNvPr id="3111" name="scale-50×-Raw">
            <a:extLst>
              <a:ext uri="{FF2B5EF4-FFF2-40B4-BE49-F238E27FC236}">
                <a16:creationId xmlns:a16="http://schemas.microsoft.com/office/drawing/2014/main" id="{BD97C2EE-406A-4DFB-B8DC-77AE1DA64432}"/>
              </a:ext>
            </a:extLst>
          </p:cNvPr>
          <p:cNvSpPr>
            <a:spLocks noGrp="1"/>
          </p:cNvSpPr>
          <p:nvPr/>
        </p:nvSpPr>
        <p:spPr>
          <a:xfrm>
            <a:off x="6437199" y="28068750"/>
            <a:ext cx="781551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12" name="scale-label-50×-Raw">
            <a:extLst>
              <a:ext uri="{FF2B5EF4-FFF2-40B4-BE49-F238E27FC236}">
                <a16:creationId xmlns:a16="http://schemas.microsoft.com/office/drawing/2014/main" id="{7650BC56-78E9-4130-B625-681EC87A3F25}"/>
              </a:ext>
            </a:extLst>
          </p:cNvPr>
          <p:cNvSpPr>
            <a:spLocks noGrp="1"/>
          </p:cNvSpPr>
          <p:nvPr/>
        </p:nvSpPr>
        <p:spPr>
          <a:xfrm>
            <a:off x="6249699" y="27515625"/>
            <a:ext cx="1156551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圖片 316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812500" y="22406250"/>
            <a:ext cx="6093750" cy="6093750"/>
          </a:xfrm>
          <a:prstGeom prst="rect">
            <a:avLst/>
          </a:prstGeom>
        </p:spPr>
      </p:pic>
      <p:sp>
        <p:nvSpPr>
          <p:cNvPr id="3114" name="scale-50×-R152">
            <a:extLst>
              <a:ext uri="{FF2B5EF4-FFF2-40B4-BE49-F238E27FC236}">
                <a16:creationId xmlns:a16="http://schemas.microsoft.com/office/drawing/2014/main" id="{1457D913-D203-4601-AB60-2135E756AC60}"/>
              </a:ext>
            </a:extLst>
          </p:cNvPr>
          <p:cNvSpPr>
            <a:spLocks noGrp="1"/>
          </p:cNvSpPr>
          <p:nvPr/>
        </p:nvSpPr>
        <p:spPr>
          <a:xfrm>
            <a:off x="13702824" y="28068750"/>
            <a:ext cx="781551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15" name="scale-label-50×-R152">
            <a:extLst>
              <a:ext uri="{FF2B5EF4-FFF2-40B4-BE49-F238E27FC236}">
                <a16:creationId xmlns:a16="http://schemas.microsoft.com/office/drawing/2014/main" id="{E4EC3527-0374-480E-B347-E52928EB05EF}"/>
              </a:ext>
            </a:extLst>
          </p:cNvPr>
          <p:cNvSpPr>
            <a:spLocks noGrp="1"/>
          </p:cNvSpPr>
          <p:nvPr/>
        </p:nvSpPr>
        <p:spPr>
          <a:xfrm>
            <a:off x="13515324" y="27515625"/>
            <a:ext cx="1156551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>
              <a:ext uri="{FF2B5EF4-FFF2-40B4-BE49-F238E27FC236}">
                <a16:creationId xmlns:a16="http://schemas.microsoft.com/office/drawing/2014/main" id="{D931186D-D6A5-44CA-B1E8-47AB33346624}"/>
              </a:ext>
            </a:extLst>
          </p:cNvPr>
          <p:cNvSpPr>
            <a:spLocks noGrp="1"/>
          </p:cNvSpPr>
          <p:nvPr/>
        </p:nvSpPr>
        <p:spPr>
          <a:xfrm>
            <a:off x="1171875" y="28687500"/>
            <a:ext cx="13875000" cy="8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>
              <a:ext uri="{FF2B5EF4-FFF2-40B4-BE49-F238E27FC236}">
                <a16:creationId xmlns:a16="http://schemas.microsoft.com/office/drawing/2014/main" id="{FC545374-BBFB-4542-BCC2-D373452DF04A}"/>
              </a:ext>
            </a:extLst>
          </p:cNvPr>
          <p:cNvSpPr>
            <a:spLocks noGrp="1"/>
          </p:cNvSpPr>
          <p:nvPr/>
        </p:nvSpPr>
        <p:spPr>
          <a:xfrm>
            <a:off x="1171875" y="31078125"/>
            <a:ext cx="13875000" cy="50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Optical inputs comprise 25 measured kernels at 20× and one calibrated kernel at 50×.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Each pillar uses 720 uniform radial directions, 0.05-pixel profile sampling and three center updates.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pair yields nine horizontal pillar-center shifts. Their median, converted to object space and taken in absolute value, defines one single-step displacement. All three image methods use the same procedure.</a:t>
            </a:r>
          </a:p>
        </p:txBody>
      </p:sp>
      <p:sp>
        <p:nvSpPr>
          <p:cNvPr id="3118" name="table1_caption">
            <a:extLst>
              <a:ext uri="{FF2B5EF4-FFF2-40B4-BE49-F238E27FC236}">
                <a16:creationId xmlns:a16="http://schemas.microsoft.com/office/drawing/2014/main" id="{5F37702C-429A-42FC-9CF6-45A6B9F5AE58}"/>
              </a:ext>
            </a:extLst>
          </p:cNvPr>
          <p:cNvSpPr>
            <a:spLocks noGrp="1"/>
          </p:cNvSpPr>
          <p:nvPr/>
        </p:nvSpPr>
        <p:spPr>
          <a:xfrm>
            <a:off x="1218750" y="36328125"/>
            <a:ext cx="1378125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表格 3166"/>
          <p:cNvGraphicFramePr/>
          <p:nvPr>
            <p:extLst>
              <p:ext uri="{D42A27DB-BD31-4B8C-83A1-F6EECF244321}">
                <p14:modId xmlns:p14="http://schemas.microsoft.com/office/powerpoint/2010/main" val="1878039168"/>
              </p:ext>
            </p:extLst>
          </p:nvPr>
        </p:nvGraphicFramePr>
        <p:xfrm>
          <a:off x="1218750" y="37125000"/>
          <a:ext cx="13781250" cy="3459375"/>
        </p:xfrm>
        <a:graphic>
          <a:graphicData uri="http://schemas.openxmlformats.org/drawingml/2006/table">
            <a:tbl>
              <a:tblPr/>
              <a:tblGrid>
                <a:gridCol w="365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1875">
                <a:tc>
                  <a:txBody>
                    <a:bodyPr/>
                    <a:lstStyle/>
                    <a:p>
                      <a:pPr algn="l"/>
                      <a:r>
                        <a:rPr lang="en-US"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 QA</a:t>
                      </a:r>
                      <a:endParaRPr sz="2700" b="1">
                        <a:solidFill>
                          <a:srgbClr val="11111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20" name="statistics_definition">
            <a:extLst>
              <a:ext uri="{FF2B5EF4-FFF2-40B4-BE49-F238E27FC236}">
                <a16:creationId xmlns:a16="http://schemas.microsoft.com/office/drawing/2014/main" id="{08EAC1CB-4244-4B65-AC2B-29549E20C9DF}"/>
              </a:ext>
            </a:extLst>
          </p:cNvPr>
          <p:cNvSpPr>
            <a:spLocks noGrp="1"/>
          </p:cNvSpPr>
          <p:nvPr/>
        </p:nvSpPr>
        <p:spPr>
          <a:xfrm>
            <a:off x="1218750" y="40875000"/>
            <a:ext cx="13781250" cy="9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>
              <a:ext uri="{FF2B5EF4-FFF2-40B4-BE49-F238E27FC236}">
                <a16:creationId xmlns:a16="http://schemas.microsoft.com/office/drawing/2014/main" id="{7A2711DE-21EC-4C38-98DF-9E238832E811}"/>
              </a:ext>
            </a:extLst>
          </p:cNvPr>
          <p:cNvSpPr>
            <a:spLocks noGrp="1"/>
          </p:cNvSpPr>
          <p:nvPr/>
        </p:nvSpPr>
        <p:spPr>
          <a:xfrm>
            <a:off x="17156250" y="10218750"/>
            <a:ext cx="13781250" cy="169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>
              <a:ext uri="{FF2B5EF4-FFF2-40B4-BE49-F238E27FC236}">
                <a16:creationId xmlns:a16="http://schemas.microsoft.com/office/drawing/2014/main" id="{36FF45C6-3B90-48A2-9A40-E7768CF13501}"/>
              </a:ext>
            </a:extLst>
          </p:cNvPr>
          <p:cNvSpPr>
            <a:spLocks noGrp="1"/>
          </p:cNvSpPr>
          <p:nvPr/>
        </p:nvSpPr>
        <p:spPr>
          <a:xfrm>
            <a:off x="17296875" y="12375000"/>
            <a:ext cx="7265625" cy="196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>
              <a:ext uri="{FF2B5EF4-FFF2-40B4-BE49-F238E27FC236}">
                <a16:creationId xmlns:a16="http://schemas.microsoft.com/office/drawing/2014/main" id="{931D5D86-8E20-4E15-BBCD-362C98CCB4DC}"/>
              </a:ext>
            </a:extLst>
          </p:cNvPr>
          <p:cNvSpPr>
            <a:spLocks noGrp="1"/>
          </p:cNvSpPr>
          <p:nvPr/>
        </p:nvSpPr>
        <p:spPr>
          <a:xfrm>
            <a:off x="25218750" y="12703125"/>
            <a:ext cx="5578125" cy="13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>
              <a:ext uri="{FF2B5EF4-FFF2-40B4-BE49-F238E27FC236}">
                <a16:creationId xmlns:a16="http://schemas.microsoft.com/office/drawing/2014/main" id="{21DAD847-4BF8-443F-9753-19F0CE3D492F}"/>
              </a:ext>
            </a:extLst>
          </p:cNvPr>
          <p:cNvSpPr>
            <a:spLocks noGrp="1"/>
          </p:cNvSpPr>
          <p:nvPr/>
        </p:nvSpPr>
        <p:spPr>
          <a:xfrm>
            <a:off x="17296875" y="14390625"/>
            <a:ext cx="13593750" cy="80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="17062500" y="15750000"/>
          <a:ext cx="14156250" cy="690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26" name="fig2_caption">
            <a:extLst>
              <a:ext uri="{FF2B5EF4-FFF2-40B4-BE49-F238E27FC236}">
                <a16:creationId xmlns:a16="http://schemas.microsoft.com/office/drawing/2014/main" id="{ADACD4D2-8337-4240-B9C4-F938B58C4DED}"/>
              </a:ext>
            </a:extLst>
          </p:cNvPr>
          <p:cNvSpPr>
            <a:spLocks noGrp="1"/>
          </p:cNvSpPr>
          <p:nvPr/>
        </p:nvSpPr>
        <p:spPr>
          <a:xfrm>
            <a:off x="17156250" y="22968750"/>
            <a:ext cx="13781250" cy="92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>
              <a:ext uri="{FF2B5EF4-FFF2-40B4-BE49-F238E27FC236}">
                <a16:creationId xmlns:a16="http://schemas.microsoft.com/office/drawing/2014/main" id="{490BAA31-73E4-4218-9780-A576C391F8CD}"/>
              </a:ext>
            </a:extLst>
          </p:cNvPr>
          <p:cNvSpPr>
            <a:spLocks noGrp="1"/>
          </p:cNvSpPr>
          <p:nvPr/>
        </p:nvSpPr>
        <p:spPr>
          <a:xfrm>
            <a:off x="17156250" y="24281250"/>
            <a:ext cx="13781250" cy="17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>
              <a:ext uri="{FF2B5EF4-FFF2-40B4-BE49-F238E27FC236}">
                <a16:creationId xmlns:a16="http://schemas.microsoft.com/office/drawing/2014/main" id="{CA8E918A-E4F8-4FB1-B16C-F216E46D4ECA}"/>
              </a:ext>
            </a:extLst>
          </p:cNvPr>
          <p:cNvSpPr>
            <a:spLocks noGrp="1"/>
          </p:cNvSpPr>
          <p:nvPr/>
        </p:nvSpPr>
        <p:spPr>
          <a:xfrm>
            <a:off x="17156250" y="26343750"/>
            <a:ext cx="137812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表格 3176"/>
          <p:cNvGraphicFramePr/>
          <p:nvPr/>
        </p:nvGraphicFramePr>
        <p:xfrm>
          <a:off x="17156250" y="27187500"/>
          <a:ext cx="13781250" cy="4575000"/>
        </p:xfrm>
        <a:graphic>
          <a:graphicData uri="http://schemas.openxmlformats.org/drawingml/2006/table">
            <a:tbl>
              <a:tblPr/>
              <a:tblGrid>
                <a:gridCol w="403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50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50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50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50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50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50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30" name="table2_note">
            <a:extLst>
              <a:ext uri="{FF2B5EF4-FFF2-40B4-BE49-F238E27FC236}">
                <a16:creationId xmlns:a16="http://schemas.microsoft.com/office/drawing/2014/main" id="{12ADB3C5-0CA1-4D6F-A0D7-F02294777726}"/>
              </a:ext>
            </a:extLst>
          </p:cNvPr>
          <p:cNvSpPr>
            <a:spLocks noGrp="1"/>
          </p:cNvSpPr>
          <p:nvPr/>
        </p:nvSpPr>
        <p:spPr>
          <a:xfrm>
            <a:off x="17156250" y="31875000"/>
            <a:ext cx="13781250" cy="57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>
              <a:ext uri="{FF2B5EF4-FFF2-40B4-BE49-F238E27FC236}">
                <a16:creationId xmlns:a16="http://schemas.microsoft.com/office/drawing/2014/main" id="{7F54716A-6D74-493F-89A3-6B9266547119}"/>
              </a:ext>
            </a:extLst>
          </p:cNvPr>
          <p:cNvSpPr>
            <a:spLocks noGrp="1"/>
          </p:cNvSpPr>
          <p:nvPr/>
        </p:nvSpPr>
        <p:spPr>
          <a:xfrm>
            <a:off x="17156250" y="34125000"/>
            <a:ext cx="13781250" cy="29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>
            <a:endParaRPr sz="30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>
              <a:ext uri="{FF2B5EF4-FFF2-40B4-BE49-F238E27FC236}">
                <a16:creationId xmlns:a16="http://schemas.microsoft.com/office/drawing/2014/main" id="{0008560F-F5F6-4752-8477-84BE6BBF54A7}"/>
              </a:ext>
            </a:extLst>
          </p:cNvPr>
          <p:cNvSpPr>
            <a:spLocks noGrp="1"/>
          </p:cNvSpPr>
          <p:nvPr/>
        </p:nvSpPr>
        <p:spPr>
          <a:xfrm>
            <a:off x="17156250" y="39000000"/>
            <a:ext cx="13687500" cy="26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66960900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</Words>
  <Application>Microsoft Office PowerPoint</Application>
  <DocSecurity>0</DocSecurity>
  <PresentationFormat>自訂</PresentationFormat>
  <Paragraphs>110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彥諠 江</cp:lastModifiedBy>
  <cp:revision>1</cp:revision>
  <dcterms:created xsi:type="dcterms:W3CDTF">2026-09-29T17:05:56Z</dcterms:created>
  <dcterms:modified xsi:type="dcterms:W3CDTF">2026-09-29T17:08:19Z</dcterms:modified>
</cp:coreProperties>
</file>