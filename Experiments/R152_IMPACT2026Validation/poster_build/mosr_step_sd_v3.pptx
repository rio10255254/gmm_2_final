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ecd32ecb6a4e8e" /><Relationship Type="http://schemas.openxmlformats.org/officeDocument/2006/relationships/extended-properties" Target="/docProps/app.xml" Id="Rd9e35b513360436f" /><Relationship Type="http://schemas.openxmlformats.org/officeDocument/2006/relationships/officeDocument" Target="/ppt/presentation.xml" Id="R556a561ea77741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7408e3b77f43fb"/>
  </p:sldMasterIdLst>
  <p:notesMasterIdLst>
    <p:notesMasterId xmlns:r="http://schemas.openxmlformats.org/officeDocument/2006/relationships" r:id="Rca2157618fce43af"/>
  </p:notesMasterIdLst>
  <p:sldIdLst>
    <p:sldId xmlns:r="http://schemas.openxmlformats.org/officeDocument/2006/relationships" id="256" r:id="Ra43f8555ce7c487a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239f365605422d" /><Relationship Type="http://schemas.openxmlformats.org/officeDocument/2006/relationships/slideMaster" Target="/ppt/slideMasters/slideMaster1.xml" Id="Rf77408e3b77f43fb" /><Relationship Type="http://schemas.openxmlformats.org/officeDocument/2006/relationships/notesMaster" Target="/ppt/notesMasters/notesMaster1.xml" Id="Rca2157618fce43af" /><Relationship Type="http://schemas.openxmlformats.org/officeDocument/2006/relationships/presProps" Target="/ppt/presProps.xml" Id="R587ad3f4bba44783" /><Relationship Type="http://schemas.openxmlformats.org/officeDocument/2006/relationships/viewProps" Target="/ppt/viewProps.xml" Id="Rd2e584fde7d8427f" /><Relationship Type="http://schemas.openxmlformats.org/officeDocument/2006/relationships/tableStyles" Target="/ppt/tableStyles.xml" Id="Re554ab8312ec44a6" /><Relationship Type="http://schemas.openxmlformats.org/officeDocument/2006/relationships/slide" Target="/ppt/slides/slide1.xml" Id="Ra43f8555ce7c48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b31648576448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52efa3c95144d4" /><Relationship Type="http://schemas.openxmlformats.org/officeDocument/2006/relationships/notesMaster" Target="/ppt/notesMasters/notesMaster1.xml" Id="Rcedf77e6d47342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Public model name: MOSR. Internal provenance maps to the fixed R152 delivery checkpoint in the experiment record.</a:t>
            </a:r>
            <a:endParaRPr/>
          </a:p>
          <a:p xmlns:a="http://schemas.openxmlformats.org/drawingml/2006/main">
            <a:pPr>
              <a:buNone/>
            </a:pPr>
            <a:r>
              <a:t>User selected the original four-condition dataset with 30 single steps per condition; the separate 30-repeat-scan dataset is not part of this poster.</a:t>
            </a:r>
            <a:endParaRPr/>
          </a:p>
          <a:p xmlns:a="http://schemas.openxmlformats.org/drawingml/2006/main">
            <a:pPr>
              <a:buNone/>
            </a:pPr>
            <a:r>
              <a:t>Source summary: C:\Users\Rio\.codex\worktrees\impact-r152\GMM_2_Final\Experiments\R152_IMPACT2026Validation\results\localization_improvement\improved_summary.csv</a:t>
            </a:r>
            <a:endParaRPr/>
          </a:p>
          <a:p xmlns:a="http://schemas.openxmlformats.org/drawingml/2006/main">
            <a:pPr>
              <a:buNone/>
            </a:pPr>
            <a:r>
              <a:t>Source pair data: C:\Users\Rio\.codex\worktrees\impact-r152\GMM_2_Final\Experiments\R152_IMPACT2026Validation\results\localization_improvement\improved_pairs.csv</a:t>
            </a:r>
            <a:endParaRPr/>
          </a:p>
          <a:p xmlns:a="http://schemas.openxmlformats.org/drawingml/2006/main">
            <a:pPr>
              <a:buNone/>
            </a:pPr>
            <a:r>
              <a:t>Primary quantity: one sample SD (ddof=1) of 30 image-measured single-step displacements per condition. The four SDs are averaged arithmetically. Percentage reduction of the mean uses the ratio of those means.</a:t>
            </a:r>
            <a:endParaRPr/>
          </a:p>
          <a:p xmlns:a="http://schemas.openxmlformats.org/drawingml/2006/main">
            <a:pPr>
              <a:buNone/>
            </a:pPr>
            <a:r>
              <a:t>Images are the first locked 0.5 µm frame at each objective. Common crop and grayscale mapping; exact image paths remain in the source inspection manifest.</a:t>
            </a:r>
            <a:endParaRPr/>
          </a:p>
          <a:p xmlns:a="http://schemas.openxmlformats.org/drawingml/2006/main">
            <a:pPr>
              <a:buNone/>
            </a:pPr>
            <a:r>
              <a:t>Chart style follows the submitted manuscript: Times New Roman chart text, monochrome patterns, explicit native-pixel scales, zero-baseline axes, and manuscript-style captions and table rules.</a:t>
            </a:r>
            <a:endParaRPr/>
          </a:p>
          <a:p xmlns:a="http://schemas.openxmlformats.org/drawingml/2006/main">
            <a:pPr>
              <a:buNone/>
            </a:pPr>
            <a:r>
              <a:t>Template: C:/Users/Rio/OneDrive/學業/碩班/論文/投稿/IMPACT2026/4. Poster_Sample_2026 (2).pptx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a5c31ec3c44a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5a5a2a047949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05b9770f245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9dda2aba4541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379d62e7bb45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637cadae76400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25cc092c7d420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7bf88384cf438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1e93d69bcc429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4dcf7bbdf9447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21e8b0983845cc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559DD31-7CF8-4560-9664-4ABFC74A94D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6AEE6FAD-D6A9-428E-A95E-235005415A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5E4FFC6-A47A-4BE9-A33E-425D99E499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670C1762-7558-4242-B6FC-749BDAEDDA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C9A560C-BCA6-4D0F-9ED7-24DFF6C115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2D038BDC-AB51-4792-B7E3-11E2DF3E77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66755AB-6560-42D2-88DD-118F903DDA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1096E8FE-DF5D-4514-915F-90E5F8F1D94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B738C9EA-7518-4B2C-8F88-35AC3E4759B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0328329F-220A-47C4-8C28-9DBAC1CB23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6DE3B0CB-32E8-40D6-949D-B2C0C6577F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2F9D40A8-203B-4D38-8C68-F194E485FD7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CEF867B3-F7F1-4F7F-B9A5-49431202707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9B937602-1959-448C-A85B-B6A82EE1DB2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01B3B3A-79AB-4811-B1FA-297B0AB95C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61B8F5B-03B8-4C8C-860E-297666FD27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DC7C5399-B3FA-4D19-AB38-25F3D7060E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A797DC00-6661-4287-BEF9-0826BBAEE5C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985F0C4D-5CFF-46DC-9703-794183AA5B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91CCF673-AD64-4E1A-9DA3-65B8FECFDD0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3F9CB409-0030-4DAA-88C9-E027750654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7E177FC-ECAF-4848-AB73-6A4BB41E43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13B5C6B5-E34C-4ECA-A038-3CA407E9E2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72ADCB2D-2E57-4238-9331-96A03FA2B6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58250889-23A6-4E64-869A-BF02293DAB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3e0a4733464a2c" /><Relationship Type="http://schemas.openxmlformats.org/officeDocument/2006/relationships/slideLayout" Target="/ppt/slideLayouts/slideLayout1.xml" Id="Rfad57210c3c849a7" /><Relationship Type="http://schemas.openxmlformats.org/officeDocument/2006/relationships/slideLayout" Target="/ppt/slideLayouts/slideLayout2.xml" Id="Ree960db0cc494c8b" /><Relationship Type="http://schemas.openxmlformats.org/officeDocument/2006/relationships/slideLayout" Target="/ppt/slideLayouts/slideLayout3.xml" Id="R0f578c4e26404683" /><Relationship Type="http://schemas.openxmlformats.org/officeDocument/2006/relationships/slideLayout" Target="/ppt/slideLayouts/slideLayout4.xml" Id="R24225cc3cffd4682" /><Relationship Type="http://schemas.openxmlformats.org/officeDocument/2006/relationships/slideLayout" Target="/ppt/slideLayouts/slideLayout5.xml" Id="R1353a740dea04703" /><Relationship Type="http://schemas.openxmlformats.org/officeDocument/2006/relationships/slideLayout" Target="/ppt/slideLayouts/slideLayout6.xml" Id="R074b96dbd7844d64" /><Relationship Type="http://schemas.openxmlformats.org/officeDocument/2006/relationships/slideLayout" Target="/ppt/slideLayouts/slideLayout7.xml" Id="R88960d4d6b7b42af" /><Relationship Type="http://schemas.openxmlformats.org/officeDocument/2006/relationships/slideLayout" Target="/ppt/slideLayouts/slideLayout8.xml" Id="R57af493e339847b8" /><Relationship Type="http://schemas.openxmlformats.org/officeDocument/2006/relationships/slideLayout" Target="/ppt/slideLayouts/slideLayout9.xml" Id="Rdc48921e7d674be3" /><Relationship Type="http://schemas.openxmlformats.org/officeDocument/2006/relationships/slideLayout" Target="/ppt/slideLayouts/slideLayout10.xml" Id="R24963598a6c84aa5" /><Relationship Type="http://schemas.openxmlformats.org/officeDocument/2006/relationships/slideLayout" Target="/ppt/slideLayouts/slideLayout11.xml" Id="R763ea0060a0748a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d57210c3c849a7"/>
    <p:sldLayoutId xmlns:r="http://schemas.openxmlformats.org/officeDocument/2006/relationships" id="2147483650" r:id="Ree960db0cc494c8b"/>
    <p:sldLayoutId xmlns:r="http://schemas.openxmlformats.org/officeDocument/2006/relationships" id="2147483651" r:id="R0f578c4e26404683"/>
    <p:sldLayoutId xmlns:r="http://schemas.openxmlformats.org/officeDocument/2006/relationships" id="2147483652" r:id="R24225cc3cffd4682"/>
    <p:sldLayoutId xmlns:r="http://schemas.openxmlformats.org/officeDocument/2006/relationships" id="2147483653" r:id="R1353a740dea04703"/>
    <p:sldLayoutId xmlns:r="http://schemas.openxmlformats.org/officeDocument/2006/relationships" id="2147483654" r:id="R074b96dbd7844d64"/>
    <p:sldLayoutId xmlns:r="http://schemas.openxmlformats.org/officeDocument/2006/relationships" id="2147483655" r:id="R88960d4d6b7b42af"/>
    <p:sldLayoutId xmlns:r="http://schemas.openxmlformats.org/officeDocument/2006/relationships" id="2147483656" r:id="R57af493e339847b8"/>
    <p:sldLayoutId xmlns:r="http://schemas.openxmlformats.org/officeDocument/2006/relationships" id="2147483657" r:id="Rdc48921e7d674be3"/>
    <p:sldLayoutId xmlns:r="http://schemas.openxmlformats.org/officeDocument/2006/relationships" id="2147483658" r:id="R24963598a6c84aa5"/>
    <p:sldLayoutId xmlns:r="http://schemas.openxmlformats.org/officeDocument/2006/relationships" id="2147483659" r:id="R763ea0060a0748ac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facf797634b04" /><Relationship Type="http://schemas.openxmlformats.org/officeDocument/2006/relationships/image" Target="/ppt/media/image.jpeg" Id="R476bcc4d28c243c1" /><Relationship Type="http://schemas.openxmlformats.org/officeDocument/2006/relationships/image" Target="/ppt/media/image.png" Id="Rb8a14e2184b141b1" /><Relationship Type="http://schemas.openxmlformats.org/officeDocument/2006/relationships/image" Target="/ppt/media/image2.png" Id="Rc4b547b8d54240f4" /><Relationship Type="http://schemas.openxmlformats.org/officeDocument/2006/relationships/image" Target="/ppt/media/image3.png" Id="Rd3e61d7c022e447d" /><Relationship Type="http://schemas.openxmlformats.org/officeDocument/2006/relationships/image" Target="/ppt/media/image4.png" Id="R330902e1ebbb4ad6" /><Relationship Type="http://schemas.openxmlformats.org/officeDocument/2006/relationships/chart" Target="/ppt/slides/charts/chart1.xml" Id="Rbc73e1826afe4202" /><Relationship Type="http://schemas.openxmlformats.org/officeDocument/2006/relationships/notesSlide" Target="/ppt/notesSlides/notesSlide1.xml" Id="Refab6d07764c4be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</c:v>
          </c:tx>
          <c:spPr>
            <a:pattFill xmlns:a="http://schemas.openxmlformats.org/drawingml/2006/main" prst="pct5">
              <a:fgClr>
                <a:srgbClr val="111111"/>
              </a:fgClr>
              <a:bgClr>
                <a:srgbClr val="D8D8D8"/>
              </a:bgClr>
            </a:pattFill>
            <a:ln xmlns:a="http://schemas.openxmlformats.org/drawingml/2006/main" w="9525">
              <a:solidFill>
                <a:srgbClr val="111111"/>
              </a:solidFill>
            </a:ln>
          </c:spPr>
          <c:cat>
            <c:strLit>
              <c:ptCount val="4"/>
              <c:pt idx="0">
                <c:v>50× / 0.5</c:v>
              </c:pt>
              <c:pt idx="1">
                <c:v>50× / 1.0</c:v>
              </c:pt>
              <c:pt idx="2">
                <c:v>20× / 0.5</c:v>
              </c:pt>
              <c:pt idx="3">
                <c:v>20× / 1.0</c:v>
              </c:pt>
            </c:strLit>
          </c:cat>
          <c:val>
            <c:numLit>
              <c:formatCode>0.00</c:formatCode>
              <c:ptCount val="4"/>
              <c:pt idx="0">
                <c:v>5.237896</c:v>
              </c:pt>
              <c:pt idx="1">
                <c:v>5.430076</c:v>
              </c:pt>
              <c:pt idx="2">
                <c:v>14.162182</c:v>
              </c:pt>
              <c:pt idx="3">
                <c:v>10.527768</c:v>
              </c:pt>
            </c:numLit>
          </c:val>
        </c:ser>
        <c:ser>
          <c:idx val="1"/>
          <c:order val="1"/>
          <c:tx>
            <c:v>Wiener</c:v>
          </c:tx>
          <c:spPr>
            <a:pattFill xmlns:a="http://schemas.openxmlformats.org/drawingml/2006/main" prst="upDiag">
              <a:fgClr>
                <a:srgbClr val="111111"/>
              </a:fgClr>
              <a:bgClr>
                <a:srgbClr val="AFAFAF"/>
              </a:bgClr>
            </a:pattFill>
            <a:ln xmlns:a="http://schemas.openxmlformats.org/drawingml/2006/main" w="9525">
              <a:solidFill>
                <a:srgbClr val="111111"/>
              </a:solidFill>
            </a:ln>
          </c:spPr>
          <c:cat>
            <c:strLit>
              <c:ptCount val="4"/>
              <c:pt idx="0">
                <c:v>50× / 0.5</c:v>
              </c:pt>
              <c:pt idx="1">
                <c:v>50× / 1.0</c:v>
              </c:pt>
              <c:pt idx="2">
                <c:v>20× / 0.5</c:v>
              </c:pt>
              <c:pt idx="3">
                <c:v>20× / 1.0</c:v>
              </c:pt>
            </c:strLit>
          </c:cat>
          <c:val>
            <c:numLit>
              <c:formatCode>0.00</c:formatCode>
              <c:ptCount val="4"/>
              <c:pt idx="0">
                <c:v>4.907045</c:v>
              </c:pt>
              <c:pt idx="1">
                <c:v>4.589671</c:v>
              </c:pt>
              <c:pt idx="2">
                <c:v>11.076843</c:v>
              </c:pt>
              <c:pt idx="3">
                <c:v>11.006544</c:v>
              </c:pt>
            </c:numLit>
          </c:val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81818"/>
            </a:solidFill>
            <a:ln xmlns:a="http://schemas.openxmlformats.org/drawingml/2006/main" w="9525">
              <a:solidFill>
                <a:srgbClr val="111111"/>
              </a:solidFill>
            </a:ln>
          </c:spPr>
          <c:cat>
            <c:strLit>
              <c:ptCount val="4"/>
              <c:pt idx="0">
                <c:v>50× / 0.5</c:v>
              </c:pt>
              <c:pt idx="1">
                <c:v>50× / 1.0</c:v>
              </c:pt>
              <c:pt idx="2">
                <c:v>20× / 0.5</c:v>
              </c:pt>
              <c:pt idx="3">
                <c:v>20× / 1.0</c:v>
              </c:pt>
            </c:strLit>
          </c:cat>
          <c:val>
            <c:numLit>
              <c:formatCode>0.00</c:formatCode>
              <c:ptCount val="4"/>
              <c:pt idx="0">
                <c:v>4.722652</c:v>
              </c:pt>
              <c:pt idx="1">
                <c:v>4.547155</c:v>
              </c:pt>
              <c:pt idx="2">
                <c:v>10.754313</c:v>
              </c:pt>
              <c:pt idx="3">
                <c:v>8.429192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75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Objective / nominal step (µm)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325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SD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325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325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724BF409-B2F5-4939-A3E3-7795B028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750" y="80375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B8029BDC-89A4-48BE-A3E8-9EED54E2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00" y="80000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31083193-87F8-45E9-8C26-20C79830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96343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F71CC122-AAE8-4E5D-B696-AE56F919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325781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569D8FAE-D8D6-4145-951F-6346CDCE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0" y="500000"/>
            <a:ext cx="31387500" cy="6900000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1F6FBF2C-19F7-424E-AE80-2D489435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41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14193CF9-7F87-44DD-AD12-4EB6C411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7875000"/>
            <a:ext cx="13687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DFB42E7C-D979-4DBC-BD1D-380807F9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A118DFF6-BB7B-4667-813A-BEA7005A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A4F6C2F7-B374-4A1B-82E9-EF29970A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000" y="1846875"/>
            <a:ext cx="328125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3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bcc4d28c243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625" y="857813"/>
            <a:ext cx="2512500" cy="84375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096" name="authors">
            <a:extLst xmlns:a="http://schemas.openxmlformats.org/drawingml/2006/main">
              <a:ext uri="{FF2B5EF4-FFF2-40B4-BE49-F238E27FC236}">
                <a16:creationId xmlns:a16="http://schemas.microsoft.com/office/drawing/2014/main" id="{029EDDAF-81B4-4B5E-9915-AC451D1C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 xmlns:a="http://schemas.openxmlformats.org/drawingml/2006/main">
              <a:ext uri="{FF2B5EF4-FFF2-40B4-BE49-F238E27FC236}">
                <a16:creationId xmlns:a16="http://schemas.microsoft.com/office/drawing/2014/main" id="{6F70C542-325A-4D88-BE30-7D210E6B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 xmlns:a="http://schemas.openxmlformats.org/drawingml/2006/main">
              <a:ext uri="{FF2B5EF4-FFF2-40B4-BE49-F238E27FC236}">
                <a16:creationId xmlns:a16="http://schemas.microsoft.com/office/drawing/2014/main" id="{D75BB6F1-34CA-492E-A303-94AAD214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 xmlns:a="http://schemas.openxmlformats.org/drawingml/2006/main">
              <a:ext uri="{FF2B5EF4-FFF2-40B4-BE49-F238E27FC236}">
                <a16:creationId xmlns:a16="http://schemas.microsoft.com/office/drawing/2014/main" id="{AF390069-4F2B-4BBC-97EB-01633FA0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40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Optical inspection benefits from reconstruction when clearer boundaries produce more stable position measurements. Changing magnification changes object-space sampling and the pixel phase of the same motion. Single-step displacement dispersion therefore provides a direct test of measurement utility.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reconstructs each monochrome image on its original pixel grid. One fixed set of learned weights serves 20× and 50× objectives. Raw, fixed Wiener and MOSR use the same image pairs and pillar identities.</a:t>
            </a:r>
          </a:p>
        </p:txBody>
      </p:sp>
      <p:sp>
        <p:nvSpPr>
          <p:cNvPr id="3100" name="raw_label">
            <a:extLst xmlns:a="http://schemas.openxmlformats.org/drawingml/2006/main">
              <a:ext uri="{FF2B5EF4-FFF2-40B4-BE49-F238E27FC236}">
                <a16:creationId xmlns:a16="http://schemas.microsoft.com/office/drawing/2014/main" id="{185BB621-519F-403A-ACF8-69C99D76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75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1" name="mosr_label">
            <a:extLst xmlns:a="http://schemas.openxmlformats.org/drawingml/2006/main">
              <a:ext uri="{FF2B5EF4-FFF2-40B4-BE49-F238E27FC236}">
                <a16:creationId xmlns:a16="http://schemas.microsoft.com/office/drawing/2014/main" id="{5DBD551C-E9FE-464B-9F38-418046A5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500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02" name="mag-20×">
            <a:extLst xmlns:a="http://schemas.openxmlformats.org/drawingml/2006/main">
              <a:ext uri="{FF2B5EF4-FFF2-40B4-BE49-F238E27FC236}">
                <a16:creationId xmlns:a16="http://schemas.microsoft.com/office/drawing/2014/main" id="{71010555-7BBD-4B49-A550-5DBC351D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500000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14e2184b141b1"/>
          <a:stretch xmlns:a="http://schemas.openxmlformats.org/drawingml/2006/main"/>
        </p:blipFill>
        <p:spPr>
          <a:xfrm xmlns:a="http://schemas.openxmlformats.org/drawingml/2006/main">
            <a:off x="1546875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4" name="scale-20×-Raw">
            <a:extLst xmlns:a="http://schemas.openxmlformats.org/drawingml/2006/main">
              <a:ext uri="{FF2B5EF4-FFF2-40B4-BE49-F238E27FC236}">
                <a16:creationId xmlns:a16="http://schemas.microsoft.com/office/drawing/2014/main" id="{67B43C2D-D5EF-454A-9832-F66ED5C8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792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5" name="scale-label-20×-Raw">
            <a:extLst xmlns:a="http://schemas.openxmlformats.org/drawingml/2006/main">
              <a:ext uri="{FF2B5EF4-FFF2-40B4-BE49-F238E27FC236}">
                <a16:creationId xmlns:a16="http://schemas.microsoft.com/office/drawing/2014/main" id="{C11BC64A-E6E2-4BEB-84C7-0A56A135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292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547b8d54240f4"/>
          <a:stretch xmlns:a="http://schemas.openxmlformats.org/drawingml/2006/main"/>
        </p:blipFill>
        <p:spPr>
          <a:xfrm xmlns:a="http://schemas.openxmlformats.org/drawingml/2006/main">
            <a:off x="8812500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7" name="scale-20×-R152">
            <a:extLst xmlns:a="http://schemas.openxmlformats.org/drawingml/2006/main">
              <a:ext uri="{FF2B5EF4-FFF2-40B4-BE49-F238E27FC236}">
                <a16:creationId xmlns:a16="http://schemas.microsoft.com/office/drawing/2014/main" id="{B8960C5F-CA79-4C59-8149-54453335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417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08" name="scale-label-20×-R152">
            <a:extLst xmlns:a="http://schemas.openxmlformats.org/drawingml/2006/main">
              <a:ext uri="{FF2B5EF4-FFF2-40B4-BE49-F238E27FC236}">
                <a16:creationId xmlns:a16="http://schemas.microsoft.com/office/drawing/2014/main" id="{236B976F-D352-43DC-A2ED-6796AF32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917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09" name="mag-50×">
            <a:extLst xmlns:a="http://schemas.openxmlformats.org/drawingml/2006/main">
              <a:ext uri="{FF2B5EF4-FFF2-40B4-BE49-F238E27FC236}">
                <a16:creationId xmlns:a16="http://schemas.microsoft.com/office/drawing/2014/main" id="{3F7CBF59-71FC-47AF-A419-08ECDA86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184375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61d7c022e447d"/>
          <a:stretch xmlns:a="http://schemas.openxmlformats.org/drawingml/2006/main"/>
        </p:blipFill>
        <p:spPr>
          <a:xfrm xmlns:a="http://schemas.openxmlformats.org/drawingml/2006/main">
            <a:off x="1546875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1" name="scale-50×-Raw">
            <a:extLst xmlns:a="http://schemas.openxmlformats.org/drawingml/2006/main">
              <a:ext uri="{FF2B5EF4-FFF2-40B4-BE49-F238E27FC236}">
                <a16:creationId xmlns:a16="http://schemas.microsoft.com/office/drawing/2014/main" id="{1949B10C-DBF0-4073-991E-7DE52A13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199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2" name="scale-label-50×-Raw">
            <a:extLst xmlns:a="http://schemas.openxmlformats.org/drawingml/2006/main">
              <a:ext uri="{FF2B5EF4-FFF2-40B4-BE49-F238E27FC236}">
                <a16:creationId xmlns:a16="http://schemas.microsoft.com/office/drawing/2014/main" id="{B4D0E922-4AFA-4943-8B3B-1EF14B98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699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902e1ebbb4ad6"/>
          <a:stretch xmlns:a="http://schemas.openxmlformats.org/drawingml/2006/main"/>
        </p:blipFill>
        <p:spPr>
          <a:xfrm xmlns:a="http://schemas.openxmlformats.org/drawingml/2006/main">
            <a:off x="8812500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4" name="scale-50×-R152">
            <a:extLst xmlns:a="http://schemas.openxmlformats.org/drawingml/2006/main">
              <a:ext uri="{FF2B5EF4-FFF2-40B4-BE49-F238E27FC236}">
                <a16:creationId xmlns:a16="http://schemas.microsoft.com/office/drawing/2014/main" id="{F57FFA05-AB4B-4416-9D09-909BA0EB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2824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15" name="scale-label-50×-R152">
            <a:extLst xmlns:a="http://schemas.openxmlformats.org/drawingml/2006/main">
              <a:ext uri="{FF2B5EF4-FFF2-40B4-BE49-F238E27FC236}">
                <a16:creationId xmlns:a16="http://schemas.microsoft.com/office/drawing/2014/main" id="{16F3F13C-CC4D-4195-BD51-8BD24CAF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324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6" name="fig1_caption">
            <a:extLst xmlns:a="http://schemas.openxmlformats.org/drawingml/2006/main">
              <a:ext uri="{FF2B5EF4-FFF2-40B4-BE49-F238E27FC236}">
                <a16:creationId xmlns:a16="http://schemas.microsoft.com/office/drawing/2014/main" id="{7125EDB1-DE99-40DC-8B7E-6A425649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8687500"/>
            <a:ext cx="1387500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Native-grid Raw and MOSR pillar fields at 20× and 50×. The common display range preserves direct visual comparison. Scale bars: 2 µm.</a:t>
            </a:r>
          </a:p>
        </p:txBody>
      </p:sp>
      <p:sp>
        <p:nvSpPr>
          <p:cNvPr id="3117" name="methods_body">
            <a:extLst xmlns:a="http://schemas.openxmlformats.org/drawingml/2006/main">
              <a:ext uri="{FF2B5EF4-FFF2-40B4-BE49-F238E27FC236}">
                <a16:creationId xmlns:a16="http://schemas.microsoft.com/office/drawing/2014/main" id="{7B7F149D-852B-4529-9F5F-D0D99BAB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406250"/>
            <a:ext cx="13875000" cy="47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Reconstruction. MOSR combines U-Net context [1], anti-aliasing [2] and bounded PSF-guided correction. Optical inputs comprise 25 measured kernels at 20× and one calibrated kernel at 50×.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Localization. Coarse contours [3] initialize geometric least-squares circle (LSC) centers [4]. Each pillar uses 720 uniform radial directions, 0.05-pixel profile sampling and three center updates.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Displacement. Each pair yields nine horizontal pillar-center shifts. Their median, converted to object space and taken in absolute value, defines one single-step displacement. All three image methods use the same procedure.</a:t>
            </a:r>
          </a:p>
        </p:txBody>
      </p:sp>
      <p:sp>
        <p:nvSpPr>
          <p:cNvPr id="3118" name="table1_caption">
            <a:extLst xmlns:a="http://schemas.openxmlformats.org/drawingml/2006/main">
              <a:ext uri="{FF2B5EF4-FFF2-40B4-BE49-F238E27FC236}">
                <a16:creationId xmlns:a16="http://schemas.microsoft.com/office/drawing/2014/main" id="{3BB346C9-BC07-483F-8E60-A7A1516F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6328125"/>
            <a:ext cx="1378125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FIXED ACQUISITION CONDITIONS</a:t>
            </a:r>
          </a:p>
        </p:txBody>
      </p:sp>
      <p:graphicFrame>
        <p:nvGraphicFramePr>
          <p:cNvPr id="3167" name=""/>
          <p:cNvGraphicFramePr/>
          <p:nvPr/>
        </p:nvGraphicFramePr>
        <p:xfrm>
          <a:off xmlns:a="http://schemas.openxmlformats.org/drawingml/2006/main" x="1218750" y="37125000"/>
          <a:ext xmlns:a="http://schemas.openxmlformats.org/drawingml/2006/main" cx="13781250" cy="345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6250"/>
                <a:gridCol w="3468750"/>
                <a:gridCol w="2812500"/>
                <a:gridCol w="3843750"/>
              </a:tblGrid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91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7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0" name="statistics_definition">
            <a:extLst xmlns:a="http://schemas.openxmlformats.org/drawingml/2006/main">
              <a:ext uri="{FF2B5EF4-FFF2-40B4-BE49-F238E27FC236}">
                <a16:creationId xmlns:a16="http://schemas.microsoft.com/office/drawing/2014/main" id="{3E3A97C2-4151-4F6F-A16A-B03ABAEA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40875000"/>
            <a:ext cx="13781250" cy="9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Within each condition, Step SD is the sample standard deviation of its 30 single-step displacements (denominator 29). The reported mean is the arithmetic mean of the four condition-level SDs.</a:t>
            </a:r>
          </a:p>
        </p:txBody>
      </p:sp>
      <p:sp>
        <p:nvSpPr>
          <p:cNvPr id="3121" name="results_intro">
            <a:extLst xmlns:a="http://schemas.openxmlformats.org/drawingml/2006/main">
              <a:ext uri="{FF2B5EF4-FFF2-40B4-BE49-F238E27FC236}">
                <a16:creationId xmlns:a16="http://schemas.microsoft.com/office/drawing/2014/main" id="{1A558C34-0CA6-4DF0-BD0F-B71FD2F6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0218750"/>
            <a:ext cx="13781250" cy="169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Each condition contributes one Step SD from 30 measured single steps. MOSR yields the lowest Step SD in all four conditions, directly linking reconstruction to reduced step-to-step dispersion.</a:t>
            </a:r>
          </a:p>
        </p:txBody>
      </p:sp>
      <p:sp>
        <p:nvSpPr>
          <p:cNvPr id="3122" name="primary_gain">
            <a:extLst xmlns:a="http://schemas.openxmlformats.org/drawingml/2006/main">
              <a:ext uri="{FF2B5EF4-FFF2-40B4-BE49-F238E27FC236}">
                <a16:creationId xmlns:a16="http://schemas.microsoft.com/office/drawing/2014/main" id="{AC768FB4-8994-4577-B5C0-ACAF7D6D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375000"/>
            <a:ext cx="7265625" cy="19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19.5%</a:t>
            </a:r>
          </a:p>
        </p:txBody>
      </p:sp>
      <p:sp>
        <p:nvSpPr>
          <p:cNvPr id="3123" name="primary_values">
            <a:extLst xmlns:a="http://schemas.openxmlformats.org/drawingml/2006/main">
              <a:ext uri="{FF2B5EF4-FFF2-40B4-BE49-F238E27FC236}">
                <a16:creationId xmlns:a16="http://schemas.microsoft.com/office/drawing/2014/main" id="{728F36DB-B17D-40EC-BE01-4B5F6017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8750" y="12703125"/>
            <a:ext cx="5578125" cy="13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8.84 nm  Raw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8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7.11 nm  MOSR</a:t>
            </a:r>
          </a:p>
        </p:txBody>
      </p:sp>
      <p:sp>
        <p:nvSpPr>
          <p:cNvPr id="3124" name="primary_gain_label">
            <a:extLst xmlns:a="http://schemas.openxmlformats.org/drawingml/2006/main">
              <a:ext uri="{FF2B5EF4-FFF2-40B4-BE49-F238E27FC236}">
                <a16:creationId xmlns:a16="http://schemas.microsoft.com/office/drawing/2014/main" id="{93BB0926-4AC5-4352-95F1-4CB8A6ED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4390625"/>
            <a:ext cx="13593750" cy="8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Reduction in the mean Step SD</a:t>
            </a:r>
          </a:p>
        </p:txBody>
      </p:sp>
      <p:graphicFrame>
        <p:nvGraphicFramePr>
          <p:cNvPr id="3173" name="Chart"/>
          <p:cNvGraphicFramePr/>
          <p:nvPr/>
        </p:nvGraphicFramePr>
        <p:xfrm>
          <a:off xmlns:a="http://schemas.openxmlformats.org/drawingml/2006/main" x="17062500" y="15750000"/>
          <a:ext xmlns:a="http://schemas.openxmlformats.org/drawingml/2006/main" cx="14156250" cy="690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73e1826afe4202"/>
          </a:graphicData>
        </a:graphic>
      </p:graphicFrame>
      <p:sp>
        <p:nvSpPr>
          <p:cNvPr id="3126" name="fig2_caption">
            <a:extLst xmlns:a="http://schemas.openxmlformats.org/drawingml/2006/main">
              <a:ext uri="{FF2B5EF4-FFF2-40B4-BE49-F238E27FC236}">
                <a16:creationId xmlns:a16="http://schemas.microsoft.com/office/drawing/2014/main" id="{E3249347-5C85-45B3-8F75-ED483B40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2968750"/>
            <a:ext cx="13781250" cy="92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Condition-level standard deviation of 30 single-step displacements. All methods use the same locked pairs and circle-center reader.</a:t>
            </a:r>
          </a:p>
        </p:txBody>
      </p:sp>
      <p:sp>
        <p:nvSpPr>
          <p:cNvPr id="3127" name="result_interpretation">
            <a:extLst xmlns:a="http://schemas.openxmlformats.org/drawingml/2006/main">
              <a:ext uri="{FF2B5EF4-FFF2-40B4-BE49-F238E27FC236}">
                <a16:creationId xmlns:a16="http://schemas.microsoft.com/office/drawing/2014/main" id="{039E22F1-CBAA-407F-8697-6DBBAE8F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4281250"/>
            <a:ext cx="13781250" cy="17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reduction relative to Raw spans 9.8–24.1% across the four conditions. The largest reduction occurs at 20× with 0.5 µm steps, where Step SD decreases from 14.16 to 10.75 nm. MOSR also improves both 50× conditions.</a:t>
            </a:r>
          </a:p>
        </p:txBody>
      </p:sp>
      <p:sp>
        <p:nvSpPr>
          <p:cNvPr id="3128" name="table2_caption">
            <a:extLst xmlns:a="http://schemas.openxmlformats.org/drawingml/2006/main">
              <a:ext uri="{FF2B5EF4-FFF2-40B4-BE49-F238E27FC236}">
                <a16:creationId xmlns:a16="http://schemas.microsoft.com/office/drawing/2014/main" id="{8DC10B0E-7835-46E7-96EA-81F5981B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6343750"/>
            <a:ext cx="137812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II. STEP SD AND RELATIVE REDUCTION</a:t>
            </a:r>
          </a:p>
        </p:txBody>
      </p:sp>
      <p:graphicFrame>
        <p:nvGraphicFramePr>
          <p:cNvPr id="3177" name=""/>
          <p:cNvGraphicFramePr/>
          <p:nvPr/>
        </p:nvGraphicFramePr>
        <p:xfrm>
          <a:off xmlns:a="http://schemas.openxmlformats.org/drawingml/2006/main" x="17156250" y="27187500"/>
          <a:ext xmlns:a="http://schemas.openxmlformats.org/drawingml/2006/main" cx="13781250" cy="457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31250"/>
                <a:gridCol w="2109375"/>
                <a:gridCol w="2343750"/>
                <a:gridCol w="2109375"/>
                <a:gridCol w="3187500"/>
              </a:tblGrid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Condition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MOSR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Reduction</a:t>
                      </a:r>
                    </a:p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vs Raw (%)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 / 0.5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5.24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4.91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4.72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9.8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 / 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5.43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4.59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16.3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 / 0.5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14.16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11.08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10.75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24.1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 / 1.0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10.53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11.01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8.43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19.9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6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8.84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7.11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19.5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30" name="table2_note">
            <a:extLst xmlns:a="http://schemas.openxmlformats.org/drawingml/2006/main">
              <a:ext uri="{FF2B5EF4-FFF2-40B4-BE49-F238E27FC236}">
                <a16:creationId xmlns:a16="http://schemas.microsoft.com/office/drawing/2014/main" id="{685C88A7-A951-4FC9-9875-431D6A03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1875000"/>
            <a:ext cx="13781250" cy="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Mean row: arithmetic mean of the four SDs. Reduction = (Raw − MOSR) / Raw.</a:t>
            </a:r>
          </a:p>
        </p:txBody>
      </p:sp>
      <p:sp>
        <p:nvSpPr>
          <p:cNvPr id="3131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8960058A-7C31-42BF-932A-7DD1E271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4125000"/>
            <a:ext cx="13781250" cy="29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lowers single-step dispersion in every tested condition, with reductions of 9.8–24.1% relative to Raw. The mean condition-level Step SD decreases by 19.5%.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set of reconstruction weights supports both objectives. Clearer pillar boundaries and lower displacement dispersion establish MOSR as a measurement-oriented reconstruction approach for cross-magnification optical inspection.</a:t>
            </a:r>
          </a:p>
        </p:txBody>
      </p:sp>
      <p:sp>
        <p:nvSpPr>
          <p:cNvPr id="3132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B7BFD18A-B4CF-4B5E-85E0-FC07C1DE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9000000"/>
            <a:ext cx="13687500" cy="26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1235283065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2026-09-29T17:04:46.7600000Z</dcterms:created>
  <dcterms:modified xsi:type="dcterms:W3CDTF">2026-09-29T17:04:46.7600000Z</dcterms:modified>
</coreProperties>
</file>