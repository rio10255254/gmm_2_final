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Raw QA</c:v>
          </c:tx>
          <c:spPr>
            <a:ln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999999"/>
              </a:solidFill>
              <a:ln w="9525">
                <a:solidFill>
                  <a:srgbClr val="999999"/>
                </a:solidFill>
              </a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-5.5006029999999999</c:v>
                </c:pt>
                <c:pt idx="1">
                  <c:v>-5.9084490000000001</c:v>
                </c:pt>
                <c:pt idx="2">
                  <c:v>2.6995499999999999</c:v>
                </c:pt>
                <c:pt idx="3">
                  <c:v>4.1069440000000004</c:v>
                </c:pt>
                <c:pt idx="4">
                  <c:v>8.6554570000000002</c:v>
                </c:pt>
                <c:pt idx="5">
                  <c:v>2.3965329999999998</c:v>
                </c:pt>
                <c:pt idx="6">
                  <c:v>-8.5655479999999997</c:v>
                </c:pt>
                <c:pt idx="7">
                  <c:v>0.50842200000000004</c:v>
                </c:pt>
                <c:pt idx="8">
                  <c:v>12.650861000000001</c:v>
                </c:pt>
                <c:pt idx="9">
                  <c:v>-5.7355169999999998</c:v>
                </c:pt>
                <c:pt idx="10">
                  <c:v>11.784784</c:v>
                </c:pt>
                <c:pt idx="11">
                  <c:v>-26.069286999999999</c:v>
                </c:pt>
                <c:pt idx="12">
                  <c:v>5.6064109999999996</c:v>
                </c:pt>
                <c:pt idx="13">
                  <c:v>10.025318</c:v>
                </c:pt>
                <c:pt idx="14">
                  <c:v>-11.478591</c:v>
                </c:pt>
                <c:pt idx="15">
                  <c:v>20.234998999999998</c:v>
                </c:pt>
                <c:pt idx="16">
                  <c:v>-8.759684</c:v>
                </c:pt>
                <c:pt idx="17">
                  <c:v>-4.1750939999999996</c:v>
                </c:pt>
                <c:pt idx="18">
                  <c:v>10.560885000000001</c:v>
                </c:pt>
                <c:pt idx="19">
                  <c:v>-5.8780989999999997</c:v>
                </c:pt>
                <c:pt idx="20">
                  <c:v>4.0198840000000002</c:v>
                </c:pt>
                <c:pt idx="21">
                  <c:v>3.772859</c:v>
                </c:pt>
                <c:pt idx="22">
                  <c:v>4.2599</c:v>
                </c:pt>
                <c:pt idx="23">
                  <c:v>0.61784799999999995</c:v>
                </c:pt>
                <c:pt idx="24">
                  <c:v>7.1366560000000003</c:v>
                </c:pt>
                <c:pt idx="25">
                  <c:v>0.21893799999999999</c:v>
                </c:pt>
                <c:pt idx="26">
                  <c:v>9.4890329999999992</c:v>
                </c:pt>
                <c:pt idx="27">
                  <c:v>11.02197</c:v>
                </c:pt>
                <c:pt idx="28">
                  <c:v>-10.847007</c:v>
                </c:pt>
                <c:pt idx="29">
                  <c:v>9.7750889999999995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31-4813-A9A3-851DFCE4799A}"/>
            </c:ext>
          </c:extLst>
        </c:ser>
        <c:ser>
          <c:idx val="1"/>
          <c:order val="1"/>
          <c:tx>
            <c:v>Wiener</c:v>
          </c:tx>
          <c:spPr>
            <a:ln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a:solidFill>
                <a:srgbClr val="555555"/>
              </a:solidFill>
              <a:ln w="9525">
                <a:solidFill>
                  <a:srgbClr val="555555"/>
                </a:solidFill>
              </a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1.2161770000000001</c:v>
                </c:pt>
                <c:pt idx="1">
                  <c:v>2.7171530000000002</c:v>
                </c:pt>
                <c:pt idx="2">
                  <c:v>-5.0175859999999997</c:v>
                </c:pt>
                <c:pt idx="3">
                  <c:v>-4.7974909999999999</c:v>
                </c:pt>
                <c:pt idx="4">
                  <c:v>-6.4942760000000002</c:v>
                </c:pt>
                <c:pt idx="5">
                  <c:v>8.0348670000000002</c:v>
                </c:pt>
                <c:pt idx="6">
                  <c:v>2.3345310000000001</c:v>
                </c:pt>
                <c:pt idx="7">
                  <c:v>-5.1228000000000003E-2</c:v>
                </c:pt>
                <c:pt idx="8">
                  <c:v>-4.9412409999999998</c:v>
                </c:pt>
                <c:pt idx="9">
                  <c:v>-2.722</c:v>
                </c:pt>
                <c:pt idx="10">
                  <c:v>5.5867170000000002</c:v>
                </c:pt>
                <c:pt idx="11">
                  <c:v>6.5633229999999996</c:v>
                </c:pt>
                <c:pt idx="12">
                  <c:v>2.9121630000000001</c:v>
                </c:pt>
                <c:pt idx="13">
                  <c:v>2.068432</c:v>
                </c:pt>
                <c:pt idx="14">
                  <c:v>-1.4306160000000001</c:v>
                </c:pt>
                <c:pt idx="15">
                  <c:v>2.43275</c:v>
                </c:pt>
                <c:pt idx="16">
                  <c:v>17.393000000000001</c:v>
                </c:pt>
                <c:pt idx="17">
                  <c:v>9.4390319999999992</c:v>
                </c:pt>
                <c:pt idx="18">
                  <c:v>7.8415080000000001</c:v>
                </c:pt>
                <c:pt idx="19">
                  <c:v>-1.531477</c:v>
                </c:pt>
                <c:pt idx="20">
                  <c:v>2.7029260000000002</c:v>
                </c:pt>
                <c:pt idx="21">
                  <c:v>-4.5107000000000001E-2</c:v>
                </c:pt>
                <c:pt idx="22">
                  <c:v>12.382600999999999</c:v>
                </c:pt>
                <c:pt idx="23">
                  <c:v>-3.4985000000000002E-2</c:v>
                </c:pt>
                <c:pt idx="24">
                  <c:v>3.3989999999999999E-2</c:v>
                </c:pt>
                <c:pt idx="25">
                  <c:v>-3.439241</c:v>
                </c:pt>
                <c:pt idx="26">
                  <c:v>11.283227</c:v>
                </c:pt>
                <c:pt idx="27">
                  <c:v>-2.5299969999999998</c:v>
                </c:pt>
                <c:pt idx="28">
                  <c:v>1.623318</c:v>
                </c:pt>
                <c:pt idx="29">
                  <c:v>-5.1788340000000002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31-4813-A9A3-851DFCE4799A}"/>
            </c:ext>
          </c:extLst>
        </c:ser>
        <c:ser>
          <c:idx val="2"/>
          <c:order val="2"/>
          <c:tx>
            <c:v>MOSR</c:v>
          </c:tx>
          <c:spPr>
            <a:ln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-3.227868</c:v>
                </c:pt>
                <c:pt idx="1">
                  <c:v>2.7109640000000002</c:v>
                </c:pt>
                <c:pt idx="2">
                  <c:v>-2.7459389999999999</c:v>
                </c:pt>
                <c:pt idx="3">
                  <c:v>-10.368061000000001</c:v>
                </c:pt>
                <c:pt idx="4">
                  <c:v>-3.9245939999999999</c:v>
                </c:pt>
                <c:pt idx="5">
                  <c:v>9.6614819999999995</c:v>
                </c:pt>
                <c:pt idx="6">
                  <c:v>-1.869753</c:v>
                </c:pt>
                <c:pt idx="7">
                  <c:v>-3.6534979999999999</c:v>
                </c:pt>
                <c:pt idx="8">
                  <c:v>2.0790890000000002</c:v>
                </c:pt>
                <c:pt idx="9">
                  <c:v>1.7638799999999999</c:v>
                </c:pt>
                <c:pt idx="10">
                  <c:v>-0.209511</c:v>
                </c:pt>
                <c:pt idx="11">
                  <c:v>6.087434</c:v>
                </c:pt>
                <c:pt idx="12">
                  <c:v>0.20949599999999999</c:v>
                </c:pt>
                <c:pt idx="13">
                  <c:v>2.521649</c:v>
                </c:pt>
                <c:pt idx="14">
                  <c:v>4.6349369999999999</c:v>
                </c:pt>
                <c:pt idx="15">
                  <c:v>5.6154310000000001</c:v>
                </c:pt>
                <c:pt idx="16">
                  <c:v>0.25860300000000003</c:v>
                </c:pt>
                <c:pt idx="17">
                  <c:v>1.537293</c:v>
                </c:pt>
                <c:pt idx="18">
                  <c:v>1.8374619999999999</c:v>
                </c:pt>
                <c:pt idx="19">
                  <c:v>1.1707259999999999</c:v>
                </c:pt>
                <c:pt idx="20">
                  <c:v>1.5935090000000001</c:v>
                </c:pt>
                <c:pt idx="21">
                  <c:v>1.493215</c:v>
                </c:pt>
                <c:pt idx="22">
                  <c:v>5.060378</c:v>
                </c:pt>
                <c:pt idx="23">
                  <c:v>-2.324919</c:v>
                </c:pt>
                <c:pt idx="24">
                  <c:v>8.5973679999999995</c:v>
                </c:pt>
                <c:pt idx="25">
                  <c:v>4.2865849999999996</c:v>
                </c:pt>
                <c:pt idx="26">
                  <c:v>0.36310500000000001</c:v>
                </c:pt>
                <c:pt idx="27">
                  <c:v>5.261717</c:v>
                </c:pt>
                <c:pt idx="28">
                  <c:v>4.0812470000000003</c:v>
                </c:pt>
                <c:pt idx="29">
                  <c:v>1.1231310000000001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C31-4813-A9A3-851DFCE479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w="7620">
              <a:solidFill>
                <a:srgbClr val="D6D6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50112"/>
        <c:crosses val="min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Raw QA</c:v>
          </c:tx>
          <c:spPr>
            <a:ln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999999"/>
              </a:solidFill>
              <a:ln w="9525">
                <a:solidFill>
                  <a:srgbClr val="999999"/>
                </a:solidFill>
              </a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2.6863679999999999</c:v>
                </c:pt>
                <c:pt idx="1">
                  <c:v>9.1825340000000004</c:v>
                </c:pt>
                <c:pt idx="2">
                  <c:v>2.1384530000000002</c:v>
                </c:pt>
                <c:pt idx="3">
                  <c:v>19.038464000000001</c:v>
                </c:pt>
                <c:pt idx="4">
                  <c:v>7.5524100000000001</c:v>
                </c:pt>
                <c:pt idx="5">
                  <c:v>8.2924849999999992</c:v>
                </c:pt>
                <c:pt idx="6">
                  <c:v>1.938353</c:v>
                </c:pt>
                <c:pt idx="7">
                  <c:v>0.16975599999999999</c:v>
                </c:pt>
                <c:pt idx="8">
                  <c:v>12.516923</c:v>
                </c:pt>
                <c:pt idx="9">
                  <c:v>-7.5246040000000001</c:v>
                </c:pt>
                <c:pt idx="10">
                  <c:v>7.5557429999999997</c:v>
                </c:pt>
                <c:pt idx="11">
                  <c:v>-6.0163200000000003</c:v>
                </c:pt>
                <c:pt idx="12">
                  <c:v>2.9377589999999998</c:v>
                </c:pt>
                <c:pt idx="13">
                  <c:v>4.8499739999999996</c:v>
                </c:pt>
                <c:pt idx="14">
                  <c:v>-1.9919309999999999</c:v>
                </c:pt>
                <c:pt idx="15">
                  <c:v>7.0065039999999996</c:v>
                </c:pt>
                <c:pt idx="16">
                  <c:v>10.385565</c:v>
                </c:pt>
                <c:pt idx="17">
                  <c:v>4.3704320000000001</c:v>
                </c:pt>
                <c:pt idx="18">
                  <c:v>-4.6052169999999997</c:v>
                </c:pt>
                <c:pt idx="19">
                  <c:v>1.729503</c:v>
                </c:pt>
                <c:pt idx="20">
                  <c:v>6.6399879999999998</c:v>
                </c:pt>
                <c:pt idx="21">
                  <c:v>2.9527909999999999</c:v>
                </c:pt>
                <c:pt idx="22">
                  <c:v>1.565323</c:v>
                </c:pt>
                <c:pt idx="23">
                  <c:v>-1.8421129999999999</c:v>
                </c:pt>
                <c:pt idx="24">
                  <c:v>11.002117999999999</c:v>
                </c:pt>
                <c:pt idx="25">
                  <c:v>7.2658969999999998</c:v>
                </c:pt>
                <c:pt idx="26">
                  <c:v>-3.0469620000000002</c:v>
                </c:pt>
                <c:pt idx="27">
                  <c:v>12.251693</c:v>
                </c:pt>
                <c:pt idx="28">
                  <c:v>1.9229430000000001</c:v>
                </c:pt>
                <c:pt idx="29">
                  <c:v>4.4843349999999997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7D-42A4-B706-57B81CFA6603}"/>
            </c:ext>
          </c:extLst>
        </c:ser>
        <c:ser>
          <c:idx val="1"/>
          <c:order val="1"/>
          <c:tx>
            <c:v>Wiener</c:v>
          </c:tx>
          <c:spPr>
            <a:ln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a:solidFill>
                <a:srgbClr val="555555"/>
              </a:solidFill>
              <a:ln w="9525">
                <a:solidFill>
                  <a:srgbClr val="555555"/>
                </a:solidFill>
              </a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0.77691200000000005</c:v>
                </c:pt>
                <c:pt idx="1">
                  <c:v>9.5928310000000003</c:v>
                </c:pt>
                <c:pt idx="2">
                  <c:v>0.73385100000000003</c:v>
                </c:pt>
                <c:pt idx="3">
                  <c:v>9.5360130000000005</c:v>
                </c:pt>
                <c:pt idx="4">
                  <c:v>6.0437609999999999</c:v>
                </c:pt>
                <c:pt idx="5">
                  <c:v>8.9377960000000005</c:v>
                </c:pt>
                <c:pt idx="6">
                  <c:v>5.0385770000000001</c:v>
                </c:pt>
                <c:pt idx="7">
                  <c:v>-2.2349890000000001</c:v>
                </c:pt>
                <c:pt idx="8">
                  <c:v>8.7415830000000003</c:v>
                </c:pt>
                <c:pt idx="9">
                  <c:v>-9.1881740000000001</c:v>
                </c:pt>
                <c:pt idx="10">
                  <c:v>4.8370240000000004</c:v>
                </c:pt>
                <c:pt idx="11">
                  <c:v>2.31548</c:v>
                </c:pt>
                <c:pt idx="12">
                  <c:v>0.54845299999999997</c:v>
                </c:pt>
                <c:pt idx="13">
                  <c:v>0.92232800000000004</c:v>
                </c:pt>
                <c:pt idx="14">
                  <c:v>1.6563639999999999</c:v>
                </c:pt>
                <c:pt idx="15">
                  <c:v>7.4693759999999996</c:v>
                </c:pt>
                <c:pt idx="16">
                  <c:v>8.8940750000000008</c:v>
                </c:pt>
                <c:pt idx="17">
                  <c:v>1.7939529999999999</c:v>
                </c:pt>
                <c:pt idx="18">
                  <c:v>-7.0049380000000001</c:v>
                </c:pt>
                <c:pt idx="19">
                  <c:v>0.58665400000000001</c:v>
                </c:pt>
                <c:pt idx="20">
                  <c:v>6.626341</c:v>
                </c:pt>
                <c:pt idx="21">
                  <c:v>1.4773750000000001</c:v>
                </c:pt>
                <c:pt idx="22">
                  <c:v>1.980899</c:v>
                </c:pt>
                <c:pt idx="23">
                  <c:v>2.5076990000000001</c:v>
                </c:pt>
                <c:pt idx="24">
                  <c:v>3.5724849999999999</c:v>
                </c:pt>
                <c:pt idx="25">
                  <c:v>8.7267119999999991</c:v>
                </c:pt>
                <c:pt idx="26">
                  <c:v>3.9027099999999999</c:v>
                </c:pt>
                <c:pt idx="27">
                  <c:v>10.370118</c:v>
                </c:pt>
                <c:pt idx="28">
                  <c:v>7.7914880000000002</c:v>
                </c:pt>
                <c:pt idx="29">
                  <c:v>4.2994620000000001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7D-42A4-B706-57B81CFA6603}"/>
            </c:ext>
          </c:extLst>
        </c:ser>
        <c:ser>
          <c:idx val="2"/>
          <c:order val="2"/>
          <c:tx>
            <c:v>MOSR</c:v>
          </c:tx>
          <c:spPr>
            <a:ln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0.68023199999999995</c:v>
                </c:pt>
                <c:pt idx="1">
                  <c:v>12.242884999999999</c:v>
                </c:pt>
                <c:pt idx="2">
                  <c:v>1.8637349999999999</c:v>
                </c:pt>
                <c:pt idx="3">
                  <c:v>12.564693999999999</c:v>
                </c:pt>
                <c:pt idx="4">
                  <c:v>5.4356549999999997</c:v>
                </c:pt>
                <c:pt idx="5">
                  <c:v>7.2083909999999998</c:v>
                </c:pt>
                <c:pt idx="6">
                  <c:v>4.6233230000000001</c:v>
                </c:pt>
                <c:pt idx="7">
                  <c:v>-1.3054760000000001</c:v>
                </c:pt>
                <c:pt idx="8">
                  <c:v>7.4240370000000002</c:v>
                </c:pt>
                <c:pt idx="9">
                  <c:v>-7.9767039999999998</c:v>
                </c:pt>
                <c:pt idx="10">
                  <c:v>3.492664</c:v>
                </c:pt>
                <c:pt idx="11">
                  <c:v>-1.5366070000000001</c:v>
                </c:pt>
                <c:pt idx="12">
                  <c:v>0.76875700000000002</c:v>
                </c:pt>
                <c:pt idx="13">
                  <c:v>0.78267799999999998</c:v>
                </c:pt>
                <c:pt idx="14">
                  <c:v>-0.286744</c:v>
                </c:pt>
                <c:pt idx="15">
                  <c:v>4.9450260000000004</c:v>
                </c:pt>
                <c:pt idx="16">
                  <c:v>9.1927389999999995</c:v>
                </c:pt>
                <c:pt idx="17">
                  <c:v>1.055709</c:v>
                </c:pt>
                <c:pt idx="18">
                  <c:v>-5.153098</c:v>
                </c:pt>
                <c:pt idx="19">
                  <c:v>-0.64555099999999999</c:v>
                </c:pt>
                <c:pt idx="20">
                  <c:v>6.0375779999999999</c:v>
                </c:pt>
                <c:pt idx="21">
                  <c:v>0.46535599999999999</c:v>
                </c:pt>
                <c:pt idx="22">
                  <c:v>4.159249</c:v>
                </c:pt>
                <c:pt idx="23">
                  <c:v>3.294079</c:v>
                </c:pt>
                <c:pt idx="24">
                  <c:v>2.3063400000000001</c:v>
                </c:pt>
                <c:pt idx="25">
                  <c:v>6.3042030000000002</c:v>
                </c:pt>
                <c:pt idx="26">
                  <c:v>2.7821259999999999</c:v>
                </c:pt>
                <c:pt idx="27">
                  <c:v>8.7737049999999996</c:v>
                </c:pt>
                <c:pt idx="28">
                  <c:v>3.9204110000000001</c:v>
                </c:pt>
                <c:pt idx="29">
                  <c:v>2.0864349999999998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47D-42A4-B706-57B81CFA6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w="7620">
              <a:solidFill>
                <a:srgbClr val="D6D6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50112"/>
        <c:crosses val="min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IMPACT2026 TW0243. Public model name: MOSR. This poster presents an updated evaluation at a nominal 1 micrometer step. The 20x condition uses one complete 31-frame evaluation scan; the 50x condition uses its fixed prior list of 30 adjacent-frame pairs. Conditions are reported separately. All methods use the same image pairs, identities, scale and center-estimation procedure within each condition. Fig. 2 summarizes functional roles; performance values refer to the complete reconstruction and readout. Fig. 3 uses measured boundary points and a fitted center from the displayed 20x MOSR field. The curves contain all 30 observed displacements per condition and method, minus nominal 1000 nm for display; no per-method centering, detrending or smoothing is applied. Sources for method context: Ronneberger et al., MICCAI 2015; Zhang, ICML 2019; Chan and Vese, IEEE TIP 2001; Chernov and Lesort, JMIV 2005.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8563" y="13635038"/>
            <a:ext cx="27981275" cy="9407525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25" y="24871363"/>
            <a:ext cx="23044150" cy="11217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325" y="28203525"/>
            <a:ext cx="27981275" cy="8718550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0325" y="18602325"/>
            <a:ext cx="27981275" cy="9601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14736762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535400" y="10240963"/>
            <a:ext cx="14736763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9825038"/>
            <a:ext cx="14544675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46238" y="13919200"/>
            <a:ext cx="14544675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6722725" y="9825038"/>
            <a:ext cx="14549438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6722725" y="13919200"/>
            <a:ext cx="14549438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47838"/>
            <a:ext cx="10829925" cy="7437437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863" y="1747838"/>
            <a:ext cx="18402300" cy="3746023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46238" y="9185275"/>
            <a:ext cx="10829925" cy="3002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0" y="30724475"/>
            <a:ext cx="19751675" cy="36258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51600" y="3921125"/>
            <a:ext cx="19751675" cy="26335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51600" y="34350325"/>
            <a:ext cx="19751675" cy="5151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6475" y="1757363"/>
            <a:ext cx="7405688" cy="37450712"/>
          </a:xfrm>
          <a:prstGeom prst="rect">
            <a:avLst/>
          </a:prstGeom>
        </p:spPr>
        <p:txBody>
          <a:bodyPr vert="eaVert"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757363"/>
            <a:ext cx="22067837" cy="374507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chart" Target="../charts/chart2.xml"/><Relationship Id="rId4" Type="http://schemas.openxmlformats.org/officeDocument/2006/relationships/image" Target="../media/image2.png"/><Relationship Id="rId9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50">
            <a:extLst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noGrp="1"/>
          </p:cNvSpPr>
          <p:nvPr/>
        </p:nvSpPr>
        <p:spPr>
          <a:xfrm>
            <a:off x="16519113" y="8037677"/>
            <a:ext cx="15244085" cy="34100749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5" name="AutoShape 4">
            <a:extLst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noGrp="1"/>
          </p:cNvSpPr>
          <p:nvPr/>
        </p:nvSpPr>
        <p:spPr>
          <a:xfrm>
            <a:off x="562512" y="8000176"/>
            <a:ext cx="15244085" cy="34100749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7" name="Text Box 10">
            <a:extLst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noGrp="1"/>
          </p:cNvSpPr>
          <p:nvPr/>
        </p:nvSpPr>
        <p:spPr>
          <a:xfrm>
            <a:off x="1125000" y="24890625"/>
            <a:ext cx="14062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noGrp="1"/>
          </p:cNvSpPr>
          <p:nvPr/>
        </p:nvSpPr>
        <p:spPr>
          <a:xfrm>
            <a:off x="16968750" y="34125000"/>
            <a:ext cx="1415625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noGrp="1"/>
          </p:cNvSpPr>
          <p:nvPr/>
        </p:nvSpPr>
        <p:spPr>
          <a:xfrm>
            <a:off x="506261" y="500011"/>
            <a:ext cx="31388190" cy="6900152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noGrp="1"/>
          </p:cNvSpPr>
          <p:nvPr/>
        </p:nvSpPr>
        <p:spPr>
          <a:xfrm>
            <a:off x="1125000" y="2625000"/>
            <a:ext cx="30187500" cy="2521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noGrp="1"/>
          </p:cNvSpPr>
          <p:nvPr/>
        </p:nvSpPr>
        <p:spPr>
          <a:xfrm>
            <a:off x="17156250" y="38250000"/>
            <a:ext cx="13687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3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3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noGrp="1"/>
          </p:cNvSpPr>
          <p:nvPr/>
        </p:nvSpPr>
        <p:spPr>
          <a:xfrm>
            <a:off x="1125000" y="8596875"/>
            <a:ext cx="14062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noGrp="1"/>
          </p:cNvSpPr>
          <p:nvPr/>
        </p:nvSpPr>
        <p:spPr>
          <a:xfrm>
            <a:off x="16968750" y="8615625"/>
            <a:ext cx="1415625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noGrp="1"/>
          </p:cNvSpPr>
          <p:nvPr/>
        </p:nvSpPr>
        <p:spPr>
          <a:xfrm>
            <a:off x="27825000" y="1846875"/>
            <a:ext cx="3796875" cy="1031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 TW0243</a:t>
            </a:r>
          </a:p>
        </p:txBody>
      </p:sp>
      <p:pic>
        <p:nvPicPr>
          <p:cNvPr id="3291" name="圖片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941261" y="857832"/>
            <a:ext cx="2512555" cy="843769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3138" name="authors">
            <a:extLst>
              <a:ext uri="{FF2B5EF4-FFF2-40B4-BE49-F238E27FC236}">
                <a16:creationId xmlns:a16="http://schemas.microsoft.com/office/drawing/2014/main" id="{A2954BB9-5201-4E36-A8F6-558E2A86193B}"/>
              </a:ext>
            </a:extLst>
          </p:cNvPr>
          <p:cNvSpPr>
            <a:spLocks noGrp="1"/>
          </p:cNvSpPr>
          <p:nvPr/>
        </p:nvSpPr>
        <p:spPr>
          <a:xfrm>
            <a:off x="1500000" y="5437500"/>
            <a:ext cx="29343750" cy="67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139" name="affiliation">
            <a:extLst>
              <a:ext uri="{FF2B5EF4-FFF2-40B4-BE49-F238E27FC236}">
                <a16:creationId xmlns:a16="http://schemas.microsoft.com/office/drawing/2014/main" id="{A6EDCA7B-1BDC-495A-BB16-058029741B89}"/>
              </a:ext>
            </a:extLst>
          </p:cNvPr>
          <p:cNvSpPr>
            <a:spLocks noGrp="1"/>
          </p:cNvSpPr>
          <p:nvPr/>
        </p:nvSpPr>
        <p:spPr>
          <a:xfrm>
            <a:off x="1500000" y="6140625"/>
            <a:ext cx="29343750" cy="51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140" name="contact">
            <a:extLst>
              <a:ext uri="{FF2B5EF4-FFF2-40B4-BE49-F238E27FC236}">
                <a16:creationId xmlns:a16="http://schemas.microsoft.com/office/drawing/2014/main" id="{9D721DCC-53BE-4041-A8E5-B0272814B603}"/>
              </a:ext>
            </a:extLst>
          </p:cNvPr>
          <p:cNvSpPr>
            <a:spLocks noGrp="1"/>
          </p:cNvSpPr>
          <p:nvPr/>
        </p:nvSpPr>
        <p:spPr>
          <a:xfrm>
            <a:off x="1593750" y="6759375"/>
            <a:ext cx="29156250" cy="43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141" name="intro_body">
            <a:extLst>
              <a:ext uri="{FF2B5EF4-FFF2-40B4-BE49-F238E27FC236}">
                <a16:creationId xmlns:a16="http://schemas.microsoft.com/office/drawing/2014/main" id="{7155A22B-E1BF-4E0B-B935-910CCAC7A7D1}"/>
              </a:ext>
            </a:extLst>
          </p:cNvPr>
          <p:cNvSpPr>
            <a:spLocks noGrp="1"/>
          </p:cNvSpPr>
          <p:nvPr/>
        </p:nvSpPr>
        <p:spPr>
          <a:xfrm>
            <a:off x="1171875" y="10218750"/>
            <a:ext cx="13875000" cy="365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Micro-displacement inspection requires image features that can be located consistently when the objective changes. Optical blur and pixel sampling affect the boundary signals used to estimate position.</a:t>
            </a:r>
          </a:p>
          <a:p>
            <a:endParaRPr sz="29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calibrated optical guidance, anti-aliased multiscale features [1,2] and bounded correction on the original pixel grid. One fixed set of reconstruction weights serves 20× and 50×. We test its measurement benefit using the same circle-center procedure for Raw, fixed Wiener and MOSR.</a:t>
            </a:r>
          </a:p>
        </p:txBody>
      </p:sp>
      <p:sp>
        <p:nvSpPr>
          <p:cNvPr id="3142" name="raw_label">
            <a:extLst>
              <a:ext uri="{FF2B5EF4-FFF2-40B4-BE49-F238E27FC236}">
                <a16:creationId xmlns:a16="http://schemas.microsoft.com/office/drawing/2014/main" id="{012B249B-936A-4656-BECA-DDD7E2DF8947}"/>
              </a:ext>
            </a:extLst>
          </p:cNvPr>
          <p:cNvSpPr>
            <a:spLocks noGrp="1"/>
          </p:cNvSpPr>
          <p:nvPr/>
        </p:nvSpPr>
        <p:spPr>
          <a:xfrm>
            <a:off x="2343750" y="14062500"/>
            <a:ext cx="4125000" cy="5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43" name="mosr_label">
            <a:extLst>
              <a:ext uri="{FF2B5EF4-FFF2-40B4-BE49-F238E27FC236}">
                <a16:creationId xmlns:a16="http://schemas.microsoft.com/office/drawing/2014/main" id="{4ADF162D-B153-47B2-9F8B-EF8EC99774D9}"/>
              </a:ext>
            </a:extLst>
          </p:cNvPr>
          <p:cNvSpPr>
            <a:spLocks noGrp="1"/>
          </p:cNvSpPr>
          <p:nvPr/>
        </p:nvSpPr>
        <p:spPr>
          <a:xfrm>
            <a:off x="9375000" y="14062500"/>
            <a:ext cx="4125000" cy="5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44" name="mag-20x">
            <a:extLst>
              <a:ext uri="{FF2B5EF4-FFF2-40B4-BE49-F238E27FC236}">
                <a16:creationId xmlns:a16="http://schemas.microsoft.com/office/drawing/2014/main" id="{688BAB9D-10B9-4DFB-824D-2EBDCD36ADE1}"/>
              </a:ext>
            </a:extLst>
          </p:cNvPr>
          <p:cNvSpPr>
            <a:spLocks noGrp="1"/>
          </p:cNvSpPr>
          <p:nvPr/>
        </p:nvSpPr>
        <p:spPr>
          <a:xfrm>
            <a:off x="1171875" y="14578125"/>
            <a:ext cx="1406250" cy="46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299" name="圖片 329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343750" y="15046875"/>
            <a:ext cx="4125000" cy="4125000"/>
          </a:xfrm>
          <a:prstGeom prst="rect">
            <a:avLst/>
          </a:prstGeom>
        </p:spPr>
      </p:pic>
      <p:sp>
        <p:nvSpPr>
          <p:cNvPr id="3146" name="scale-20x-Raw">
            <a:extLst>
              <a:ext uri="{FF2B5EF4-FFF2-40B4-BE49-F238E27FC236}">
                <a16:creationId xmlns:a16="http://schemas.microsoft.com/office/drawing/2014/main" id="{772CBCAA-648D-46A8-9257-459A7B346795}"/>
              </a:ext>
            </a:extLst>
          </p:cNvPr>
          <p:cNvSpPr>
            <a:spLocks noGrp="1"/>
          </p:cNvSpPr>
          <p:nvPr/>
        </p:nvSpPr>
        <p:spPr>
          <a:xfrm>
            <a:off x="5694448" y="18890625"/>
            <a:ext cx="493052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47" name="scale-label-20x-Raw">
            <a:extLst>
              <a:ext uri="{FF2B5EF4-FFF2-40B4-BE49-F238E27FC236}">
                <a16:creationId xmlns:a16="http://schemas.microsoft.com/office/drawing/2014/main" id="{3EB39331-E7F1-40BB-A575-9748B83B727C}"/>
              </a:ext>
            </a:extLst>
          </p:cNvPr>
          <p:cNvSpPr>
            <a:spLocks noGrp="1"/>
          </p:cNvSpPr>
          <p:nvPr/>
        </p:nvSpPr>
        <p:spPr>
          <a:xfrm>
            <a:off x="5506948" y="18440625"/>
            <a:ext cx="868052" cy="39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2" name="圖片 330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375000" y="15046875"/>
            <a:ext cx="4125000" cy="4125000"/>
          </a:xfrm>
          <a:prstGeom prst="rect">
            <a:avLst/>
          </a:prstGeom>
        </p:spPr>
      </p:pic>
      <p:sp>
        <p:nvSpPr>
          <p:cNvPr id="3149" name="scale-20x-MOSR">
            <a:extLst>
              <a:ext uri="{FF2B5EF4-FFF2-40B4-BE49-F238E27FC236}">
                <a16:creationId xmlns:a16="http://schemas.microsoft.com/office/drawing/2014/main" id="{6660BBB4-AF84-4593-86DC-5CA6C071B964}"/>
              </a:ext>
            </a:extLst>
          </p:cNvPr>
          <p:cNvSpPr>
            <a:spLocks noGrp="1"/>
          </p:cNvSpPr>
          <p:nvPr/>
        </p:nvSpPr>
        <p:spPr>
          <a:xfrm>
            <a:off x="12725698" y="18890625"/>
            <a:ext cx="493052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50" name="scale-label-20x-MOSR">
            <a:extLst>
              <a:ext uri="{FF2B5EF4-FFF2-40B4-BE49-F238E27FC236}">
                <a16:creationId xmlns:a16="http://schemas.microsoft.com/office/drawing/2014/main" id="{948FAD97-427E-487B-BA0C-2C4DD9DCCD89}"/>
              </a:ext>
            </a:extLst>
          </p:cNvPr>
          <p:cNvSpPr>
            <a:spLocks noGrp="1"/>
          </p:cNvSpPr>
          <p:nvPr/>
        </p:nvSpPr>
        <p:spPr>
          <a:xfrm>
            <a:off x="12538198" y="18440625"/>
            <a:ext cx="868052" cy="39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1" name="mag-50x">
            <a:extLst>
              <a:ext uri="{FF2B5EF4-FFF2-40B4-BE49-F238E27FC236}">
                <a16:creationId xmlns:a16="http://schemas.microsoft.com/office/drawing/2014/main" id="{7C3EE18D-473E-4C78-A296-1B465AEAD47B}"/>
              </a:ext>
            </a:extLst>
          </p:cNvPr>
          <p:cNvSpPr>
            <a:spLocks noGrp="1"/>
          </p:cNvSpPr>
          <p:nvPr/>
        </p:nvSpPr>
        <p:spPr>
          <a:xfrm>
            <a:off x="1171875" y="19359375"/>
            <a:ext cx="1406250" cy="46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306" name="圖片 330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343750" y="19837211"/>
            <a:ext cx="4125000" cy="4106828"/>
          </a:xfrm>
          <a:prstGeom prst="rect">
            <a:avLst/>
          </a:prstGeom>
        </p:spPr>
      </p:pic>
      <p:sp>
        <p:nvSpPr>
          <p:cNvPr id="3153" name="scale-50x-Raw">
            <a:extLst>
              <a:ext uri="{FF2B5EF4-FFF2-40B4-BE49-F238E27FC236}">
                <a16:creationId xmlns:a16="http://schemas.microsoft.com/office/drawing/2014/main" id="{01F923FA-79C7-48A2-BA53-6B799C807947}"/>
              </a:ext>
            </a:extLst>
          </p:cNvPr>
          <p:cNvSpPr>
            <a:spLocks noGrp="1"/>
          </p:cNvSpPr>
          <p:nvPr/>
        </p:nvSpPr>
        <p:spPr>
          <a:xfrm>
            <a:off x="5660781" y="23671875"/>
            <a:ext cx="526719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54" name="scale-label-50x-Raw">
            <a:extLst>
              <a:ext uri="{FF2B5EF4-FFF2-40B4-BE49-F238E27FC236}">
                <a16:creationId xmlns:a16="http://schemas.microsoft.com/office/drawing/2014/main" id="{9C152DDC-AD6B-4B42-BB9E-40C48A26916A}"/>
              </a:ext>
            </a:extLst>
          </p:cNvPr>
          <p:cNvSpPr>
            <a:spLocks noGrp="1"/>
          </p:cNvSpPr>
          <p:nvPr/>
        </p:nvSpPr>
        <p:spPr>
          <a:xfrm>
            <a:off x="5473281" y="23221875"/>
            <a:ext cx="901719" cy="39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9" name="圖片 330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375000" y="19837211"/>
            <a:ext cx="4125000" cy="4106828"/>
          </a:xfrm>
          <a:prstGeom prst="rect">
            <a:avLst/>
          </a:prstGeom>
        </p:spPr>
      </p:pic>
      <p:sp>
        <p:nvSpPr>
          <p:cNvPr id="3156" name="scale-50x-MOSR">
            <a:extLst>
              <a:ext uri="{FF2B5EF4-FFF2-40B4-BE49-F238E27FC236}">
                <a16:creationId xmlns:a16="http://schemas.microsoft.com/office/drawing/2014/main" id="{3AB26DDE-E9B0-468E-8C37-740387A6B5B3}"/>
              </a:ext>
            </a:extLst>
          </p:cNvPr>
          <p:cNvSpPr>
            <a:spLocks noGrp="1"/>
          </p:cNvSpPr>
          <p:nvPr/>
        </p:nvSpPr>
        <p:spPr>
          <a:xfrm>
            <a:off x="12692031" y="23671875"/>
            <a:ext cx="526719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57" name="scale-label-50x-MOSR">
            <a:extLst>
              <a:ext uri="{FF2B5EF4-FFF2-40B4-BE49-F238E27FC236}">
                <a16:creationId xmlns:a16="http://schemas.microsoft.com/office/drawing/2014/main" id="{E38C241A-7001-4D08-9B44-7C338C82DCE5}"/>
              </a:ext>
            </a:extLst>
          </p:cNvPr>
          <p:cNvSpPr>
            <a:spLocks noGrp="1"/>
          </p:cNvSpPr>
          <p:nvPr/>
        </p:nvSpPr>
        <p:spPr>
          <a:xfrm>
            <a:off x="12504531" y="23221875"/>
            <a:ext cx="901719" cy="39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8" name="figure1_caption">
            <a:extLst>
              <a:ext uri="{FF2B5EF4-FFF2-40B4-BE49-F238E27FC236}">
                <a16:creationId xmlns:a16="http://schemas.microsoft.com/office/drawing/2014/main" id="{0737D1B5-458E-49F8-B445-4456196C1747}"/>
              </a:ext>
            </a:extLst>
          </p:cNvPr>
          <p:cNvSpPr>
            <a:spLocks noGrp="1"/>
          </p:cNvSpPr>
          <p:nvPr/>
        </p:nvSpPr>
        <p:spPr>
          <a:xfrm>
            <a:off x="1171875" y="24093750"/>
            <a:ext cx="13875000" cy="7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Corresponding Raw and MOSR fields at both objectives. Paired images share the crop and grayscale range. Scale bars: 2 µm.</a:t>
            </a:r>
          </a:p>
        </p:txBody>
      </p:sp>
      <p:sp>
        <p:nvSpPr>
          <p:cNvPr id="3159" name="model_heading">
            <a:extLst>
              <a:ext uri="{FF2B5EF4-FFF2-40B4-BE49-F238E27FC236}">
                <a16:creationId xmlns:a16="http://schemas.microsoft.com/office/drawing/2014/main" id="{F6D42C86-1C29-4389-874F-DB86BA86D18F}"/>
              </a:ext>
            </a:extLst>
          </p:cNvPr>
          <p:cNvSpPr>
            <a:spLocks noGrp="1"/>
          </p:cNvSpPr>
          <p:nvPr/>
        </p:nvSpPr>
        <p:spPr>
          <a:xfrm>
            <a:off x="1171875" y="26343750"/>
            <a:ext cx="13875000" cy="52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Optically guided reconstruction on the native grid</a:t>
            </a:r>
          </a:p>
        </p:txBody>
      </p:sp>
      <p:sp>
        <p:nvSpPr>
          <p:cNvPr id="3160" name="model_input">
            <a:extLst>
              <a:ext uri="{FF2B5EF4-FFF2-40B4-BE49-F238E27FC236}">
                <a16:creationId xmlns:a16="http://schemas.microsoft.com/office/drawing/2014/main" id="{85F72D02-A32F-4B2F-857F-0A0DC0EC382B}"/>
              </a:ext>
            </a:extLst>
          </p:cNvPr>
          <p:cNvSpPr>
            <a:spLocks noGrp="1"/>
          </p:cNvSpPr>
          <p:nvPr/>
        </p:nvSpPr>
        <p:spPr>
          <a:xfrm>
            <a:off x="1218750" y="27281250"/>
            <a:ext cx="2156250" cy="1312500"/>
          </a:xfrm>
          <a:prstGeom prst="rect">
            <a:avLst/>
          </a:prstGeom>
          <a:solidFill>
            <a:srgbClr val="FFFFFF"/>
          </a:solidFill>
          <a:ln w="17813">
            <a:solidFill>
              <a:srgbClr val="222222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161" name="model_context">
            <a:extLst>
              <a:ext uri="{FF2B5EF4-FFF2-40B4-BE49-F238E27FC236}">
                <a16:creationId xmlns:a16="http://schemas.microsoft.com/office/drawing/2014/main" id="{0BD6682F-CD55-4B21-B304-10190C26EE92}"/>
              </a:ext>
            </a:extLst>
          </p:cNvPr>
          <p:cNvSpPr>
            <a:spLocks noGrp="1"/>
          </p:cNvSpPr>
          <p:nvPr/>
        </p:nvSpPr>
        <p:spPr>
          <a:xfrm>
            <a:off x="4376000" y="27281250"/>
            <a:ext cx="3093750" cy="1312500"/>
          </a:xfrm>
          <a:prstGeom prst="rect">
            <a:avLst/>
          </a:prstGeom>
          <a:solidFill>
            <a:srgbClr val="FFFFFF"/>
          </a:solidFill>
          <a:ln w="17813">
            <a:solidFill>
              <a:srgbClr val="222222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Context QA</a:t>
            </a:r>
            <a:endParaRPr sz="2500" b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62" name="model_native">
            <a:extLst>
              <a:ext uri="{FF2B5EF4-FFF2-40B4-BE49-F238E27FC236}">
                <a16:creationId xmlns:a16="http://schemas.microsoft.com/office/drawing/2014/main" id="{298EC711-386F-45C6-80BF-95786241ECB7}"/>
              </a:ext>
            </a:extLst>
          </p:cNvPr>
          <p:cNvSpPr>
            <a:spLocks noGrp="1"/>
          </p:cNvSpPr>
          <p:nvPr/>
        </p:nvSpPr>
        <p:spPr>
          <a:xfrm>
            <a:off x="8437500" y="27281250"/>
            <a:ext cx="2906250" cy="1312500"/>
          </a:xfrm>
          <a:prstGeom prst="rect">
            <a:avLst/>
          </a:prstGeom>
          <a:solidFill>
            <a:srgbClr val="FFFFFF"/>
          </a:solidFill>
          <a:ln w="17813">
            <a:solidFill>
              <a:srgbClr val="222222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Native-grid</a:t>
            </a:r>
          </a:p>
          <a:p>
            <a:pPr algn="ctr">
              <a:lnSpc>
                <a:spcPct val="100000"/>
              </a:lnSpc>
              <a:buNone/>
              <a:def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refinement stages</a:t>
            </a:r>
          </a:p>
        </p:txBody>
      </p:sp>
      <p:sp>
        <p:nvSpPr>
          <p:cNvPr id="3163" name="model_output">
            <a:extLst>
              <a:ext uri="{FF2B5EF4-FFF2-40B4-BE49-F238E27FC236}">
                <a16:creationId xmlns:a16="http://schemas.microsoft.com/office/drawing/2014/main" id="{106E3683-8A22-4C97-BDCF-75F23B044F37}"/>
              </a:ext>
            </a:extLst>
          </p:cNvPr>
          <p:cNvSpPr>
            <a:spLocks noGrp="1"/>
          </p:cNvSpPr>
          <p:nvPr/>
        </p:nvSpPr>
        <p:spPr>
          <a:xfrm>
            <a:off x="12375000" y="27281250"/>
            <a:ext cx="2531250" cy="1312500"/>
          </a:xfrm>
          <a:prstGeom prst="rect">
            <a:avLst/>
          </a:prstGeom>
          <a:solidFill>
            <a:srgbClr val="F1F1F1"/>
          </a:solidFill>
          <a:ln w="17813">
            <a:solidFill>
              <a:srgbClr val="222222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Input-referenced</a:t>
            </a:r>
          </a:p>
          <a:p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bounded output</a:t>
            </a:r>
          </a:p>
        </p:txBody>
      </p:sp>
      <p:sp>
        <p:nvSpPr>
          <p:cNvPr id="3164" name="model_optical">
            <a:extLst>
              <a:ext uri="{FF2B5EF4-FFF2-40B4-BE49-F238E27FC236}">
                <a16:creationId xmlns:a16="http://schemas.microsoft.com/office/drawing/2014/main" id="{86D6032D-0143-4F30-ACA4-4FEEF0C60ECE}"/>
              </a:ext>
            </a:extLst>
          </p:cNvPr>
          <p:cNvSpPr>
            <a:spLocks noGrp="1"/>
          </p:cNvSpPr>
          <p:nvPr/>
        </p:nvSpPr>
        <p:spPr>
          <a:xfrm>
            <a:off x="5343750" y="29484375"/>
            <a:ext cx="4500000" cy="984375"/>
          </a:xfrm>
          <a:prstGeom prst="rect">
            <a:avLst/>
          </a:prstGeom>
          <a:solidFill>
            <a:srgbClr val="FFFFFF"/>
          </a:solidFill>
          <a:ln w="17813">
            <a:solidFill>
              <a:srgbClr val="222222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Calibrated optical guidance</a:t>
            </a:r>
          </a:p>
        </p:txBody>
      </p:sp>
      <p:sp>
        <p:nvSpPr>
          <p:cNvPr id="3165" name="model_bounded_addition">
            <a:extLst>
              <a:ext uri="{FF2B5EF4-FFF2-40B4-BE49-F238E27FC236}">
                <a16:creationId xmlns:a16="http://schemas.microsoft.com/office/drawing/2014/main" id="{088E5629-18B6-449A-96A2-D43F78B25E52}"/>
              </a:ext>
            </a:extLst>
          </p:cNvPr>
          <p:cNvSpPr>
            <a:spLocks noGrp="1"/>
          </p:cNvSpPr>
          <p:nvPr/>
        </p:nvSpPr>
        <p:spPr>
          <a:xfrm>
            <a:off x="11625000" y="27656250"/>
            <a:ext cx="562500" cy="562500"/>
          </a:xfrm>
          <a:prstGeom prst="ellipse">
            <a:avLst/>
          </a:prstGeom>
          <a:solidFill>
            <a:srgbClr val="FFFFFF"/>
          </a:solidFill>
          <a:ln w="17813">
            <a:solidFill>
              <a:srgbClr val="222222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2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cxnSp>
        <p:nvCxnSpPr>
          <p:cNvPr id="3320" name="直線單箭頭接點 3319"/>
          <p:cNvCxnSpPr>
            <a:stCxn id="3160" idx="3"/>
            <a:endCxn id="3161" idx="1"/>
          </p:cNvCxnSpPr>
          <p:nvPr/>
        </p:nvCxnSpPr>
        <p:spPr>
          <a:xfrm>
            <a:off x="3375000" y="27937500"/>
            <a:ext cx="1001000" cy="0"/>
          </a:xfrm>
          <a:prstGeom prst="straightConnector1">
            <a:avLst/>
          </a:prstGeom>
          <a:ln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1" name="直線單箭頭接點 3320"/>
          <p:cNvCxnSpPr>
            <a:stCxn id="3161" idx="3"/>
            <a:endCxn id="3162" idx="1"/>
          </p:cNvCxnSpPr>
          <p:nvPr/>
        </p:nvCxnSpPr>
        <p:spPr>
          <a:xfrm>
            <a:off x="7469750" y="27937500"/>
            <a:ext cx="967750" cy="0"/>
          </a:xfrm>
          <a:prstGeom prst="straightConnector1">
            <a:avLst/>
          </a:prstGeom>
          <a:ln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2" name="直線單箭頭接點 3321"/>
          <p:cNvCxnSpPr>
            <a:stCxn id="3162" idx="3"/>
            <a:endCxn id="3165" idx="2"/>
          </p:cNvCxnSpPr>
          <p:nvPr/>
        </p:nvCxnSpPr>
        <p:spPr>
          <a:xfrm>
            <a:off x="11343750" y="27937500"/>
            <a:ext cx="281250" cy="0"/>
          </a:xfrm>
          <a:prstGeom prst="straightConnector1">
            <a:avLst/>
          </a:prstGeom>
          <a:ln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3" name="直線單箭頭接點 3322"/>
          <p:cNvCxnSpPr>
            <a:stCxn id="3165" idx="6"/>
            <a:endCxn id="3163" idx="1"/>
          </p:cNvCxnSpPr>
          <p:nvPr/>
        </p:nvCxnSpPr>
        <p:spPr>
          <a:xfrm flipV="1">
            <a:off x="12187500" y="27937500"/>
            <a:ext cx="187500" cy="0"/>
          </a:xfrm>
          <a:prstGeom prst="straightConnector1">
            <a:avLst/>
          </a:prstGeom>
          <a:ln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4" name="接點: 肘形 3323"/>
          <p:cNvCxnSpPr>
            <a:stCxn id="3164" idx="0"/>
            <a:endCxn id="3161" idx="2"/>
          </p:cNvCxnSpPr>
          <p:nvPr/>
        </p:nvCxnSpPr>
        <p:spPr>
          <a:xfrm rot="16200000" flipV="1">
            <a:off x="6313001" y="28203625"/>
            <a:ext cx="890625" cy="1670875"/>
          </a:xfrm>
          <a:prstGeom prst="bentConnector3">
            <a:avLst>
              <a:gd name="adj1" fmla="val 50000"/>
            </a:avLst>
          </a:prstGeom>
          <a:ln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171" name="optical_route">
            <a:extLst>
              <a:ext uri="{FF2B5EF4-FFF2-40B4-BE49-F238E27FC236}">
                <a16:creationId xmlns:a16="http://schemas.microsoft.com/office/drawing/2014/main" id="{6028AA1A-4842-43C1-84B2-FA3782988222}"/>
              </a:ext>
            </a:extLst>
          </p:cNvPr>
          <p:cNvSpPr>
            <a:spLocks noGrp="1"/>
          </p:cNvSpPr>
          <p:nvPr/>
        </p:nvSpPr>
        <p:spPr>
          <a:xfrm>
            <a:off x="11901563" y="29976563"/>
            <a:ext cx="9375" cy="937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3326" name="直線單箭頭接點 3325"/>
          <p:cNvCxnSpPr>
            <a:stCxn id="3164" idx="3"/>
            <a:endCxn id="3171" idx="1"/>
          </p:cNvCxnSpPr>
          <p:nvPr/>
        </p:nvCxnSpPr>
        <p:spPr>
          <a:xfrm>
            <a:off x="9843750" y="29976563"/>
            <a:ext cx="2057813" cy="4688"/>
          </a:xfrm>
          <a:prstGeom prst="straightConnector1">
            <a:avLst/>
          </a:prstGeom>
          <a:ln w="20625">
            <a:solidFill>
              <a:srgbClr val="333333"/>
            </a:solidFill>
            <a:prstDash val="solid"/>
            <a:tailEnd type="none" w="med" len="med"/>
          </a:ln>
        </p:spPr>
      </p:cxnSp>
      <p:cxnSp>
        <p:nvCxnSpPr>
          <p:cNvPr id="3327" name="直線單箭頭接點 3326"/>
          <p:cNvCxnSpPr>
            <a:stCxn id="3171" idx="0"/>
            <a:endCxn id="3165" idx="4"/>
          </p:cNvCxnSpPr>
          <p:nvPr/>
        </p:nvCxnSpPr>
        <p:spPr>
          <a:xfrm flipH="1" flipV="1">
            <a:off x="11906250" y="28218750"/>
            <a:ext cx="0" cy="1757813"/>
          </a:xfrm>
          <a:prstGeom prst="straightConnector1">
            <a:avLst/>
          </a:prstGeom>
          <a:ln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174" name="reference_route_a">
            <a:extLst>
              <a:ext uri="{FF2B5EF4-FFF2-40B4-BE49-F238E27FC236}">
                <a16:creationId xmlns:a16="http://schemas.microsoft.com/office/drawing/2014/main" id="{CCF5F24D-69BE-471A-A114-686ADC05CA3B}"/>
              </a:ext>
            </a:extLst>
          </p:cNvPr>
          <p:cNvSpPr>
            <a:spLocks noGrp="1"/>
          </p:cNvSpPr>
          <p:nvPr/>
        </p:nvSpPr>
        <p:spPr>
          <a:xfrm>
            <a:off x="2292188" y="31167188"/>
            <a:ext cx="9375" cy="937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75" name="reference_route_b">
            <a:extLst>
              <a:ext uri="{FF2B5EF4-FFF2-40B4-BE49-F238E27FC236}">
                <a16:creationId xmlns:a16="http://schemas.microsoft.com/office/drawing/2014/main" id="{D10CCA89-9106-416B-BCD4-0C607EE317F2}"/>
              </a:ext>
            </a:extLst>
          </p:cNvPr>
          <p:cNvSpPr>
            <a:spLocks noGrp="1"/>
          </p:cNvSpPr>
          <p:nvPr/>
        </p:nvSpPr>
        <p:spPr>
          <a:xfrm>
            <a:off x="13635938" y="31167188"/>
            <a:ext cx="9375" cy="937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3330" name="直線單箭頭接點 3329"/>
          <p:cNvCxnSpPr>
            <a:stCxn id="3160" idx="2"/>
            <a:endCxn id="3174" idx="0"/>
          </p:cNvCxnSpPr>
          <p:nvPr/>
        </p:nvCxnSpPr>
        <p:spPr>
          <a:xfrm>
            <a:off x="2296875" y="28593750"/>
            <a:ext cx="0" cy="2573438"/>
          </a:xfrm>
          <a:prstGeom prst="straightConnector1">
            <a:avLst/>
          </a:prstGeom>
          <a:ln w="20625">
            <a:solidFill>
              <a:srgbClr val="333333"/>
            </a:solidFill>
            <a:prstDash val="dash"/>
            <a:tailEnd type="none" w="med" len="med"/>
          </a:ln>
        </p:spPr>
      </p:cxnSp>
      <p:cxnSp>
        <p:nvCxnSpPr>
          <p:cNvPr id="3331" name="直線單箭頭接點 3330"/>
          <p:cNvCxnSpPr>
            <a:stCxn id="3174" idx="3"/>
            <a:endCxn id="3175" idx="1"/>
          </p:cNvCxnSpPr>
          <p:nvPr/>
        </p:nvCxnSpPr>
        <p:spPr>
          <a:xfrm>
            <a:off x="2301563" y="31171875"/>
            <a:ext cx="11334375" cy="0"/>
          </a:xfrm>
          <a:prstGeom prst="straightConnector1">
            <a:avLst/>
          </a:prstGeom>
          <a:ln w="20625">
            <a:solidFill>
              <a:srgbClr val="333333"/>
            </a:solidFill>
            <a:prstDash val="dash"/>
            <a:tailEnd type="none" w="med" len="med"/>
          </a:ln>
        </p:spPr>
      </p:cxnSp>
      <p:cxnSp>
        <p:nvCxnSpPr>
          <p:cNvPr id="3332" name="直線單箭頭接點 3331"/>
          <p:cNvCxnSpPr>
            <a:stCxn id="3175" idx="0"/>
            <a:endCxn id="3163" idx="2"/>
          </p:cNvCxnSpPr>
          <p:nvPr/>
        </p:nvCxnSpPr>
        <p:spPr>
          <a:xfrm flipH="1" flipV="1">
            <a:off x="13640625" y="28593750"/>
            <a:ext cx="1" cy="2573438"/>
          </a:xfrm>
          <a:prstGeom prst="straightConnector1">
            <a:avLst/>
          </a:prstGeom>
          <a:ln w="20625">
            <a:solidFill>
              <a:srgbClr val="333333"/>
            </a:solidFill>
            <a:prstDash val="dash"/>
            <a:tailEnd type="arrow" w="med" len="med"/>
          </a:ln>
        </p:spPr>
      </p:cxnSp>
      <p:sp>
        <p:nvSpPr>
          <p:cNvPr id="3179" name="reference_label">
            <a:extLst>
              <a:ext uri="{FF2B5EF4-FFF2-40B4-BE49-F238E27FC236}">
                <a16:creationId xmlns:a16="http://schemas.microsoft.com/office/drawing/2014/main" id="{B148BDC4-8062-4405-AF09-F6AE69273BD2}"/>
              </a:ext>
            </a:extLst>
          </p:cNvPr>
          <p:cNvSpPr>
            <a:spLocks noGrp="1"/>
          </p:cNvSpPr>
          <p:nvPr/>
        </p:nvSpPr>
        <p:spPr>
          <a:xfrm>
            <a:off x="5671875" y="30656250"/>
            <a:ext cx="5343750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Original-image reference</a:t>
            </a:r>
          </a:p>
        </p:txBody>
      </p:sp>
      <p:sp>
        <p:nvSpPr>
          <p:cNvPr id="3180" name="figure2_caption">
            <a:extLst>
              <a:ext uri="{FF2B5EF4-FFF2-40B4-BE49-F238E27FC236}">
                <a16:creationId xmlns:a16="http://schemas.microsoft.com/office/drawing/2014/main" id="{BF995698-C18C-4212-AE68-0163D311E5F7}"/>
              </a:ext>
            </a:extLst>
          </p:cNvPr>
          <p:cNvSpPr>
            <a:spLocks noGrp="1"/>
          </p:cNvSpPr>
          <p:nvPr/>
        </p:nvSpPr>
        <p:spPr>
          <a:xfrm>
            <a:off x="1171875" y="31500000"/>
            <a:ext cx="13875000" cy="140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Functional design of MOSR. Calibrated guidance addresses optical variation; anti-aliased features target sampling sensitivity. Refinement and bounded output retain the native image grid.</a:t>
            </a:r>
          </a:p>
        </p:txBody>
      </p:sp>
      <p:sp>
        <p:nvSpPr>
          <p:cNvPr id="3181" name="readout_heading">
            <a:extLst>
              <a:ext uri="{FF2B5EF4-FFF2-40B4-BE49-F238E27FC236}">
                <a16:creationId xmlns:a16="http://schemas.microsoft.com/office/drawing/2014/main" id="{AF5FA5C9-2B30-455D-AEE9-78275E0129AC}"/>
              </a:ext>
            </a:extLst>
          </p:cNvPr>
          <p:cNvSpPr>
            <a:spLocks noGrp="1"/>
          </p:cNvSpPr>
          <p:nvPr/>
        </p:nvSpPr>
        <p:spPr>
          <a:xfrm>
            <a:off x="1171875" y="33328125"/>
            <a:ext cx="13875000" cy="5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Common readout for Raw, fixed Wiener and MOSR</a:t>
            </a:r>
          </a:p>
        </p:txBody>
      </p:sp>
      <p:pic>
        <p:nvPicPr>
          <p:cNvPr id="3336" name="圖片 333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312500" y="34453125"/>
            <a:ext cx="2250000" cy="2250000"/>
          </a:xfrm>
          <a:prstGeom prst="rect">
            <a:avLst/>
          </a:prstGeom>
        </p:spPr>
      </p:pic>
      <p:sp>
        <p:nvSpPr>
          <p:cNvPr id="3183" name="measured_lsc_circle">
            <a:extLst>
              <a:ext uri="{FF2B5EF4-FFF2-40B4-BE49-F238E27FC236}">
                <a16:creationId xmlns:a16="http://schemas.microsoft.com/office/drawing/2014/main" id="{69C78B29-DBFA-4961-AF77-E89D19E04750}"/>
              </a:ext>
            </a:extLst>
          </p:cNvPr>
          <p:cNvSpPr>
            <a:spLocks noGrp="1"/>
          </p:cNvSpPr>
          <p:nvPr/>
        </p:nvSpPr>
        <p:spPr>
          <a:xfrm>
            <a:off x="1790068" y="34934182"/>
            <a:ext cx="1270453" cy="1270453"/>
          </a:xfrm>
          <a:prstGeom prst="ellipse">
            <a:avLst/>
          </a:prstGeom>
          <a:noFill/>
          <a:ln w="10313">
            <a:solidFill>
              <a:srgbClr val="111111"/>
            </a:solidFill>
          </a:ln>
        </p:spPr>
      </p:sp>
      <p:sp>
        <p:nvSpPr>
          <p:cNvPr id="3184" name="measured_boundary_point_1">
            <a:extLst>
              <a:ext uri="{FF2B5EF4-FFF2-40B4-BE49-F238E27FC236}">
                <a16:creationId xmlns:a16="http://schemas.microsoft.com/office/drawing/2014/main" id="{22E625C9-1502-4781-B6EB-521FFC137BFD}"/>
              </a:ext>
            </a:extLst>
          </p:cNvPr>
          <p:cNvSpPr>
            <a:spLocks noGrp="1"/>
          </p:cNvSpPr>
          <p:nvPr/>
        </p:nvSpPr>
        <p:spPr>
          <a:xfrm>
            <a:off x="2650556" y="36137645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85" name="measured_boundary_point_2">
            <a:extLst>
              <a:ext uri="{FF2B5EF4-FFF2-40B4-BE49-F238E27FC236}">
                <a16:creationId xmlns:a16="http://schemas.microsoft.com/office/drawing/2014/main" id="{5485538F-8019-44C7-8DFF-6ECBAD21885E}"/>
              </a:ext>
            </a:extLst>
          </p:cNvPr>
          <p:cNvSpPr>
            <a:spLocks noGrp="1"/>
          </p:cNvSpPr>
          <p:nvPr/>
        </p:nvSpPr>
        <p:spPr>
          <a:xfrm>
            <a:off x="2586638" y="36144235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86" name="measured_boundary_point_3">
            <a:extLst>
              <a:ext uri="{FF2B5EF4-FFF2-40B4-BE49-F238E27FC236}">
                <a16:creationId xmlns:a16="http://schemas.microsoft.com/office/drawing/2014/main" id="{552CBA0D-6584-4890-9171-E495B927C65B}"/>
              </a:ext>
            </a:extLst>
          </p:cNvPr>
          <p:cNvSpPr>
            <a:spLocks noGrp="1"/>
          </p:cNvSpPr>
          <p:nvPr/>
        </p:nvSpPr>
        <p:spPr>
          <a:xfrm>
            <a:off x="2520830" y="36153471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87" name="measured_boundary_point_4">
            <a:extLst>
              <a:ext uri="{FF2B5EF4-FFF2-40B4-BE49-F238E27FC236}">
                <a16:creationId xmlns:a16="http://schemas.microsoft.com/office/drawing/2014/main" id="{A3D399F5-4902-4913-92E8-58792125736C}"/>
              </a:ext>
            </a:extLst>
          </p:cNvPr>
          <p:cNvSpPr>
            <a:spLocks noGrp="1"/>
          </p:cNvSpPr>
          <p:nvPr/>
        </p:nvSpPr>
        <p:spPr>
          <a:xfrm>
            <a:off x="2455022" y="36169142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88" name="measured_boundary_point_5">
            <a:extLst>
              <a:ext uri="{FF2B5EF4-FFF2-40B4-BE49-F238E27FC236}">
                <a16:creationId xmlns:a16="http://schemas.microsoft.com/office/drawing/2014/main" id="{D8824641-E179-49BD-BD2B-14352041AA58}"/>
              </a:ext>
            </a:extLst>
          </p:cNvPr>
          <p:cNvSpPr>
            <a:spLocks noGrp="1"/>
          </p:cNvSpPr>
          <p:nvPr/>
        </p:nvSpPr>
        <p:spPr>
          <a:xfrm>
            <a:off x="2389214" y="36177513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89" name="measured_boundary_point_6">
            <a:extLst>
              <a:ext uri="{FF2B5EF4-FFF2-40B4-BE49-F238E27FC236}">
                <a16:creationId xmlns:a16="http://schemas.microsoft.com/office/drawing/2014/main" id="{67A23DEE-4346-4CCA-AAAE-DCA51C813BC9}"/>
              </a:ext>
            </a:extLst>
          </p:cNvPr>
          <p:cNvSpPr>
            <a:spLocks noGrp="1"/>
          </p:cNvSpPr>
          <p:nvPr/>
        </p:nvSpPr>
        <p:spPr>
          <a:xfrm>
            <a:off x="2323406" y="36168619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90" name="measured_boundary_point_7">
            <a:extLst>
              <a:ext uri="{FF2B5EF4-FFF2-40B4-BE49-F238E27FC236}">
                <a16:creationId xmlns:a16="http://schemas.microsoft.com/office/drawing/2014/main" id="{482E86DB-E6E1-478E-82FC-C3667249D966}"/>
              </a:ext>
            </a:extLst>
          </p:cNvPr>
          <p:cNvSpPr>
            <a:spLocks noGrp="1"/>
          </p:cNvSpPr>
          <p:nvPr/>
        </p:nvSpPr>
        <p:spPr>
          <a:xfrm>
            <a:off x="2257598" y="36151745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91" name="measured_boundary_point_8">
            <a:extLst>
              <a:ext uri="{FF2B5EF4-FFF2-40B4-BE49-F238E27FC236}">
                <a16:creationId xmlns:a16="http://schemas.microsoft.com/office/drawing/2014/main" id="{99E19018-3227-4A2B-819C-377A043903E1}"/>
              </a:ext>
            </a:extLst>
          </p:cNvPr>
          <p:cNvSpPr>
            <a:spLocks noGrp="1"/>
          </p:cNvSpPr>
          <p:nvPr/>
        </p:nvSpPr>
        <p:spPr>
          <a:xfrm>
            <a:off x="2191695" y="36142461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92" name="measured_boundary_point_9">
            <a:extLst>
              <a:ext uri="{FF2B5EF4-FFF2-40B4-BE49-F238E27FC236}">
                <a16:creationId xmlns:a16="http://schemas.microsoft.com/office/drawing/2014/main" id="{85AB4E65-2AD4-44F8-A816-876D8F44B70E}"/>
              </a:ext>
            </a:extLst>
          </p:cNvPr>
          <p:cNvSpPr>
            <a:spLocks noGrp="1"/>
          </p:cNvSpPr>
          <p:nvPr/>
        </p:nvSpPr>
        <p:spPr>
          <a:xfrm>
            <a:off x="2119983" y="36129693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93" name="measured_boundary_point_10">
            <a:extLst>
              <a:ext uri="{FF2B5EF4-FFF2-40B4-BE49-F238E27FC236}">
                <a16:creationId xmlns:a16="http://schemas.microsoft.com/office/drawing/2014/main" id="{AE523BE7-7FF6-4A50-A32D-E5A02482E872}"/>
              </a:ext>
            </a:extLst>
          </p:cNvPr>
          <p:cNvSpPr>
            <a:spLocks noGrp="1"/>
          </p:cNvSpPr>
          <p:nvPr/>
        </p:nvSpPr>
        <p:spPr>
          <a:xfrm>
            <a:off x="2078129" y="36107606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94" name="measured_boundary_point_11">
            <a:extLst>
              <a:ext uri="{FF2B5EF4-FFF2-40B4-BE49-F238E27FC236}">
                <a16:creationId xmlns:a16="http://schemas.microsoft.com/office/drawing/2014/main" id="{CF8EA7BE-DE05-43BE-BD2E-B57A2FB88FE4}"/>
              </a:ext>
            </a:extLst>
          </p:cNvPr>
          <p:cNvSpPr>
            <a:spLocks noGrp="1"/>
          </p:cNvSpPr>
          <p:nvPr/>
        </p:nvSpPr>
        <p:spPr>
          <a:xfrm>
            <a:off x="2023535" y="36070847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95" name="measured_boundary_point_12">
            <a:extLst>
              <a:ext uri="{FF2B5EF4-FFF2-40B4-BE49-F238E27FC236}">
                <a16:creationId xmlns:a16="http://schemas.microsoft.com/office/drawing/2014/main" id="{7E4A6A4E-8AF4-4E90-B735-645C2E4FD5CF}"/>
              </a:ext>
            </a:extLst>
          </p:cNvPr>
          <p:cNvSpPr>
            <a:spLocks noGrp="1"/>
          </p:cNvSpPr>
          <p:nvPr/>
        </p:nvSpPr>
        <p:spPr>
          <a:xfrm>
            <a:off x="1964569" y="36031315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96" name="measured_boundary_point_13">
            <a:extLst>
              <a:ext uri="{FF2B5EF4-FFF2-40B4-BE49-F238E27FC236}">
                <a16:creationId xmlns:a16="http://schemas.microsoft.com/office/drawing/2014/main" id="{8F55C9EE-F3F2-42B2-B74B-749D1104F194}"/>
              </a:ext>
            </a:extLst>
          </p:cNvPr>
          <p:cNvSpPr>
            <a:spLocks noGrp="1"/>
          </p:cNvSpPr>
          <p:nvPr/>
        </p:nvSpPr>
        <p:spPr>
          <a:xfrm>
            <a:off x="1924297" y="35978520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97" name="measured_boundary_point_14">
            <a:extLst>
              <a:ext uri="{FF2B5EF4-FFF2-40B4-BE49-F238E27FC236}">
                <a16:creationId xmlns:a16="http://schemas.microsoft.com/office/drawing/2014/main" id="{85EAD9EC-B31B-4CB5-81E1-F5016C396F9E}"/>
              </a:ext>
            </a:extLst>
          </p:cNvPr>
          <p:cNvSpPr>
            <a:spLocks noGrp="1"/>
          </p:cNvSpPr>
          <p:nvPr/>
        </p:nvSpPr>
        <p:spPr>
          <a:xfrm>
            <a:off x="1889908" y="35919843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98" name="measured_boundary_point_15">
            <a:extLst>
              <a:ext uri="{FF2B5EF4-FFF2-40B4-BE49-F238E27FC236}">
                <a16:creationId xmlns:a16="http://schemas.microsoft.com/office/drawing/2014/main" id="{1F87159B-EE0D-418D-9D9B-17AE77E6A20F}"/>
              </a:ext>
            </a:extLst>
          </p:cNvPr>
          <p:cNvSpPr>
            <a:spLocks noGrp="1"/>
          </p:cNvSpPr>
          <p:nvPr/>
        </p:nvSpPr>
        <p:spPr>
          <a:xfrm>
            <a:off x="1851551" y="35870361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99" name="measured_boundary_point_16">
            <a:extLst>
              <a:ext uri="{FF2B5EF4-FFF2-40B4-BE49-F238E27FC236}">
                <a16:creationId xmlns:a16="http://schemas.microsoft.com/office/drawing/2014/main" id="{991D3958-140B-4C2F-AB12-01B1A0595924}"/>
              </a:ext>
            </a:extLst>
          </p:cNvPr>
          <p:cNvSpPr>
            <a:spLocks noGrp="1"/>
          </p:cNvSpPr>
          <p:nvPr/>
        </p:nvSpPr>
        <p:spPr>
          <a:xfrm>
            <a:off x="1835475" y="35811437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00" name="measured_boundary_point_17">
            <a:extLst>
              <a:ext uri="{FF2B5EF4-FFF2-40B4-BE49-F238E27FC236}">
                <a16:creationId xmlns:a16="http://schemas.microsoft.com/office/drawing/2014/main" id="{FB4FDF82-FFD1-4C24-A95B-3F8B306CB8BC}"/>
              </a:ext>
            </a:extLst>
          </p:cNvPr>
          <p:cNvSpPr>
            <a:spLocks noGrp="1"/>
          </p:cNvSpPr>
          <p:nvPr/>
        </p:nvSpPr>
        <p:spPr>
          <a:xfrm>
            <a:off x="1810042" y="35754041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01" name="measured_boundary_point_18">
            <a:extLst>
              <a:ext uri="{FF2B5EF4-FFF2-40B4-BE49-F238E27FC236}">
                <a16:creationId xmlns:a16="http://schemas.microsoft.com/office/drawing/2014/main" id="{05D4BF01-3C81-4117-9D0B-3AA0E914AE40}"/>
              </a:ext>
            </a:extLst>
          </p:cNvPr>
          <p:cNvSpPr>
            <a:spLocks noGrp="1"/>
          </p:cNvSpPr>
          <p:nvPr/>
        </p:nvSpPr>
        <p:spPr>
          <a:xfrm>
            <a:off x="1777900" y="35704418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02" name="measured_boundary_point_19">
            <a:extLst>
              <a:ext uri="{FF2B5EF4-FFF2-40B4-BE49-F238E27FC236}">
                <a16:creationId xmlns:a16="http://schemas.microsoft.com/office/drawing/2014/main" id="{599FF69D-950A-4E75-BEF9-109BEF5F2870}"/>
              </a:ext>
            </a:extLst>
          </p:cNvPr>
          <p:cNvSpPr>
            <a:spLocks noGrp="1"/>
          </p:cNvSpPr>
          <p:nvPr/>
        </p:nvSpPr>
        <p:spPr>
          <a:xfrm>
            <a:off x="1766910" y="35645387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03" name="measured_boundary_point_20">
            <a:extLst>
              <a:ext uri="{FF2B5EF4-FFF2-40B4-BE49-F238E27FC236}">
                <a16:creationId xmlns:a16="http://schemas.microsoft.com/office/drawing/2014/main" id="{EE37BA7E-1B93-4E5B-9F30-FBA11FDAE15D}"/>
              </a:ext>
            </a:extLst>
          </p:cNvPr>
          <p:cNvSpPr>
            <a:spLocks noGrp="1"/>
          </p:cNvSpPr>
          <p:nvPr/>
        </p:nvSpPr>
        <p:spPr>
          <a:xfrm>
            <a:off x="1764236" y="35579579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04" name="measured_boundary_point_21">
            <a:extLst>
              <a:ext uri="{FF2B5EF4-FFF2-40B4-BE49-F238E27FC236}">
                <a16:creationId xmlns:a16="http://schemas.microsoft.com/office/drawing/2014/main" id="{5BEF7F8F-5AC0-4B18-AC75-827E4CC0D97B}"/>
              </a:ext>
            </a:extLst>
          </p:cNvPr>
          <p:cNvSpPr>
            <a:spLocks noGrp="1"/>
          </p:cNvSpPr>
          <p:nvPr/>
        </p:nvSpPr>
        <p:spPr>
          <a:xfrm>
            <a:off x="1763926" y="35513771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05" name="measured_boundary_point_22">
            <a:extLst>
              <a:ext uri="{FF2B5EF4-FFF2-40B4-BE49-F238E27FC236}">
                <a16:creationId xmlns:a16="http://schemas.microsoft.com/office/drawing/2014/main" id="{26D8B54E-8CE7-4332-83D3-4AD9220BBF14}"/>
              </a:ext>
            </a:extLst>
          </p:cNvPr>
          <p:cNvSpPr>
            <a:spLocks noGrp="1"/>
          </p:cNvSpPr>
          <p:nvPr/>
        </p:nvSpPr>
        <p:spPr>
          <a:xfrm>
            <a:off x="1768287" y="35449014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06" name="measured_boundary_point_23">
            <a:extLst>
              <a:ext uri="{FF2B5EF4-FFF2-40B4-BE49-F238E27FC236}">
                <a16:creationId xmlns:a16="http://schemas.microsoft.com/office/drawing/2014/main" id="{85B740A5-4A71-471B-B52B-B8196FC893EB}"/>
              </a:ext>
            </a:extLst>
          </p:cNvPr>
          <p:cNvSpPr>
            <a:spLocks noGrp="1"/>
          </p:cNvSpPr>
          <p:nvPr/>
        </p:nvSpPr>
        <p:spPr>
          <a:xfrm>
            <a:off x="1784362" y="35393586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07" name="measured_boundary_point_24">
            <a:extLst>
              <a:ext uri="{FF2B5EF4-FFF2-40B4-BE49-F238E27FC236}">
                <a16:creationId xmlns:a16="http://schemas.microsoft.com/office/drawing/2014/main" id="{C1C9094D-2087-4103-832A-A074B7A15D01}"/>
              </a:ext>
            </a:extLst>
          </p:cNvPr>
          <p:cNvSpPr>
            <a:spLocks noGrp="1"/>
          </p:cNvSpPr>
          <p:nvPr/>
        </p:nvSpPr>
        <p:spPr>
          <a:xfrm>
            <a:off x="1818143" y="35339554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08" name="measured_boundary_point_25">
            <a:extLst>
              <a:ext uri="{FF2B5EF4-FFF2-40B4-BE49-F238E27FC236}">
                <a16:creationId xmlns:a16="http://schemas.microsoft.com/office/drawing/2014/main" id="{BAB708D6-2913-4EB1-B4DB-2126CC664FF2}"/>
              </a:ext>
            </a:extLst>
          </p:cNvPr>
          <p:cNvSpPr>
            <a:spLocks noGrp="1"/>
          </p:cNvSpPr>
          <p:nvPr/>
        </p:nvSpPr>
        <p:spPr>
          <a:xfrm>
            <a:off x="1835672" y="35281977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09" name="measured_boundary_point_26">
            <a:extLst>
              <a:ext uri="{FF2B5EF4-FFF2-40B4-BE49-F238E27FC236}">
                <a16:creationId xmlns:a16="http://schemas.microsoft.com/office/drawing/2014/main" id="{CFF84F4B-F94B-4D8F-8A89-34BC89BAFC60}"/>
              </a:ext>
            </a:extLst>
          </p:cNvPr>
          <p:cNvSpPr>
            <a:spLocks noGrp="1"/>
          </p:cNvSpPr>
          <p:nvPr/>
        </p:nvSpPr>
        <p:spPr>
          <a:xfrm>
            <a:off x="1858615" y="35224804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10" name="measured_boundary_point_27">
            <a:extLst>
              <a:ext uri="{FF2B5EF4-FFF2-40B4-BE49-F238E27FC236}">
                <a16:creationId xmlns:a16="http://schemas.microsoft.com/office/drawing/2014/main" id="{B0010846-B587-4B69-A130-0A0E3DA4B4B1}"/>
              </a:ext>
            </a:extLst>
          </p:cNvPr>
          <p:cNvSpPr>
            <a:spLocks noGrp="1"/>
          </p:cNvSpPr>
          <p:nvPr/>
        </p:nvSpPr>
        <p:spPr>
          <a:xfrm>
            <a:off x="1901272" y="35173572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11" name="measured_boundary_point_28">
            <a:extLst>
              <a:ext uri="{FF2B5EF4-FFF2-40B4-BE49-F238E27FC236}">
                <a16:creationId xmlns:a16="http://schemas.microsoft.com/office/drawing/2014/main" id="{1EF7F807-D33C-4A17-9433-B5798B350FC5}"/>
              </a:ext>
            </a:extLst>
          </p:cNvPr>
          <p:cNvSpPr>
            <a:spLocks noGrp="1"/>
          </p:cNvSpPr>
          <p:nvPr/>
        </p:nvSpPr>
        <p:spPr>
          <a:xfrm>
            <a:off x="1942275" y="35121508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12" name="measured_boundary_point_29">
            <a:extLst>
              <a:ext uri="{FF2B5EF4-FFF2-40B4-BE49-F238E27FC236}">
                <a16:creationId xmlns:a16="http://schemas.microsoft.com/office/drawing/2014/main" id="{5D77A129-33F5-4EB4-9863-7399E284EDD2}"/>
              </a:ext>
            </a:extLst>
          </p:cNvPr>
          <p:cNvSpPr>
            <a:spLocks noGrp="1"/>
          </p:cNvSpPr>
          <p:nvPr/>
        </p:nvSpPr>
        <p:spPr>
          <a:xfrm>
            <a:off x="1990573" y="35076740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13" name="measured_boundary_point_30">
            <a:extLst>
              <a:ext uri="{FF2B5EF4-FFF2-40B4-BE49-F238E27FC236}">
                <a16:creationId xmlns:a16="http://schemas.microsoft.com/office/drawing/2014/main" id="{887DC07A-8A41-4782-A863-A17E5D5DABF8}"/>
              </a:ext>
            </a:extLst>
          </p:cNvPr>
          <p:cNvSpPr>
            <a:spLocks noGrp="1"/>
          </p:cNvSpPr>
          <p:nvPr/>
        </p:nvSpPr>
        <p:spPr>
          <a:xfrm>
            <a:off x="2047559" y="35040659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14" name="measured_boundary_point_31">
            <a:extLst>
              <a:ext uri="{FF2B5EF4-FFF2-40B4-BE49-F238E27FC236}">
                <a16:creationId xmlns:a16="http://schemas.microsoft.com/office/drawing/2014/main" id="{2430004B-61F3-485E-84A0-FDB82EABC61C}"/>
              </a:ext>
            </a:extLst>
          </p:cNvPr>
          <p:cNvSpPr>
            <a:spLocks noGrp="1"/>
          </p:cNvSpPr>
          <p:nvPr/>
        </p:nvSpPr>
        <p:spPr>
          <a:xfrm>
            <a:off x="2097816" y="35000649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15" name="measured_boundary_point_32">
            <a:extLst>
              <a:ext uri="{FF2B5EF4-FFF2-40B4-BE49-F238E27FC236}">
                <a16:creationId xmlns:a16="http://schemas.microsoft.com/office/drawing/2014/main" id="{E3B16203-18D7-48FB-A8B2-FDEA9ACBC39A}"/>
              </a:ext>
            </a:extLst>
          </p:cNvPr>
          <p:cNvSpPr>
            <a:spLocks noGrp="1"/>
          </p:cNvSpPr>
          <p:nvPr/>
        </p:nvSpPr>
        <p:spPr>
          <a:xfrm>
            <a:off x="2153746" y="34979896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16" name="measured_boundary_point_33">
            <a:extLst>
              <a:ext uri="{FF2B5EF4-FFF2-40B4-BE49-F238E27FC236}">
                <a16:creationId xmlns:a16="http://schemas.microsoft.com/office/drawing/2014/main" id="{FCE60693-C98B-47B2-ADA8-824034905FDD}"/>
              </a:ext>
            </a:extLst>
          </p:cNvPr>
          <p:cNvSpPr>
            <a:spLocks noGrp="1"/>
          </p:cNvSpPr>
          <p:nvPr/>
        </p:nvSpPr>
        <p:spPr>
          <a:xfrm>
            <a:off x="2214523" y="34962929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17" name="measured_boundary_point_34">
            <a:extLst>
              <a:ext uri="{FF2B5EF4-FFF2-40B4-BE49-F238E27FC236}">
                <a16:creationId xmlns:a16="http://schemas.microsoft.com/office/drawing/2014/main" id="{A46CD56C-C9DD-42C4-8C07-A5DC7472B1CD}"/>
              </a:ext>
            </a:extLst>
          </p:cNvPr>
          <p:cNvSpPr>
            <a:spLocks noGrp="1"/>
          </p:cNvSpPr>
          <p:nvPr/>
        </p:nvSpPr>
        <p:spPr>
          <a:xfrm>
            <a:off x="2267162" y="34930943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18" name="measured_boundary_point_35">
            <a:extLst>
              <a:ext uri="{FF2B5EF4-FFF2-40B4-BE49-F238E27FC236}">
                <a16:creationId xmlns:a16="http://schemas.microsoft.com/office/drawing/2014/main" id="{7E7E4E47-EC3E-49AC-90FD-1973C3879E07}"/>
              </a:ext>
            </a:extLst>
          </p:cNvPr>
          <p:cNvSpPr>
            <a:spLocks noGrp="1"/>
          </p:cNvSpPr>
          <p:nvPr/>
        </p:nvSpPr>
        <p:spPr>
          <a:xfrm>
            <a:off x="2319256" y="34911770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19" name="measured_boundary_point_36">
            <a:extLst>
              <a:ext uri="{FF2B5EF4-FFF2-40B4-BE49-F238E27FC236}">
                <a16:creationId xmlns:a16="http://schemas.microsoft.com/office/drawing/2014/main" id="{50C24176-E6CA-4FFF-9A7D-B11934E1416B}"/>
              </a:ext>
            </a:extLst>
          </p:cNvPr>
          <p:cNvSpPr>
            <a:spLocks noGrp="1"/>
          </p:cNvSpPr>
          <p:nvPr/>
        </p:nvSpPr>
        <p:spPr>
          <a:xfrm>
            <a:off x="2384353" y="34908222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0" name="measured_boundary_point_37">
            <a:extLst>
              <a:ext uri="{FF2B5EF4-FFF2-40B4-BE49-F238E27FC236}">
                <a16:creationId xmlns:a16="http://schemas.microsoft.com/office/drawing/2014/main" id="{6BF93A55-1E96-4178-BB57-40CC9066B97A}"/>
              </a:ext>
            </a:extLst>
          </p:cNvPr>
          <p:cNvSpPr>
            <a:spLocks noGrp="1"/>
          </p:cNvSpPr>
          <p:nvPr/>
        </p:nvSpPr>
        <p:spPr>
          <a:xfrm>
            <a:off x="2448890" y="34912959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1" name="measured_boundary_point_38">
            <a:extLst>
              <a:ext uri="{FF2B5EF4-FFF2-40B4-BE49-F238E27FC236}">
                <a16:creationId xmlns:a16="http://schemas.microsoft.com/office/drawing/2014/main" id="{104225A9-BCC0-4C1B-AEA6-07362D35EF96}"/>
              </a:ext>
            </a:extLst>
          </p:cNvPr>
          <p:cNvSpPr>
            <a:spLocks noGrp="1"/>
          </p:cNvSpPr>
          <p:nvPr/>
        </p:nvSpPr>
        <p:spPr>
          <a:xfrm>
            <a:off x="2503493" y="34926569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2" name="measured_boundary_point_39">
            <a:extLst>
              <a:ext uri="{FF2B5EF4-FFF2-40B4-BE49-F238E27FC236}">
                <a16:creationId xmlns:a16="http://schemas.microsoft.com/office/drawing/2014/main" id="{562436F6-F843-4592-84FF-BE60CB549FCC}"/>
              </a:ext>
            </a:extLst>
          </p:cNvPr>
          <p:cNvSpPr>
            <a:spLocks noGrp="1"/>
          </p:cNvSpPr>
          <p:nvPr/>
        </p:nvSpPr>
        <p:spPr>
          <a:xfrm>
            <a:off x="2559889" y="34955914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3" name="measured_boundary_point_40">
            <a:extLst>
              <a:ext uri="{FF2B5EF4-FFF2-40B4-BE49-F238E27FC236}">
                <a16:creationId xmlns:a16="http://schemas.microsoft.com/office/drawing/2014/main" id="{BE5D3BE3-6EF8-4424-898B-4329C614E202}"/>
              </a:ext>
            </a:extLst>
          </p:cNvPr>
          <p:cNvSpPr>
            <a:spLocks noGrp="1"/>
          </p:cNvSpPr>
          <p:nvPr/>
        </p:nvSpPr>
        <p:spPr>
          <a:xfrm>
            <a:off x="2617178" y="34973171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4" name="measured_boundary_point_41">
            <a:extLst>
              <a:ext uri="{FF2B5EF4-FFF2-40B4-BE49-F238E27FC236}">
                <a16:creationId xmlns:a16="http://schemas.microsoft.com/office/drawing/2014/main" id="{B27BE24E-F72B-4C20-9A67-3F283C2678A3}"/>
              </a:ext>
            </a:extLst>
          </p:cNvPr>
          <p:cNvSpPr>
            <a:spLocks noGrp="1"/>
          </p:cNvSpPr>
          <p:nvPr/>
        </p:nvSpPr>
        <p:spPr>
          <a:xfrm>
            <a:off x="2679786" y="34987964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5" name="measured_boundary_point_42">
            <a:extLst>
              <a:ext uri="{FF2B5EF4-FFF2-40B4-BE49-F238E27FC236}">
                <a16:creationId xmlns:a16="http://schemas.microsoft.com/office/drawing/2014/main" id="{EEBF66ED-C73B-47B9-84A1-66F7B6FD67A9}"/>
              </a:ext>
            </a:extLst>
          </p:cNvPr>
          <p:cNvSpPr>
            <a:spLocks noGrp="1"/>
          </p:cNvSpPr>
          <p:nvPr/>
        </p:nvSpPr>
        <p:spPr>
          <a:xfrm>
            <a:off x="2733518" y="35018599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6" name="measured_boundary_point_43">
            <a:extLst>
              <a:ext uri="{FF2B5EF4-FFF2-40B4-BE49-F238E27FC236}">
                <a16:creationId xmlns:a16="http://schemas.microsoft.com/office/drawing/2014/main" id="{413230F9-DC73-4378-9D4F-1A0EED25F52F}"/>
              </a:ext>
            </a:extLst>
          </p:cNvPr>
          <p:cNvSpPr>
            <a:spLocks noGrp="1"/>
          </p:cNvSpPr>
          <p:nvPr/>
        </p:nvSpPr>
        <p:spPr>
          <a:xfrm>
            <a:off x="2782819" y="35049684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7" name="measured_boundary_point_44">
            <a:extLst>
              <a:ext uri="{FF2B5EF4-FFF2-40B4-BE49-F238E27FC236}">
                <a16:creationId xmlns:a16="http://schemas.microsoft.com/office/drawing/2014/main" id="{9D9C6B3F-B5CF-4F18-ABEF-05B98341221E}"/>
              </a:ext>
            </a:extLst>
          </p:cNvPr>
          <p:cNvSpPr>
            <a:spLocks noGrp="1"/>
          </p:cNvSpPr>
          <p:nvPr/>
        </p:nvSpPr>
        <p:spPr>
          <a:xfrm>
            <a:off x="2836285" y="35081967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8" name="measured_boundary_point_45">
            <a:extLst>
              <a:ext uri="{FF2B5EF4-FFF2-40B4-BE49-F238E27FC236}">
                <a16:creationId xmlns:a16="http://schemas.microsoft.com/office/drawing/2014/main" id="{4A1FE7CF-EA00-4849-AD1F-7885DF60CE1E}"/>
              </a:ext>
            </a:extLst>
          </p:cNvPr>
          <p:cNvSpPr>
            <a:spLocks noGrp="1"/>
          </p:cNvSpPr>
          <p:nvPr/>
        </p:nvSpPr>
        <p:spPr>
          <a:xfrm>
            <a:off x="2883282" y="35128451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9" name="measured_boundary_point_46">
            <a:extLst>
              <a:ext uri="{FF2B5EF4-FFF2-40B4-BE49-F238E27FC236}">
                <a16:creationId xmlns:a16="http://schemas.microsoft.com/office/drawing/2014/main" id="{F41E0ECB-4DF3-4A1C-9F0B-BA6120B88D62}"/>
              </a:ext>
            </a:extLst>
          </p:cNvPr>
          <p:cNvSpPr>
            <a:spLocks noGrp="1"/>
          </p:cNvSpPr>
          <p:nvPr/>
        </p:nvSpPr>
        <p:spPr>
          <a:xfrm>
            <a:off x="2925600" y="35179200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30" name="measured_boundary_point_47">
            <a:extLst>
              <a:ext uri="{FF2B5EF4-FFF2-40B4-BE49-F238E27FC236}">
                <a16:creationId xmlns:a16="http://schemas.microsoft.com/office/drawing/2014/main" id="{80FAAB74-9056-4E4D-B1B7-4408C26E4C8D}"/>
              </a:ext>
            </a:extLst>
          </p:cNvPr>
          <p:cNvSpPr>
            <a:spLocks noGrp="1"/>
          </p:cNvSpPr>
          <p:nvPr/>
        </p:nvSpPr>
        <p:spPr>
          <a:xfrm>
            <a:off x="2957047" y="35235951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31" name="measured_boundary_point_48">
            <a:extLst>
              <a:ext uri="{FF2B5EF4-FFF2-40B4-BE49-F238E27FC236}">
                <a16:creationId xmlns:a16="http://schemas.microsoft.com/office/drawing/2014/main" id="{19CFB46A-8BD8-4972-BB4E-8B9F55A7175F}"/>
              </a:ext>
            </a:extLst>
          </p:cNvPr>
          <p:cNvSpPr>
            <a:spLocks noGrp="1"/>
          </p:cNvSpPr>
          <p:nvPr/>
        </p:nvSpPr>
        <p:spPr>
          <a:xfrm>
            <a:off x="2988370" y="35282174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32" name="measured_boundary_point_49">
            <a:extLst>
              <a:ext uri="{FF2B5EF4-FFF2-40B4-BE49-F238E27FC236}">
                <a16:creationId xmlns:a16="http://schemas.microsoft.com/office/drawing/2014/main" id="{EC7CBEF9-B594-44D8-ABE0-9C7A31EA4026}"/>
              </a:ext>
            </a:extLst>
          </p:cNvPr>
          <p:cNvSpPr>
            <a:spLocks noGrp="1"/>
          </p:cNvSpPr>
          <p:nvPr/>
        </p:nvSpPr>
        <p:spPr>
          <a:xfrm>
            <a:off x="3007334" y="35341935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33" name="measured_boundary_point_50">
            <a:extLst>
              <a:ext uri="{FF2B5EF4-FFF2-40B4-BE49-F238E27FC236}">
                <a16:creationId xmlns:a16="http://schemas.microsoft.com/office/drawing/2014/main" id="{0D526199-B46D-48F1-B06E-DC882B629A7D}"/>
              </a:ext>
            </a:extLst>
          </p:cNvPr>
          <p:cNvSpPr>
            <a:spLocks noGrp="1"/>
          </p:cNvSpPr>
          <p:nvPr/>
        </p:nvSpPr>
        <p:spPr>
          <a:xfrm>
            <a:off x="3033861" y="35401734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34" name="measured_boundary_point_51">
            <a:extLst>
              <a:ext uri="{FF2B5EF4-FFF2-40B4-BE49-F238E27FC236}">
                <a16:creationId xmlns:a16="http://schemas.microsoft.com/office/drawing/2014/main" id="{F59DA7A7-EC5A-45B9-BA44-D438F4B8F8DA}"/>
              </a:ext>
            </a:extLst>
          </p:cNvPr>
          <p:cNvSpPr>
            <a:spLocks noGrp="1"/>
          </p:cNvSpPr>
          <p:nvPr/>
        </p:nvSpPr>
        <p:spPr>
          <a:xfrm>
            <a:off x="3059982" y="35446162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35" name="measured_boundary_point_52">
            <a:extLst>
              <a:ext uri="{FF2B5EF4-FFF2-40B4-BE49-F238E27FC236}">
                <a16:creationId xmlns:a16="http://schemas.microsoft.com/office/drawing/2014/main" id="{FCFFEC65-6A73-4658-BCFD-EDD29BC64866}"/>
              </a:ext>
            </a:extLst>
          </p:cNvPr>
          <p:cNvSpPr>
            <a:spLocks noGrp="1"/>
          </p:cNvSpPr>
          <p:nvPr/>
        </p:nvSpPr>
        <p:spPr>
          <a:xfrm>
            <a:off x="3071031" y="35508909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36" name="measured_boundary_point_53">
            <a:extLst>
              <a:ext uri="{FF2B5EF4-FFF2-40B4-BE49-F238E27FC236}">
                <a16:creationId xmlns:a16="http://schemas.microsoft.com/office/drawing/2014/main" id="{AA4AF424-963C-4BA7-AC9D-13B6AFDD0C27}"/>
              </a:ext>
            </a:extLst>
          </p:cNvPr>
          <p:cNvSpPr>
            <a:spLocks noGrp="1"/>
          </p:cNvSpPr>
          <p:nvPr/>
        </p:nvSpPr>
        <p:spPr>
          <a:xfrm>
            <a:off x="3069870" y="35574585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37" name="measured_boundary_point_54">
            <a:extLst>
              <a:ext uri="{FF2B5EF4-FFF2-40B4-BE49-F238E27FC236}">
                <a16:creationId xmlns:a16="http://schemas.microsoft.com/office/drawing/2014/main" id="{8AA869FB-6FAE-4A06-B4FA-F0632B3E2EAB}"/>
              </a:ext>
            </a:extLst>
          </p:cNvPr>
          <p:cNvSpPr>
            <a:spLocks noGrp="1"/>
          </p:cNvSpPr>
          <p:nvPr/>
        </p:nvSpPr>
        <p:spPr>
          <a:xfrm>
            <a:off x="3058538" y="35631613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38" name="measured_boundary_point_55">
            <a:extLst>
              <a:ext uri="{FF2B5EF4-FFF2-40B4-BE49-F238E27FC236}">
                <a16:creationId xmlns:a16="http://schemas.microsoft.com/office/drawing/2014/main" id="{F57BDFD3-763B-481E-8FE2-78CAD279A427}"/>
              </a:ext>
            </a:extLst>
          </p:cNvPr>
          <p:cNvSpPr>
            <a:spLocks noGrp="1"/>
          </p:cNvSpPr>
          <p:nvPr/>
        </p:nvSpPr>
        <p:spPr>
          <a:xfrm>
            <a:off x="3030304" y="35685930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39" name="measured_boundary_point_56">
            <a:extLst>
              <a:ext uri="{FF2B5EF4-FFF2-40B4-BE49-F238E27FC236}">
                <a16:creationId xmlns:a16="http://schemas.microsoft.com/office/drawing/2014/main" id="{B95EF580-5E16-44C8-B57F-EF8A34E35F79}"/>
              </a:ext>
            </a:extLst>
          </p:cNvPr>
          <p:cNvSpPr>
            <a:spLocks noGrp="1"/>
          </p:cNvSpPr>
          <p:nvPr/>
        </p:nvSpPr>
        <p:spPr>
          <a:xfrm>
            <a:off x="3009514" y="35742620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40" name="measured_boundary_point_57">
            <a:extLst>
              <a:ext uri="{FF2B5EF4-FFF2-40B4-BE49-F238E27FC236}">
                <a16:creationId xmlns:a16="http://schemas.microsoft.com/office/drawing/2014/main" id="{003D4F17-3444-416B-B457-043663858344}"/>
              </a:ext>
            </a:extLst>
          </p:cNvPr>
          <p:cNvSpPr>
            <a:spLocks noGrp="1"/>
          </p:cNvSpPr>
          <p:nvPr/>
        </p:nvSpPr>
        <p:spPr>
          <a:xfrm>
            <a:off x="2994211" y="35802917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41" name="measured_boundary_point_58">
            <a:extLst>
              <a:ext uri="{FF2B5EF4-FFF2-40B4-BE49-F238E27FC236}">
                <a16:creationId xmlns:a16="http://schemas.microsoft.com/office/drawing/2014/main" id="{EECECDB8-158E-459F-AB7D-1D0B1FCE12BB}"/>
              </a:ext>
            </a:extLst>
          </p:cNvPr>
          <p:cNvSpPr>
            <a:spLocks noGrp="1"/>
          </p:cNvSpPr>
          <p:nvPr/>
        </p:nvSpPr>
        <p:spPr>
          <a:xfrm>
            <a:off x="2958338" y="35856784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42" name="measured_boundary_point_59">
            <a:extLst>
              <a:ext uri="{FF2B5EF4-FFF2-40B4-BE49-F238E27FC236}">
                <a16:creationId xmlns:a16="http://schemas.microsoft.com/office/drawing/2014/main" id="{3996C143-58BE-429E-A981-8A764D5400C8}"/>
              </a:ext>
            </a:extLst>
          </p:cNvPr>
          <p:cNvSpPr>
            <a:spLocks noGrp="1"/>
          </p:cNvSpPr>
          <p:nvPr/>
        </p:nvSpPr>
        <p:spPr>
          <a:xfrm>
            <a:off x="2922840" y="35904909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43" name="measured_boundary_point_60">
            <a:extLst>
              <a:ext uri="{FF2B5EF4-FFF2-40B4-BE49-F238E27FC236}">
                <a16:creationId xmlns:a16="http://schemas.microsoft.com/office/drawing/2014/main" id="{269D3CCF-E867-457C-B101-A8C380119B59}"/>
              </a:ext>
            </a:extLst>
          </p:cNvPr>
          <p:cNvSpPr>
            <a:spLocks noGrp="1"/>
          </p:cNvSpPr>
          <p:nvPr/>
        </p:nvSpPr>
        <p:spPr>
          <a:xfrm>
            <a:off x="2886842" y="35951945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44" name="measured_boundary_point_61">
            <a:extLst>
              <a:ext uri="{FF2B5EF4-FFF2-40B4-BE49-F238E27FC236}">
                <a16:creationId xmlns:a16="http://schemas.microsoft.com/office/drawing/2014/main" id="{CF1126EC-69F9-47BC-973E-715DAD7D7343}"/>
              </a:ext>
            </a:extLst>
          </p:cNvPr>
          <p:cNvSpPr>
            <a:spLocks noGrp="1"/>
          </p:cNvSpPr>
          <p:nvPr/>
        </p:nvSpPr>
        <p:spPr>
          <a:xfrm>
            <a:off x="2848446" y="35998080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45" name="measured_boundary_point_62">
            <a:extLst>
              <a:ext uri="{FF2B5EF4-FFF2-40B4-BE49-F238E27FC236}">
                <a16:creationId xmlns:a16="http://schemas.microsoft.com/office/drawing/2014/main" id="{B51C47DF-237A-47F7-A2A4-038D29548D8E}"/>
              </a:ext>
            </a:extLst>
          </p:cNvPr>
          <p:cNvSpPr>
            <a:spLocks noGrp="1"/>
          </p:cNvSpPr>
          <p:nvPr/>
        </p:nvSpPr>
        <p:spPr>
          <a:xfrm>
            <a:off x="2808730" y="36045164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46" name="measured_boundary_point_63">
            <a:extLst>
              <a:ext uri="{FF2B5EF4-FFF2-40B4-BE49-F238E27FC236}">
                <a16:creationId xmlns:a16="http://schemas.microsoft.com/office/drawing/2014/main" id="{62F9ACAF-AC90-4EBC-A85C-655E860A0BF2}"/>
              </a:ext>
            </a:extLst>
          </p:cNvPr>
          <p:cNvSpPr>
            <a:spLocks noGrp="1"/>
          </p:cNvSpPr>
          <p:nvPr/>
        </p:nvSpPr>
        <p:spPr>
          <a:xfrm>
            <a:off x="2755967" y="36076872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47" name="measured_boundary_point_64">
            <a:extLst>
              <a:ext uri="{FF2B5EF4-FFF2-40B4-BE49-F238E27FC236}">
                <a16:creationId xmlns:a16="http://schemas.microsoft.com/office/drawing/2014/main" id="{A549AD5B-BA29-4B22-9344-853375518470}"/>
              </a:ext>
            </a:extLst>
          </p:cNvPr>
          <p:cNvSpPr>
            <a:spLocks noGrp="1"/>
          </p:cNvSpPr>
          <p:nvPr/>
        </p:nvSpPr>
        <p:spPr>
          <a:xfrm>
            <a:off x="2710996" y="36111083"/>
            <a:ext cx="35625" cy="35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48" name="measured_center_x">
            <a:extLst>
              <a:ext uri="{FF2B5EF4-FFF2-40B4-BE49-F238E27FC236}">
                <a16:creationId xmlns:a16="http://schemas.microsoft.com/office/drawing/2014/main" id="{D60D1807-DFCC-4231-A7EF-6614746E1525}"/>
              </a:ext>
            </a:extLst>
          </p:cNvPr>
          <p:cNvSpPr>
            <a:spLocks noGrp="1"/>
          </p:cNvSpPr>
          <p:nvPr/>
        </p:nvSpPr>
        <p:spPr>
          <a:xfrm>
            <a:off x="2331544" y="35569408"/>
            <a:ext cx="187500" cy="0"/>
          </a:xfrm>
          <a:prstGeom prst="line">
            <a:avLst/>
          </a:prstGeom>
          <a:ln w="24375">
            <a:solidFill>
              <a:srgbClr val="FFFFFF"/>
            </a:solidFill>
          </a:ln>
        </p:spPr>
      </p:sp>
      <p:sp>
        <p:nvSpPr>
          <p:cNvPr id="3249" name="measured_center_y">
            <a:extLst>
              <a:ext uri="{FF2B5EF4-FFF2-40B4-BE49-F238E27FC236}">
                <a16:creationId xmlns:a16="http://schemas.microsoft.com/office/drawing/2014/main" id="{CA93AFB0-31A1-402B-B0E4-7C9C1B23FEC0}"/>
              </a:ext>
            </a:extLst>
          </p:cNvPr>
          <p:cNvSpPr>
            <a:spLocks noGrp="1"/>
          </p:cNvSpPr>
          <p:nvPr/>
        </p:nvSpPr>
        <p:spPr>
          <a:xfrm>
            <a:off x="2425294" y="35475658"/>
            <a:ext cx="0" cy="187500"/>
          </a:xfrm>
          <a:prstGeom prst="line">
            <a:avLst/>
          </a:prstGeom>
          <a:ln w="24375">
            <a:solidFill>
              <a:srgbClr val="FFFFFF"/>
            </a:solidFill>
          </a:ln>
        </p:spPr>
      </p:sp>
      <p:sp>
        <p:nvSpPr>
          <p:cNvPr id="3250" name="center_label">
            <a:extLst>
              <a:ext uri="{FF2B5EF4-FFF2-40B4-BE49-F238E27FC236}">
                <a16:creationId xmlns:a16="http://schemas.microsoft.com/office/drawing/2014/main" id="{BA4D26DB-078B-43B7-AE97-48E9746F99A8}"/>
              </a:ext>
            </a:extLst>
          </p:cNvPr>
          <p:cNvSpPr>
            <a:spLocks noGrp="1"/>
          </p:cNvSpPr>
          <p:nvPr/>
        </p:nvSpPr>
        <p:spPr>
          <a:xfrm>
            <a:off x="2556544" y="35288158"/>
            <a:ext cx="328125" cy="37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251" name="boundary_plot_exit">
            <a:extLst>
              <a:ext uri="{FF2B5EF4-FFF2-40B4-BE49-F238E27FC236}">
                <a16:creationId xmlns:a16="http://schemas.microsoft.com/office/drawing/2014/main" id="{865A6137-0361-4DB9-A412-47E8F8FA0E57}"/>
              </a:ext>
            </a:extLst>
          </p:cNvPr>
          <p:cNvSpPr>
            <a:spLocks noGrp="1"/>
          </p:cNvSpPr>
          <p:nvPr/>
        </p:nvSpPr>
        <p:spPr>
          <a:xfrm>
            <a:off x="3557813" y="35573438"/>
            <a:ext cx="9375" cy="937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252" name="readout_centers">
            <a:extLst>
              <a:ext uri="{FF2B5EF4-FFF2-40B4-BE49-F238E27FC236}">
                <a16:creationId xmlns:a16="http://schemas.microsoft.com/office/drawing/2014/main" id="{C3D36E65-F167-406C-8B18-76DEDC66C3B1}"/>
              </a:ext>
            </a:extLst>
          </p:cNvPr>
          <p:cNvSpPr>
            <a:spLocks noGrp="1"/>
          </p:cNvSpPr>
          <p:nvPr/>
        </p:nvSpPr>
        <p:spPr>
          <a:xfrm>
            <a:off x="4125000" y="34921875"/>
            <a:ext cx="2859375" cy="1359375"/>
          </a:xfrm>
          <a:prstGeom prst="rect">
            <a:avLst/>
          </a:prstGeom>
          <a:solidFill>
            <a:srgbClr val="FFFFFF"/>
          </a:solidFill>
          <a:ln w="17813">
            <a:solidFill>
              <a:srgbClr val="222222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LSC centers</a:t>
            </a:r>
          </a:p>
          <a:p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 paired frames</a:t>
            </a:r>
          </a:p>
        </p:txBody>
      </p:sp>
      <p:sp>
        <p:nvSpPr>
          <p:cNvPr id="3253" name="readout_shift">
            <a:extLst>
              <a:ext uri="{FF2B5EF4-FFF2-40B4-BE49-F238E27FC236}">
                <a16:creationId xmlns:a16="http://schemas.microsoft.com/office/drawing/2014/main" id="{58CD2F0C-C7C7-4329-BC7E-65F5389B7E4E}"/>
              </a:ext>
            </a:extLst>
          </p:cNvPr>
          <p:cNvSpPr>
            <a:spLocks noGrp="1"/>
          </p:cNvSpPr>
          <p:nvPr/>
        </p:nvSpPr>
        <p:spPr>
          <a:xfrm>
            <a:off x="7968750" y="34921875"/>
            <a:ext cx="2953125" cy="1359375"/>
          </a:xfrm>
          <a:prstGeom prst="rect">
            <a:avLst/>
          </a:prstGeom>
          <a:solidFill>
            <a:srgbClr val="FFFFFF"/>
          </a:solidFill>
          <a:ln w="17813">
            <a:solidFill>
              <a:srgbClr val="222222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Median shift</a:t>
            </a:r>
          </a:p>
          <a:p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 nine pillars</a:t>
            </a:r>
          </a:p>
        </p:txBody>
      </p:sp>
      <p:sp>
        <p:nvSpPr>
          <p:cNvPr id="3254" name="readout_sd">
            <a:extLst>
              <a:ext uri="{FF2B5EF4-FFF2-40B4-BE49-F238E27FC236}">
                <a16:creationId xmlns:a16="http://schemas.microsoft.com/office/drawing/2014/main" id="{EA504EF1-D55A-48E9-B414-4F2FC2D7A2D0}"/>
              </a:ext>
            </a:extLst>
          </p:cNvPr>
          <p:cNvSpPr>
            <a:spLocks noGrp="1"/>
          </p:cNvSpPr>
          <p:nvPr/>
        </p:nvSpPr>
        <p:spPr>
          <a:xfrm>
            <a:off x="11906250" y="34921875"/>
            <a:ext cx="3000000" cy="1359375"/>
          </a:xfrm>
          <a:prstGeom prst="rect">
            <a:avLst/>
          </a:prstGeom>
          <a:solidFill>
            <a:srgbClr val="F1F1F1"/>
          </a:solidFill>
          <a:ln w="17813">
            <a:solidFill>
              <a:srgbClr val="222222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30 single steps</a:t>
            </a:r>
          </a:p>
          <a:p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Sample SD</a:t>
            </a:r>
          </a:p>
        </p:txBody>
      </p:sp>
      <p:cxnSp>
        <p:nvCxnSpPr>
          <p:cNvPr id="3409" name="直線單箭頭接點 3408"/>
          <p:cNvCxnSpPr>
            <a:stCxn id="3251" idx="3"/>
            <a:endCxn id="3252" idx="1"/>
          </p:cNvCxnSpPr>
          <p:nvPr/>
        </p:nvCxnSpPr>
        <p:spPr>
          <a:xfrm>
            <a:off x="3567188" y="35578126"/>
            <a:ext cx="557812" cy="23437"/>
          </a:xfrm>
          <a:prstGeom prst="straightConnector1">
            <a:avLst/>
          </a:prstGeom>
          <a:ln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10" name="直線單箭頭接點 3409"/>
          <p:cNvCxnSpPr>
            <a:stCxn id="3252" idx="3"/>
            <a:endCxn id="3253" idx="1"/>
          </p:cNvCxnSpPr>
          <p:nvPr/>
        </p:nvCxnSpPr>
        <p:spPr>
          <a:xfrm>
            <a:off x="6984375" y="35601563"/>
            <a:ext cx="984375" cy="0"/>
          </a:xfrm>
          <a:prstGeom prst="straightConnector1">
            <a:avLst/>
          </a:prstGeom>
          <a:ln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11" name="直線單箭頭接點 3410"/>
          <p:cNvCxnSpPr>
            <a:stCxn id="3253" idx="3"/>
            <a:endCxn id="3254" idx="1"/>
          </p:cNvCxnSpPr>
          <p:nvPr/>
        </p:nvCxnSpPr>
        <p:spPr>
          <a:xfrm>
            <a:off x="10921875" y="35601563"/>
            <a:ext cx="984375" cy="0"/>
          </a:xfrm>
          <a:prstGeom prst="straightConnector1">
            <a:avLst/>
          </a:prstGeom>
          <a:ln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258" name="boundary_key">
            <a:extLst>
              <a:ext uri="{FF2B5EF4-FFF2-40B4-BE49-F238E27FC236}">
                <a16:creationId xmlns:a16="http://schemas.microsoft.com/office/drawing/2014/main" id="{20A4FB70-218A-4243-A7C4-8CBA32493C85}"/>
              </a:ext>
            </a:extLst>
          </p:cNvPr>
          <p:cNvSpPr>
            <a:spLocks noGrp="1"/>
          </p:cNvSpPr>
          <p:nvPr/>
        </p:nvSpPr>
        <p:spPr>
          <a:xfrm>
            <a:off x="1218750" y="36843750"/>
            <a:ext cx="4781250" cy="5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points and LSC center</a:t>
            </a:r>
          </a:p>
        </p:txBody>
      </p:sp>
      <p:sp>
        <p:nvSpPr>
          <p:cNvPr id="3259" name="figure3_caption">
            <a:extLst>
              <a:ext uri="{FF2B5EF4-FFF2-40B4-BE49-F238E27FC236}">
                <a16:creationId xmlns:a16="http://schemas.microsoft.com/office/drawing/2014/main" id="{28A6A82C-67EF-4830-9F14-4CBAE2AA5DC9}"/>
              </a:ext>
            </a:extLst>
          </p:cNvPr>
          <p:cNvSpPr>
            <a:spLocks noGrp="1"/>
          </p:cNvSpPr>
          <p:nvPr/>
        </p:nvSpPr>
        <p:spPr>
          <a:xfrm>
            <a:off x="1171875" y="37453125"/>
            <a:ext cx="13875000" cy="8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Coarse contours [3] initialize boundary extraction. Circle fits [4] provide the centers used for displacement. The inset shows measured points and a fitted center.</a:t>
            </a:r>
          </a:p>
        </p:txBody>
      </p:sp>
      <p:sp>
        <p:nvSpPr>
          <p:cNvPr id="3260" name="table1_caption">
            <a:extLst>
              <a:ext uri="{FF2B5EF4-FFF2-40B4-BE49-F238E27FC236}">
                <a16:creationId xmlns:a16="http://schemas.microsoft.com/office/drawing/2014/main" id="{46B71CBC-65CF-4C0E-9EDC-C2DEAC67E29A}"/>
              </a:ext>
            </a:extLst>
          </p:cNvPr>
          <p:cNvSpPr>
            <a:spLocks noGrp="1"/>
          </p:cNvSpPr>
          <p:nvPr/>
        </p:nvSpPr>
        <p:spPr>
          <a:xfrm>
            <a:off x="1218750" y="38531250"/>
            <a:ext cx="13781250" cy="54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EVALUATION AT A 1 µm NOMINAL STEP</a:t>
            </a:r>
          </a:p>
        </p:txBody>
      </p:sp>
      <p:graphicFrame>
        <p:nvGraphicFramePr>
          <p:cNvPr id="3415" name="表格 3414"/>
          <p:cNvGraphicFramePr/>
          <p:nvPr>
            <p:extLst>
              <p:ext uri="{D42A27DB-BD31-4B8C-83A1-F6EECF244321}">
                <p14:modId xmlns:p14="http://schemas.microsoft.com/office/powerpoint/2010/main" val="1017787798"/>
              </p:ext>
            </p:extLst>
          </p:nvPr>
        </p:nvGraphicFramePr>
        <p:xfrm>
          <a:off x="1218750" y="39187500"/>
          <a:ext cx="13781250" cy="1781250"/>
        </p:xfrm>
        <a:graphic>
          <a:graphicData uri="http://schemas.openxmlformats.org/drawingml/2006/table">
            <a:tbl>
              <a:tblPr/>
              <a:tblGrid>
                <a:gridCol w="248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750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 QA</a:t>
                      </a:r>
                      <a:endParaRPr sz="2400" b="1">
                        <a:solidFill>
                          <a:srgbClr val="11111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Acquisition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Steps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31-frame evaluation scan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locked adjacent pairs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62" name="measurement_definition">
            <a:extLst>
              <a:ext uri="{FF2B5EF4-FFF2-40B4-BE49-F238E27FC236}">
                <a16:creationId xmlns:a16="http://schemas.microsoft.com/office/drawing/2014/main" id="{51547BC0-3FCA-4A21-AE2B-41CBA3D8C03D}"/>
              </a:ext>
            </a:extLst>
          </p:cNvPr>
          <p:cNvSpPr>
            <a:spLocks noGrp="1"/>
          </p:cNvSpPr>
          <p:nvPr/>
        </p:nvSpPr>
        <p:spPr>
          <a:xfrm>
            <a:off x="1218750" y="41250000"/>
            <a:ext cx="13781250" cy="10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Centers come from maximum-gradient boundary points and geometric LSC fits. Nine-pillar median shifts use the acquisition direction. Each condition reports the sample SD of 30 steps (denominator 29).</a:t>
            </a:r>
          </a:p>
        </p:txBody>
      </p:sp>
      <p:sp>
        <p:nvSpPr>
          <p:cNvPr id="3263" name="results_intro">
            <a:extLst>
              <a:ext uri="{FF2B5EF4-FFF2-40B4-BE49-F238E27FC236}">
                <a16:creationId xmlns:a16="http://schemas.microsoft.com/office/drawing/2014/main" id="{E35791A5-F66C-4D9C-8052-4451C7AADF37}"/>
              </a:ext>
            </a:extLst>
          </p:cNvPr>
          <p:cNvSpPr>
            <a:spLocks noGrp="1"/>
          </p:cNvSpPr>
          <p:nvPr/>
        </p:nvSpPr>
        <p:spPr>
          <a:xfrm>
            <a:off x="17156250" y="10218750"/>
            <a:ext cx="13781250" cy="145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MOSR gives the lowest observed Step SD in both evaluations. Each comparison uses the same images and measurement settings for all three methods.</a:t>
            </a:r>
          </a:p>
        </p:txBody>
      </p:sp>
      <p:sp>
        <p:nvSpPr>
          <p:cNvPr id="3264" name="20x_heading">
            <a:extLst>
              <a:ext uri="{FF2B5EF4-FFF2-40B4-BE49-F238E27FC236}">
                <a16:creationId xmlns:a16="http://schemas.microsoft.com/office/drawing/2014/main" id="{6E614064-9295-4336-999F-79830833632D}"/>
              </a:ext>
            </a:extLst>
          </p:cNvPr>
          <p:cNvSpPr>
            <a:spLocks noGrp="1"/>
          </p:cNvSpPr>
          <p:nvPr/>
        </p:nvSpPr>
        <p:spPr>
          <a:xfrm>
            <a:off x="17250000" y="11812500"/>
            <a:ext cx="13687500" cy="69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265" name="20x_gain">
            <a:extLst>
              <a:ext uri="{FF2B5EF4-FFF2-40B4-BE49-F238E27FC236}">
                <a16:creationId xmlns:a16="http://schemas.microsoft.com/office/drawing/2014/main" id="{BF843DB8-AE00-4400-89A3-8480FE884DBE}"/>
              </a:ext>
            </a:extLst>
          </p:cNvPr>
          <p:cNvSpPr>
            <a:spLocks noGrp="1"/>
          </p:cNvSpPr>
          <p:nvPr/>
        </p:nvSpPr>
        <p:spPr>
          <a:xfrm>
            <a:off x="17296875" y="12656250"/>
            <a:ext cx="7125000" cy="135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266" name="20x_value">
            <a:extLst>
              <a:ext uri="{FF2B5EF4-FFF2-40B4-BE49-F238E27FC236}">
                <a16:creationId xmlns:a16="http://schemas.microsoft.com/office/drawing/2014/main" id="{38C91C1D-5A0A-4996-9939-0F82B25254A8}"/>
              </a:ext>
            </a:extLst>
          </p:cNvPr>
          <p:cNvSpPr>
            <a:spLocks noGrp="1"/>
          </p:cNvSpPr>
          <p:nvPr/>
        </p:nvSpPr>
        <p:spPr>
          <a:xfrm>
            <a:off x="25218750" y="12778125"/>
            <a:ext cx="5343750" cy="115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</a:t>
            </a:r>
          </a:p>
        </p:txBody>
      </p:sp>
      <p:sp>
        <p:nvSpPr>
          <p:cNvPr id="3267" name="20x_gain_label">
            <a:extLst>
              <a:ext uri="{FF2B5EF4-FFF2-40B4-BE49-F238E27FC236}">
                <a16:creationId xmlns:a16="http://schemas.microsoft.com/office/drawing/2014/main" id="{DB11EAA3-8D7C-484D-9197-D969D86FA6E2}"/>
              </a:ext>
            </a:extLst>
          </p:cNvPr>
          <p:cNvSpPr>
            <a:spLocks noGrp="1"/>
          </p:cNvSpPr>
          <p:nvPr/>
        </p:nvSpPr>
        <p:spPr>
          <a:xfrm>
            <a:off x="17296875" y="14015625"/>
            <a:ext cx="13593750" cy="52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22" name="表格 3421"/>
          <p:cNvGraphicFramePr/>
          <p:nvPr/>
        </p:nvGraphicFramePr>
        <p:xfrm>
          <a:off x="17156250" y="14671875"/>
          <a:ext cx="13781250" cy="1218750"/>
        </p:xfrm>
        <a:graphic>
          <a:graphicData uri="http://schemas.openxmlformats.org/drawingml/2006/table">
            <a:tbl>
              <a:tblPr/>
              <a:tblGrid>
                <a:gridCol w="49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375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375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9.506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5.794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4.068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23" name="Chart"/>
          <p:cNvGraphicFramePr/>
          <p:nvPr/>
        </p:nvGraphicFramePr>
        <p:xfrm>
          <a:off x="17062500" y="16265625"/>
          <a:ext cx="14156250" cy="468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270" name="figure4_caption">
            <a:extLst>
              <a:ext uri="{FF2B5EF4-FFF2-40B4-BE49-F238E27FC236}">
                <a16:creationId xmlns:a16="http://schemas.microsoft.com/office/drawing/2014/main" id="{918D247B-6C0A-4A5A-B049-5CB867C85CB1}"/>
              </a:ext>
            </a:extLst>
          </p:cNvPr>
          <p:cNvSpPr>
            <a:spLocks noGrp="1"/>
          </p:cNvSpPr>
          <p:nvPr/>
        </p:nvSpPr>
        <p:spPr>
          <a:xfrm>
            <a:off x="17156250" y="21093750"/>
            <a:ext cx="13781250" cy="8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4. All 30 single-step displacements at 20×. Curves use measured step minus 1 µm, with the same axis limits as the 50× evaluation.</a:t>
            </a:r>
          </a:p>
        </p:txBody>
      </p:sp>
      <p:sp>
        <p:nvSpPr>
          <p:cNvPr id="3271" name="20x_interpretation">
            <a:extLst>
              <a:ext uri="{FF2B5EF4-FFF2-40B4-BE49-F238E27FC236}">
                <a16:creationId xmlns:a16="http://schemas.microsoft.com/office/drawing/2014/main" id="{71333F50-EAA5-476A-BFC2-764D6552AB57}"/>
              </a:ext>
            </a:extLst>
          </p:cNvPr>
          <p:cNvSpPr>
            <a:spLocks noGrp="1"/>
          </p:cNvSpPr>
          <p:nvPr/>
        </p:nvSpPr>
        <p:spPr>
          <a:xfrm>
            <a:off x="17156250" y="22218750"/>
            <a:ext cx="13781250" cy="140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the mean step changes by only 0.10 nm while Step SD decreases by 5.44 nm. This pattern is consistent with more stable boundary-based localization.</a:t>
            </a:r>
          </a:p>
        </p:txBody>
      </p:sp>
      <p:sp>
        <p:nvSpPr>
          <p:cNvPr id="3272" name="50x_heading">
            <a:extLst>
              <a:ext uri="{FF2B5EF4-FFF2-40B4-BE49-F238E27FC236}">
                <a16:creationId xmlns:a16="http://schemas.microsoft.com/office/drawing/2014/main" id="{EE503B42-57E5-4A44-9E54-EE0F1E9AD4D3}"/>
              </a:ext>
            </a:extLst>
          </p:cNvPr>
          <p:cNvSpPr>
            <a:spLocks noGrp="1"/>
          </p:cNvSpPr>
          <p:nvPr/>
        </p:nvSpPr>
        <p:spPr>
          <a:xfrm>
            <a:off x="17250000" y="23812500"/>
            <a:ext cx="13687500" cy="69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273" name="50x_gain">
            <a:extLst>
              <a:ext uri="{FF2B5EF4-FFF2-40B4-BE49-F238E27FC236}">
                <a16:creationId xmlns:a16="http://schemas.microsoft.com/office/drawing/2014/main" id="{2B82B796-2F48-444D-9F4A-60289A302C5F}"/>
              </a:ext>
            </a:extLst>
          </p:cNvPr>
          <p:cNvSpPr>
            <a:spLocks noGrp="1"/>
          </p:cNvSpPr>
          <p:nvPr/>
        </p:nvSpPr>
        <p:spPr>
          <a:xfrm>
            <a:off x="17296875" y="24656250"/>
            <a:ext cx="7125000" cy="135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274" name="50x_value">
            <a:extLst>
              <a:ext uri="{FF2B5EF4-FFF2-40B4-BE49-F238E27FC236}">
                <a16:creationId xmlns:a16="http://schemas.microsoft.com/office/drawing/2014/main" id="{32825284-3492-49E4-9631-595BDD12584C}"/>
              </a:ext>
            </a:extLst>
          </p:cNvPr>
          <p:cNvSpPr>
            <a:spLocks noGrp="1"/>
          </p:cNvSpPr>
          <p:nvPr/>
        </p:nvSpPr>
        <p:spPr>
          <a:xfrm>
            <a:off x="25218750" y="24778125"/>
            <a:ext cx="5343750" cy="115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</a:t>
            </a:r>
          </a:p>
        </p:txBody>
      </p:sp>
      <p:sp>
        <p:nvSpPr>
          <p:cNvPr id="3275" name="50x_gain_label">
            <a:extLst>
              <a:ext uri="{FF2B5EF4-FFF2-40B4-BE49-F238E27FC236}">
                <a16:creationId xmlns:a16="http://schemas.microsoft.com/office/drawing/2014/main" id="{180157B2-C7A2-44FE-89E1-DD4866D1D4B9}"/>
              </a:ext>
            </a:extLst>
          </p:cNvPr>
          <p:cNvSpPr>
            <a:spLocks noGrp="1"/>
          </p:cNvSpPr>
          <p:nvPr/>
        </p:nvSpPr>
        <p:spPr>
          <a:xfrm>
            <a:off x="17296875" y="26015625"/>
            <a:ext cx="13593750" cy="52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30" name="表格 3429"/>
          <p:cNvGraphicFramePr/>
          <p:nvPr/>
        </p:nvGraphicFramePr>
        <p:xfrm>
          <a:off x="17156250" y="26671875"/>
          <a:ext cx="13781250" cy="1218750"/>
        </p:xfrm>
        <a:graphic>
          <a:graphicData uri="http://schemas.openxmlformats.org/drawingml/2006/table">
            <a:tbl>
              <a:tblPr/>
              <a:tblGrid>
                <a:gridCol w="49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375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375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5.938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4.722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4.542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31" name="Chart"/>
          <p:cNvGraphicFramePr/>
          <p:nvPr/>
        </p:nvGraphicFramePr>
        <p:xfrm>
          <a:off x="17062500" y="28265625"/>
          <a:ext cx="14156250" cy="468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78" name="figure5_caption">
            <a:extLst>
              <a:ext uri="{FF2B5EF4-FFF2-40B4-BE49-F238E27FC236}">
                <a16:creationId xmlns:a16="http://schemas.microsoft.com/office/drawing/2014/main" id="{A615EE55-3C42-4013-B9D0-61BC8219C2BC}"/>
              </a:ext>
            </a:extLst>
          </p:cNvPr>
          <p:cNvSpPr>
            <a:spLocks noGrp="1"/>
          </p:cNvSpPr>
          <p:nvPr/>
        </p:nvSpPr>
        <p:spPr>
          <a:xfrm>
            <a:off x="17156250" y="33093750"/>
            <a:ext cx="13781250" cy="8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5. All 30 locked single-step displacements at 50×. MOSR reaches 4.542 nm Step SD with the same learned weights and the corresponding optical calibration.</a:t>
            </a:r>
          </a:p>
        </p:txBody>
      </p:sp>
      <p:sp>
        <p:nvSpPr>
          <p:cNvPr id="3279" name="conclusions_body">
            <a:extLst>
              <a:ext uri="{FF2B5EF4-FFF2-40B4-BE49-F238E27FC236}">
                <a16:creationId xmlns:a16="http://schemas.microsoft.com/office/drawing/2014/main" id="{EB72134E-2525-4FE9-8CA2-C550043FB0A4}"/>
              </a:ext>
            </a:extLst>
          </p:cNvPr>
          <p:cNvSpPr>
            <a:spLocks noGrp="1"/>
          </p:cNvSpPr>
          <p:nvPr/>
        </p:nvSpPr>
        <p:spPr>
          <a:xfrm>
            <a:off x="17156250" y="35718750"/>
            <a:ext cx="13781250" cy="220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 shared reconstruction weights and objective-specific optical guidance, MOSR reduces single-step variation by 57.2% at 20× and 23.5% at 50×. The observed reductions under a common center readout support MOSR for cross-magnification micro-displacement inspection.</a:t>
            </a:r>
          </a:p>
        </p:txBody>
      </p:sp>
      <p:sp>
        <p:nvSpPr>
          <p:cNvPr id="3280" name="bibliography_body">
            <a:extLst>
              <a:ext uri="{FF2B5EF4-FFF2-40B4-BE49-F238E27FC236}">
                <a16:creationId xmlns:a16="http://schemas.microsoft.com/office/drawing/2014/main" id="{8027B545-2AC5-4E1A-968C-B9A5915A091E}"/>
              </a:ext>
            </a:extLst>
          </p:cNvPr>
          <p:cNvSpPr>
            <a:spLocks noGrp="1"/>
          </p:cNvSpPr>
          <p:nvPr/>
        </p:nvSpPr>
        <p:spPr>
          <a:xfrm>
            <a:off x="17156250" y="39375000"/>
            <a:ext cx="13687500" cy="243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Microsoft Office PowerPoint</Application>
  <DocSecurity>0</DocSecurity>
  <PresentationFormat>自訂</PresentationFormat>
  <Paragraphs>97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Default Design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彥諠 江</cp:lastModifiedBy>
  <cp:revision>1</cp:revision>
  <dcterms:created xsi:type="dcterms:W3CDTF">2026-10-03T08:43:14Z</dcterms:created>
  <dcterms:modified xsi:type="dcterms:W3CDTF">2026-10-03T08:47:36Z</dcterms:modified>
</cp:coreProperties>
</file>