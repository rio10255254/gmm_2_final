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32399288" cy="43200638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Raw QA</c:v>
          </c:tx>
          <c:spPr>
            <a:ln w="22860">
              <a:solidFill>
                <a:srgbClr val="999999"/>
              </a:solidFill>
              <a:prstDash val="solid"/>
            </a:ln>
          </c:spPr>
          <c:marker>
            <c:symbol val="triangle"/>
            <c:size val="5"/>
            <c:spPr>
              <a:solidFill>
                <a:srgbClr val="999999"/>
              </a:solidFill>
              <a:ln w="9525">
                <a:solidFill>
                  <a:srgbClr val="999999"/>
                </a:solidFill>
              </a:ln>
            </c:spPr>
          </c:marker>
          <c:cat>
            <c:numRef>
              <c:f>'Chart Data'!$A$2:$A$31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'Chart Data'!$B$2:$B$31</c:f>
              <c:numCache>
                <c:formatCode>0.000</c:formatCode>
                <c:ptCount val="30"/>
                <c:pt idx="0">
                  <c:v>-5.5006029999999999</c:v>
                </c:pt>
                <c:pt idx="1">
                  <c:v>-5.9084490000000001</c:v>
                </c:pt>
                <c:pt idx="2">
                  <c:v>2.6995499999999999</c:v>
                </c:pt>
                <c:pt idx="3">
                  <c:v>4.1069440000000004</c:v>
                </c:pt>
                <c:pt idx="4">
                  <c:v>8.6554570000000002</c:v>
                </c:pt>
                <c:pt idx="5">
                  <c:v>2.3965329999999998</c:v>
                </c:pt>
                <c:pt idx="6">
                  <c:v>-8.5655479999999997</c:v>
                </c:pt>
                <c:pt idx="7">
                  <c:v>0.50842200000000004</c:v>
                </c:pt>
                <c:pt idx="8">
                  <c:v>12.650861000000001</c:v>
                </c:pt>
                <c:pt idx="9">
                  <c:v>-5.7355169999999998</c:v>
                </c:pt>
                <c:pt idx="10">
                  <c:v>11.784784</c:v>
                </c:pt>
                <c:pt idx="11">
                  <c:v>-26.069286999999999</c:v>
                </c:pt>
                <c:pt idx="12">
                  <c:v>5.6064109999999996</c:v>
                </c:pt>
                <c:pt idx="13">
                  <c:v>10.025318</c:v>
                </c:pt>
                <c:pt idx="14">
                  <c:v>-11.478591</c:v>
                </c:pt>
                <c:pt idx="15">
                  <c:v>20.234998999999998</c:v>
                </c:pt>
                <c:pt idx="16">
                  <c:v>-8.759684</c:v>
                </c:pt>
                <c:pt idx="17">
                  <c:v>-4.1750939999999996</c:v>
                </c:pt>
                <c:pt idx="18">
                  <c:v>10.560885000000001</c:v>
                </c:pt>
                <c:pt idx="19">
                  <c:v>-5.8780989999999997</c:v>
                </c:pt>
                <c:pt idx="20">
                  <c:v>4.0198840000000002</c:v>
                </c:pt>
                <c:pt idx="21">
                  <c:v>3.772859</c:v>
                </c:pt>
                <c:pt idx="22">
                  <c:v>4.2599</c:v>
                </c:pt>
                <c:pt idx="23">
                  <c:v>0.61784799999999995</c:v>
                </c:pt>
                <c:pt idx="24">
                  <c:v>7.1366560000000003</c:v>
                </c:pt>
                <c:pt idx="25">
                  <c:v>0.21893799999999999</c:v>
                </c:pt>
                <c:pt idx="26">
                  <c:v>9.4890329999999992</c:v>
                </c:pt>
                <c:pt idx="27">
                  <c:v>11.02197</c:v>
                </c:pt>
                <c:pt idx="28">
                  <c:v>-10.847007</c:v>
                </c:pt>
                <c:pt idx="29">
                  <c:v>9.7750889999999995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252-4C91-AA19-056EF417375F}"/>
            </c:ext>
          </c:extLst>
        </c:ser>
        <c:ser>
          <c:idx val="1"/>
          <c:order val="1"/>
          <c:tx>
            <c:v>Wiener</c:v>
          </c:tx>
          <c:spPr>
            <a:ln w="22860">
              <a:solidFill>
                <a:srgbClr val="555555"/>
              </a:solidFill>
              <a:prstDash val="dash"/>
            </a:ln>
          </c:spPr>
          <c:marker>
            <c:symbol val="square"/>
            <c:size val="5"/>
            <c:spPr>
              <a:solidFill>
                <a:srgbClr val="555555"/>
              </a:solidFill>
              <a:ln w="9525">
                <a:solidFill>
                  <a:srgbClr val="555555"/>
                </a:solidFill>
              </a:ln>
            </c:spPr>
          </c:marker>
          <c:cat>
            <c:numRef>
              <c:f>'Chart Data'!$C$2:$C$31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'Chart Data'!$D$2:$D$31</c:f>
              <c:numCache>
                <c:formatCode>0.000</c:formatCode>
                <c:ptCount val="30"/>
                <c:pt idx="0">
                  <c:v>1.2161770000000001</c:v>
                </c:pt>
                <c:pt idx="1">
                  <c:v>2.7171530000000002</c:v>
                </c:pt>
                <c:pt idx="2">
                  <c:v>-5.0175859999999997</c:v>
                </c:pt>
                <c:pt idx="3">
                  <c:v>-4.7974909999999999</c:v>
                </c:pt>
                <c:pt idx="4">
                  <c:v>-6.4942760000000002</c:v>
                </c:pt>
                <c:pt idx="5">
                  <c:v>8.0348670000000002</c:v>
                </c:pt>
                <c:pt idx="6">
                  <c:v>2.3345310000000001</c:v>
                </c:pt>
                <c:pt idx="7">
                  <c:v>-5.1228000000000003E-2</c:v>
                </c:pt>
                <c:pt idx="8">
                  <c:v>-4.9412409999999998</c:v>
                </c:pt>
                <c:pt idx="9">
                  <c:v>-2.722</c:v>
                </c:pt>
                <c:pt idx="10">
                  <c:v>5.5867170000000002</c:v>
                </c:pt>
                <c:pt idx="11">
                  <c:v>6.5633229999999996</c:v>
                </c:pt>
                <c:pt idx="12">
                  <c:v>2.9121630000000001</c:v>
                </c:pt>
                <c:pt idx="13">
                  <c:v>2.068432</c:v>
                </c:pt>
                <c:pt idx="14">
                  <c:v>-1.4306160000000001</c:v>
                </c:pt>
                <c:pt idx="15">
                  <c:v>2.43275</c:v>
                </c:pt>
                <c:pt idx="16">
                  <c:v>17.393000000000001</c:v>
                </c:pt>
                <c:pt idx="17">
                  <c:v>9.4390319999999992</c:v>
                </c:pt>
                <c:pt idx="18">
                  <c:v>7.8415080000000001</c:v>
                </c:pt>
                <c:pt idx="19">
                  <c:v>-1.531477</c:v>
                </c:pt>
                <c:pt idx="20">
                  <c:v>2.7029260000000002</c:v>
                </c:pt>
                <c:pt idx="21">
                  <c:v>-4.5107000000000001E-2</c:v>
                </c:pt>
                <c:pt idx="22">
                  <c:v>12.382600999999999</c:v>
                </c:pt>
                <c:pt idx="23">
                  <c:v>-3.4985000000000002E-2</c:v>
                </c:pt>
                <c:pt idx="24">
                  <c:v>3.3989999999999999E-2</c:v>
                </c:pt>
                <c:pt idx="25">
                  <c:v>-3.439241</c:v>
                </c:pt>
                <c:pt idx="26">
                  <c:v>11.283227</c:v>
                </c:pt>
                <c:pt idx="27">
                  <c:v>-2.5299969999999998</c:v>
                </c:pt>
                <c:pt idx="28">
                  <c:v>1.623318</c:v>
                </c:pt>
                <c:pt idx="29">
                  <c:v>-5.1788340000000002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252-4C91-AA19-056EF417375F}"/>
            </c:ext>
          </c:extLst>
        </c:ser>
        <c:ser>
          <c:idx val="2"/>
          <c:order val="2"/>
          <c:tx>
            <c:v>MOSR</c:v>
          </c:tx>
          <c:spPr>
            <a:ln w="33338">
              <a:solidFill>
                <a:srgbClr val="111111"/>
              </a:solidFill>
              <a:prstDash val="solid"/>
            </a:ln>
          </c:spPr>
          <c:marker>
            <c:symbol val="circle"/>
            <c:size val="6"/>
            <c:spPr>
              <a:solidFill>
                <a:srgbClr val="111111"/>
              </a:solidFill>
              <a:ln w="9525">
                <a:solidFill>
                  <a:srgbClr val="111111"/>
                </a:solidFill>
              </a:ln>
            </c:spPr>
          </c:marker>
          <c:cat>
            <c:numRef>
              <c:f>'Chart Data'!$E$2:$E$31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'Chart Data'!$F$2:$F$31</c:f>
              <c:numCache>
                <c:formatCode>0.000</c:formatCode>
                <c:ptCount val="30"/>
                <c:pt idx="0">
                  <c:v>-3.227868</c:v>
                </c:pt>
                <c:pt idx="1">
                  <c:v>2.7109640000000002</c:v>
                </c:pt>
                <c:pt idx="2">
                  <c:v>-2.7459389999999999</c:v>
                </c:pt>
                <c:pt idx="3">
                  <c:v>-10.368061000000001</c:v>
                </c:pt>
                <c:pt idx="4">
                  <c:v>-3.9245939999999999</c:v>
                </c:pt>
                <c:pt idx="5">
                  <c:v>9.6614819999999995</c:v>
                </c:pt>
                <c:pt idx="6">
                  <c:v>-1.869753</c:v>
                </c:pt>
                <c:pt idx="7">
                  <c:v>-3.6534979999999999</c:v>
                </c:pt>
                <c:pt idx="8">
                  <c:v>2.0790890000000002</c:v>
                </c:pt>
                <c:pt idx="9">
                  <c:v>1.7638799999999999</c:v>
                </c:pt>
                <c:pt idx="10">
                  <c:v>-0.209511</c:v>
                </c:pt>
                <c:pt idx="11">
                  <c:v>6.087434</c:v>
                </c:pt>
                <c:pt idx="12">
                  <c:v>0.20949599999999999</c:v>
                </c:pt>
                <c:pt idx="13">
                  <c:v>2.521649</c:v>
                </c:pt>
                <c:pt idx="14">
                  <c:v>4.6349369999999999</c:v>
                </c:pt>
                <c:pt idx="15">
                  <c:v>5.6154310000000001</c:v>
                </c:pt>
                <c:pt idx="16">
                  <c:v>0.25860300000000003</c:v>
                </c:pt>
                <c:pt idx="17">
                  <c:v>1.537293</c:v>
                </c:pt>
                <c:pt idx="18">
                  <c:v>1.8374619999999999</c:v>
                </c:pt>
                <c:pt idx="19">
                  <c:v>1.1707259999999999</c:v>
                </c:pt>
                <c:pt idx="20">
                  <c:v>1.5935090000000001</c:v>
                </c:pt>
                <c:pt idx="21">
                  <c:v>1.493215</c:v>
                </c:pt>
                <c:pt idx="22">
                  <c:v>5.060378</c:v>
                </c:pt>
                <c:pt idx="23">
                  <c:v>-2.324919</c:v>
                </c:pt>
                <c:pt idx="24">
                  <c:v>8.5973679999999995</c:v>
                </c:pt>
                <c:pt idx="25">
                  <c:v>4.2865849999999996</c:v>
                </c:pt>
                <c:pt idx="26">
                  <c:v>0.36310500000000001</c:v>
                </c:pt>
                <c:pt idx="27">
                  <c:v>5.261717</c:v>
                </c:pt>
                <c:pt idx="28">
                  <c:v>4.0812470000000003</c:v>
                </c:pt>
                <c:pt idx="29">
                  <c:v>1.1231310000000001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252-4C91-AA19-056EF41737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875" b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Step number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low"/>
        <c:spPr>
          <a:ln w="11430">
            <a:solidFill>
              <a:srgbClr val="111111"/>
            </a:solidFill>
          </a:ln>
        </c:spPr>
        <c:txPr>
          <a:bodyPr anchorCtr="1"/>
          <a:lstStyle/>
          <a:p>
            <a:pPr>
              <a:defRPr sz="18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30"/>
          <c:min val="-30"/>
        </c:scaling>
        <c:delete val="0"/>
        <c:axPos val="l"/>
        <c:majorGridlines>
          <c:spPr>
            <a:ln w="7620">
              <a:solidFill>
                <a:srgbClr val="D6D6D6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100" b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Measured step − 1 µm (nm)</a:t>
                </a:r>
              </a:p>
            </c:rich>
          </c:tx>
          <c:overlay val="0"/>
        </c:title>
        <c:numFmt formatCode="0" sourceLinked="0"/>
        <c:majorTickMark val="none"/>
        <c:minorTickMark val="none"/>
        <c:tickLblPos val="nextTo"/>
        <c:spPr>
          <a:ln w="11430">
            <a:solidFill>
              <a:srgbClr val="111111"/>
            </a:solidFill>
          </a:ln>
        </c:spPr>
        <c:txPr>
          <a:bodyPr anchorCtr="1"/>
          <a:lstStyle/>
          <a:p>
            <a:pPr>
              <a:defRPr sz="21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endParaRPr lang="zh-TW"/>
          </a:p>
        </c:txPr>
        <c:crossAx val="48650112"/>
        <c:crosses val="min"/>
        <c:crossBetween val="between"/>
        <c:majorUnit val="10"/>
      </c:valAx>
      <c:spPr>
        <a:solidFill>
          <a:srgbClr val="FFFFFF"/>
        </a:solidFill>
        <a:ln w="0">
          <a:noFill/>
        </a:ln>
      </c:spPr>
    </c:plotArea>
    <c:legend>
      <c:legendPos val="t"/>
      <c:overlay val="0"/>
      <c:txPr>
        <a:bodyPr anchorCtr="1"/>
        <a:lstStyle/>
        <a:p>
          <a:pPr>
            <a:defRPr sz="2175" b="0">
              <a:solidFill>
                <a:srgbClr val="111111"/>
              </a:solidFill>
              <a:latin typeface="Times New Roman"/>
              <a:ea typeface="Times New Roman"/>
              <a:cs typeface="Times New Roman"/>
            </a:defRPr>
          </a:pPr>
          <a:endParaRPr lang="zh-TW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Raw QA</c:v>
          </c:tx>
          <c:spPr>
            <a:ln w="22860">
              <a:solidFill>
                <a:srgbClr val="999999"/>
              </a:solidFill>
              <a:prstDash val="solid"/>
            </a:ln>
          </c:spPr>
          <c:marker>
            <c:symbol val="triangle"/>
            <c:size val="5"/>
            <c:spPr>
              <a:solidFill>
                <a:srgbClr val="999999"/>
              </a:solidFill>
              <a:ln w="9525">
                <a:solidFill>
                  <a:srgbClr val="999999"/>
                </a:solidFill>
              </a:ln>
            </c:spPr>
          </c:marker>
          <c:cat>
            <c:numRef>
              <c:f>'Chart Data'!$A$2:$A$31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'Chart Data'!$B$2:$B$31</c:f>
              <c:numCache>
                <c:formatCode>0.000</c:formatCode>
                <c:ptCount val="30"/>
                <c:pt idx="0">
                  <c:v>2.6863679999999999</c:v>
                </c:pt>
                <c:pt idx="1">
                  <c:v>9.1825340000000004</c:v>
                </c:pt>
                <c:pt idx="2">
                  <c:v>2.1384530000000002</c:v>
                </c:pt>
                <c:pt idx="3">
                  <c:v>19.038464000000001</c:v>
                </c:pt>
                <c:pt idx="4">
                  <c:v>7.5524100000000001</c:v>
                </c:pt>
                <c:pt idx="5">
                  <c:v>8.2924849999999992</c:v>
                </c:pt>
                <c:pt idx="6">
                  <c:v>1.938353</c:v>
                </c:pt>
                <c:pt idx="7">
                  <c:v>0.16975599999999999</c:v>
                </c:pt>
                <c:pt idx="8">
                  <c:v>12.516923</c:v>
                </c:pt>
                <c:pt idx="9">
                  <c:v>-7.5246040000000001</c:v>
                </c:pt>
                <c:pt idx="10">
                  <c:v>7.5557429999999997</c:v>
                </c:pt>
                <c:pt idx="11">
                  <c:v>-6.0163200000000003</c:v>
                </c:pt>
                <c:pt idx="12">
                  <c:v>2.9377589999999998</c:v>
                </c:pt>
                <c:pt idx="13">
                  <c:v>4.8499739999999996</c:v>
                </c:pt>
                <c:pt idx="14">
                  <c:v>-1.9919309999999999</c:v>
                </c:pt>
                <c:pt idx="15">
                  <c:v>7.0065039999999996</c:v>
                </c:pt>
                <c:pt idx="16">
                  <c:v>10.385565</c:v>
                </c:pt>
                <c:pt idx="17">
                  <c:v>4.3704320000000001</c:v>
                </c:pt>
                <c:pt idx="18">
                  <c:v>-4.6052169999999997</c:v>
                </c:pt>
                <c:pt idx="19">
                  <c:v>1.729503</c:v>
                </c:pt>
                <c:pt idx="20">
                  <c:v>6.6399879999999998</c:v>
                </c:pt>
                <c:pt idx="21">
                  <c:v>2.9527909999999999</c:v>
                </c:pt>
                <c:pt idx="22">
                  <c:v>1.565323</c:v>
                </c:pt>
                <c:pt idx="23">
                  <c:v>-1.8421129999999999</c:v>
                </c:pt>
                <c:pt idx="24">
                  <c:v>11.002117999999999</c:v>
                </c:pt>
                <c:pt idx="25">
                  <c:v>7.2658969999999998</c:v>
                </c:pt>
                <c:pt idx="26">
                  <c:v>-3.0469620000000002</c:v>
                </c:pt>
                <c:pt idx="27">
                  <c:v>12.251693</c:v>
                </c:pt>
                <c:pt idx="28">
                  <c:v>1.9229430000000001</c:v>
                </c:pt>
                <c:pt idx="29">
                  <c:v>4.4843349999999997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6E9-4DB1-B5E4-2D6E2E4151C4}"/>
            </c:ext>
          </c:extLst>
        </c:ser>
        <c:ser>
          <c:idx val="1"/>
          <c:order val="1"/>
          <c:tx>
            <c:v>Wiener</c:v>
          </c:tx>
          <c:spPr>
            <a:ln w="22860">
              <a:solidFill>
                <a:srgbClr val="555555"/>
              </a:solidFill>
              <a:prstDash val="dash"/>
            </a:ln>
          </c:spPr>
          <c:marker>
            <c:symbol val="square"/>
            <c:size val="5"/>
            <c:spPr>
              <a:solidFill>
                <a:srgbClr val="555555"/>
              </a:solidFill>
              <a:ln w="9525">
                <a:solidFill>
                  <a:srgbClr val="555555"/>
                </a:solidFill>
              </a:ln>
            </c:spPr>
          </c:marker>
          <c:cat>
            <c:numRef>
              <c:f>'Chart Data'!$C$2:$C$31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'Chart Data'!$D$2:$D$31</c:f>
              <c:numCache>
                <c:formatCode>0.000</c:formatCode>
                <c:ptCount val="30"/>
                <c:pt idx="0">
                  <c:v>0.77691200000000005</c:v>
                </c:pt>
                <c:pt idx="1">
                  <c:v>9.5928310000000003</c:v>
                </c:pt>
                <c:pt idx="2">
                  <c:v>0.73385100000000003</c:v>
                </c:pt>
                <c:pt idx="3">
                  <c:v>9.5360130000000005</c:v>
                </c:pt>
                <c:pt idx="4">
                  <c:v>6.0437609999999999</c:v>
                </c:pt>
                <c:pt idx="5">
                  <c:v>8.9377960000000005</c:v>
                </c:pt>
                <c:pt idx="6">
                  <c:v>5.0385770000000001</c:v>
                </c:pt>
                <c:pt idx="7">
                  <c:v>-2.2349890000000001</c:v>
                </c:pt>
                <c:pt idx="8">
                  <c:v>8.7415830000000003</c:v>
                </c:pt>
                <c:pt idx="9">
                  <c:v>-9.1881740000000001</c:v>
                </c:pt>
                <c:pt idx="10">
                  <c:v>4.8370240000000004</c:v>
                </c:pt>
                <c:pt idx="11">
                  <c:v>2.31548</c:v>
                </c:pt>
                <c:pt idx="12">
                  <c:v>0.54845299999999997</c:v>
                </c:pt>
                <c:pt idx="13">
                  <c:v>0.92232800000000004</c:v>
                </c:pt>
                <c:pt idx="14">
                  <c:v>1.6563639999999999</c:v>
                </c:pt>
                <c:pt idx="15">
                  <c:v>7.4693759999999996</c:v>
                </c:pt>
                <c:pt idx="16">
                  <c:v>8.8940750000000008</c:v>
                </c:pt>
                <c:pt idx="17">
                  <c:v>1.7939529999999999</c:v>
                </c:pt>
                <c:pt idx="18">
                  <c:v>-7.0049380000000001</c:v>
                </c:pt>
                <c:pt idx="19">
                  <c:v>0.58665400000000001</c:v>
                </c:pt>
                <c:pt idx="20">
                  <c:v>6.626341</c:v>
                </c:pt>
                <c:pt idx="21">
                  <c:v>1.4773750000000001</c:v>
                </c:pt>
                <c:pt idx="22">
                  <c:v>1.980899</c:v>
                </c:pt>
                <c:pt idx="23">
                  <c:v>2.5076990000000001</c:v>
                </c:pt>
                <c:pt idx="24">
                  <c:v>3.5724849999999999</c:v>
                </c:pt>
                <c:pt idx="25">
                  <c:v>8.7267119999999991</c:v>
                </c:pt>
                <c:pt idx="26">
                  <c:v>3.9027099999999999</c:v>
                </c:pt>
                <c:pt idx="27">
                  <c:v>10.370118</c:v>
                </c:pt>
                <c:pt idx="28">
                  <c:v>7.7914880000000002</c:v>
                </c:pt>
                <c:pt idx="29">
                  <c:v>4.2994620000000001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6E9-4DB1-B5E4-2D6E2E4151C4}"/>
            </c:ext>
          </c:extLst>
        </c:ser>
        <c:ser>
          <c:idx val="2"/>
          <c:order val="2"/>
          <c:tx>
            <c:v>MOSR</c:v>
          </c:tx>
          <c:spPr>
            <a:ln w="33338">
              <a:solidFill>
                <a:srgbClr val="111111"/>
              </a:solidFill>
              <a:prstDash val="solid"/>
            </a:ln>
          </c:spPr>
          <c:marker>
            <c:symbol val="circle"/>
            <c:size val="6"/>
            <c:spPr>
              <a:solidFill>
                <a:srgbClr val="111111"/>
              </a:solidFill>
              <a:ln w="9525">
                <a:solidFill>
                  <a:srgbClr val="111111"/>
                </a:solidFill>
              </a:ln>
            </c:spPr>
          </c:marker>
          <c:cat>
            <c:numRef>
              <c:f>'Chart Data'!$E$2:$E$31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'Chart Data'!$F$2:$F$31</c:f>
              <c:numCache>
                <c:formatCode>0.000</c:formatCode>
                <c:ptCount val="30"/>
                <c:pt idx="0">
                  <c:v>0.68023199999999995</c:v>
                </c:pt>
                <c:pt idx="1">
                  <c:v>12.242884999999999</c:v>
                </c:pt>
                <c:pt idx="2">
                  <c:v>1.8637349999999999</c:v>
                </c:pt>
                <c:pt idx="3">
                  <c:v>12.564693999999999</c:v>
                </c:pt>
                <c:pt idx="4">
                  <c:v>5.4356549999999997</c:v>
                </c:pt>
                <c:pt idx="5">
                  <c:v>7.2083909999999998</c:v>
                </c:pt>
                <c:pt idx="6">
                  <c:v>4.6233230000000001</c:v>
                </c:pt>
                <c:pt idx="7">
                  <c:v>-1.3054760000000001</c:v>
                </c:pt>
                <c:pt idx="8">
                  <c:v>7.4240370000000002</c:v>
                </c:pt>
                <c:pt idx="9">
                  <c:v>-7.9767039999999998</c:v>
                </c:pt>
                <c:pt idx="10">
                  <c:v>3.492664</c:v>
                </c:pt>
                <c:pt idx="11">
                  <c:v>-1.5366070000000001</c:v>
                </c:pt>
                <c:pt idx="12">
                  <c:v>0.76875700000000002</c:v>
                </c:pt>
                <c:pt idx="13">
                  <c:v>0.78267799999999998</c:v>
                </c:pt>
                <c:pt idx="14">
                  <c:v>-0.286744</c:v>
                </c:pt>
                <c:pt idx="15">
                  <c:v>4.9450260000000004</c:v>
                </c:pt>
                <c:pt idx="16">
                  <c:v>9.1927389999999995</c:v>
                </c:pt>
                <c:pt idx="17">
                  <c:v>1.055709</c:v>
                </c:pt>
                <c:pt idx="18">
                  <c:v>-5.153098</c:v>
                </c:pt>
                <c:pt idx="19">
                  <c:v>-0.64555099999999999</c:v>
                </c:pt>
                <c:pt idx="20">
                  <c:v>6.0375779999999999</c:v>
                </c:pt>
                <c:pt idx="21">
                  <c:v>0.46535599999999999</c:v>
                </c:pt>
                <c:pt idx="22">
                  <c:v>4.159249</c:v>
                </c:pt>
                <c:pt idx="23">
                  <c:v>3.294079</c:v>
                </c:pt>
                <c:pt idx="24">
                  <c:v>2.3063400000000001</c:v>
                </c:pt>
                <c:pt idx="25">
                  <c:v>6.3042030000000002</c:v>
                </c:pt>
                <c:pt idx="26">
                  <c:v>2.7821259999999999</c:v>
                </c:pt>
                <c:pt idx="27">
                  <c:v>8.7737049999999996</c:v>
                </c:pt>
                <c:pt idx="28">
                  <c:v>3.9204110000000001</c:v>
                </c:pt>
                <c:pt idx="29">
                  <c:v>2.0864349999999998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6E9-4DB1-B5E4-2D6E2E4151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875" b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Pair number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low"/>
        <c:spPr>
          <a:ln w="11430">
            <a:solidFill>
              <a:srgbClr val="111111"/>
            </a:solidFill>
          </a:ln>
        </c:spPr>
        <c:txPr>
          <a:bodyPr anchorCtr="1"/>
          <a:lstStyle/>
          <a:p>
            <a:pPr>
              <a:defRPr sz="18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30"/>
          <c:min val="-30"/>
        </c:scaling>
        <c:delete val="0"/>
        <c:axPos val="l"/>
        <c:majorGridlines>
          <c:spPr>
            <a:ln w="7620">
              <a:solidFill>
                <a:srgbClr val="D6D6D6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100" b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Measured step − 1 µm (nm)</a:t>
                </a:r>
              </a:p>
            </c:rich>
          </c:tx>
          <c:overlay val="0"/>
        </c:title>
        <c:numFmt formatCode="0" sourceLinked="0"/>
        <c:majorTickMark val="none"/>
        <c:minorTickMark val="none"/>
        <c:tickLblPos val="nextTo"/>
        <c:spPr>
          <a:ln w="11430">
            <a:solidFill>
              <a:srgbClr val="111111"/>
            </a:solidFill>
          </a:ln>
        </c:spPr>
        <c:txPr>
          <a:bodyPr anchorCtr="1"/>
          <a:lstStyle/>
          <a:p>
            <a:pPr>
              <a:defRPr sz="21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endParaRPr lang="zh-TW"/>
          </a:p>
        </c:txPr>
        <c:crossAx val="48650112"/>
        <c:crosses val="min"/>
        <c:crossBetween val="between"/>
        <c:majorUnit val="10"/>
      </c:valAx>
      <c:spPr>
        <a:solidFill>
          <a:srgbClr val="FFFFFF"/>
        </a:solidFill>
        <a:ln w="0">
          <a:noFill/>
        </a:ln>
      </c:spPr>
    </c:plotArea>
    <c:legend>
      <c:legendPos val="t"/>
      <c:overlay val="0"/>
      <c:txPr>
        <a:bodyPr anchorCtr="1"/>
        <a:lstStyle/>
        <a:p>
          <a:pPr>
            <a:defRPr sz="2175" b="0">
              <a:solidFill>
                <a:srgbClr val="111111"/>
              </a:solidFill>
              <a:latin typeface="Times New Roman"/>
              <a:ea typeface="Times New Roman"/>
              <a:cs typeface="Times New Roman"/>
            </a:defRPr>
          </a:pPr>
          <a:endParaRPr lang="zh-TW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t>Public model: MOSR. Source model identity: unchanged delivered R152 checkpoint.</a:t>
            </a:r>
          </a:p>
          <a:p>
            <a:pPr>
              <a:buNone/>
            </a:pPr>
            <a:r>
              <a:t>Data: C:\Users\Rio\.codex\worktrees\impact-r152\GMM_2_Final\Experiments\R152_IMPACT2026Validation\results\separate_conditions\poster_data_30steps.json</a:t>
            </a:r>
          </a:p>
          <a:p>
            <a:pPr>
              <a:buNone/>
            </a:pPr>
            <a:r>
              <a:t>20x: September 3 thesis run 003412_XY_0, acquisition run 7, the first evaluation run after the existing first-six-RAW-scan direction calibration split. Use all 31 frames and all 30 adjacent steps. This presentation selection follows the user request after full 30-scan auditing and is not a preregistered original-study choice.</a:t>
            </a:r>
          </a:p>
          <a:p>
            <a:pPr>
              <a:buNone/>
            </a:pPr>
            <a:r>
              <a:t>50x: July 2 original 1 micrometer cohort, all 30 original Raw-locked adjacent pairs, ordered by acquisition index. They are selected pairs rather than a new 31-frame scan.</a:t>
            </a:r>
          </a:p>
          <a:p>
            <a:pPr>
              <a:buNone/>
            </a:pPr>
            <a:r>
              <a:t>Each headline is 100*(1-SD(MOSR)/SD(Raw)), using sample SD of exactly 30 image-measured steps in that condition. There is no pooled scan statistic and no cross-objective average on this poster.</a:t>
            </a:r>
          </a:p>
          <a:p>
            <a:pPr>
              <a:buNone/>
            </a:pPr>
            <a:r>
              <a:t>Curve values are observed image-measured displacements minus nominal 1000 nm, with identical axes in both plots. No per-method recentering, detrending, scaling, clipping or outlier removal is applied.</a:t>
            </a:r>
          </a:p>
          <a:p>
            <a:pPr>
              <a:buNone/>
            </a:pPr>
            <a:r>
              <a:t>The complete 30-scan 20x study and 0.5 micrometer 50x result remain in the supplementary records. The submitted two-page manuscript is unchanged.</a:t>
            </a:r>
          </a:p>
          <a:p>
            <a:pPr>
              <a:buNone/>
            </a:pPr>
            <a:r>
              <a:t>Both methods use the same normal-gradient geometric LSC family with the same settings within each condition. The submitted manuscript supplies references [1]-[4].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408086-EAF8-45E3-BFD7-1AB6D6FD8F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68563" y="13635038"/>
            <a:ext cx="27981275" cy="9407525"/>
          </a:xfrm>
          <a:prstGeom prst="rect">
            <a:avLst/>
          </a:prstGeom>
        </p:spPr>
        <p:txBody>
          <a:bodyPr/>
          <a:lstStyle/>
          <a:p>
            <a:r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A7F62CB-05FD-429E-BFC5-3716A22CDB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37125" y="24871363"/>
            <a:ext cx="23044150" cy="112172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t>按一下以編輯母片副標題樣式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538775-CE93-4CFD-A89F-B9A735C07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6238" y="1757363"/>
            <a:ext cx="29625925" cy="7315200"/>
          </a:xfrm>
          <a:prstGeom prst="rect">
            <a:avLst/>
          </a:prstGeom>
        </p:spPr>
        <p:txBody>
          <a:bodyPr/>
          <a:lstStyle/>
          <a:p>
            <a:r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AD36F17-30DC-4254-9A3F-A4929F6679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6238" y="10240963"/>
            <a:ext cx="29625925" cy="28967112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AE3B74-81F9-45C8-9749-4CFA83883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0325" y="28203525"/>
            <a:ext cx="27981275" cy="8718550"/>
          </a:xfrm>
          <a:prstGeom prst="rect">
            <a:avLst/>
          </a:prstGeo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6079327-ED5D-46E8-B8B2-6A8BCCCF17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00325" y="18602325"/>
            <a:ext cx="27981275" cy="96012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>
              <a:buNone/>
            </a:pPr>
            <a:r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21E912-E809-478E-8095-3AA955C7A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6238" y="1757363"/>
            <a:ext cx="29625925" cy="7315200"/>
          </a:xfrm>
          <a:prstGeom prst="rect">
            <a:avLst/>
          </a:prstGeom>
        </p:spPr>
        <p:txBody>
          <a:bodyPr/>
          <a:lstStyle/>
          <a:p>
            <a:r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78AC39D-F121-445F-AE6B-6020EA383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6238" y="10240963"/>
            <a:ext cx="14736762" cy="28967112"/>
          </a:xfrm>
          <a:prstGeom prst="rect">
            <a:avLst/>
          </a:prstGeo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26CE016-F93C-4A44-96D7-E72AA12C7D40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6535400" y="10240963"/>
            <a:ext cx="14736763" cy="28967112"/>
          </a:xfrm>
          <a:prstGeom prst="rect">
            <a:avLst/>
          </a:prstGeo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90C65F-B82E-44C7-98C9-8E5A0C8F8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6238" y="1757363"/>
            <a:ext cx="29625925" cy="7315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C6749D6-A534-492E-B708-DD056CCEF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46238" y="9825038"/>
            <a:ext cx="14544675" cy="40941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C493732-4F33-4CFA-81F1-1077F2A81356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646238" y="13919200"/>
            <a:ext cx="14544675" cy="25288875"/>
          </a:xfrm>
          <a:prstGeom prst="rect">
            <a:avLst/>
          </a:prstGeo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486FCC7-792A-41F7-8B25-7B6012F6D5B6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16722725" y="9825038"/>
            <a:ext cx="14549438" cy="40941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C8D23BA-462C-4263-8F48-88B089EDB614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16722725" y="13919200"/>
            <a:ext cx="14549438" cy="25288875"/>
          </a:xfrm>
          <a:prstGeom prst="rect">
            <a:avLst/>
          </a:prstGeo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DC36E8-6CBF-4E29-8F14-63EC1EB86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6238" y="1757363"/>
            <a:ext cx="29625925" cy="7315200"/>
          </a:xfrm>
          <a:prstGeom prst="rect">
            <a:avLst/>
          </a:prstGeom>
        </p:spPr>
        <p:txBody>
          <a:bodyPr/>
          <a:lstStyle/>
          <a:p>
            <a:r>
              <a:t>按一下以編輯母片標題樣式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238C99-66E7-479B-A0CC-1D3ED0C73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6238" y="1747838"/>
            <a:ext cx="10829925" cy="7437437"/>
          </a:xfrm>
          <a:prstGeom prst="rect">
            <a:avLst/>
          </a:prstGeo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72B08A7-6C1F-40E3-8C9E-46223F4EB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69863" y="1747838"/>
            <a:ext cx="18402300" cy="37460237"/>
          </a:xfrm>
          <a:prstGeom prst="rect">
            <a:avLst/>
          </a:prstGeo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2517DE1-1760-4924-A9F4-64B552AA6DC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646238" y="9185275"/>
            <a:ext cx="10829925" cy="30022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8D1863-6C0A-40C2-A14A-BF4C93D8A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600" y="30724475"/>
            <a:ext cx="19751675" cy="3625850"/>
          </a:xfrm>
          <a:prstGeom prst="rect">
            <a:avLst/>
          </a:prstGeo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1D389902-14A9-4AD1-87BF-B2027036AE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451600" y="3921125"/>
            <a:ext cx="19751675" cy="263350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buNone/>
            </a:pPr>
            <a:endParaRPr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4419BC6-B893-4438-9C43-BADD196E98F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51600" y="34350325"/>
            <a:ext cx="19751675" cy="51514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12B3E9-4D32-4965-9767-9FF817B16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6238" y="1757363"/>
            <a:ext cx="29625925" cy="7315200"/>
          </a:xfrm>
          <a:prstGeom prst="rect">
            <a:avLst/>
          </a:prstGeom>
        </p:spPr>
        <p:txBody>
          <a:bodyPr/>
          <a:lstStyle/>
          <a:p>
            <a:r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87F8207-4E0B-4620-9C54-963DDFBC33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46238" y="10240963"/>
            <a:ext cx="29625925" cy="28967112"/>
          </a:xfrm>
          <a:prstGeom prst="rect">
            <a:avLst/>
          </a:prstGeom>
        </p:spPr>
        <p:txBody>
          <a:bodyPr vert="eaVert"/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44C1F82-D0C0-418C-B6EA-C7687DA76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66475" y="1757363"/>
            <a:ext cx="7405688" cy="37450712"/>
          </a:xfrm>
          <a:prstGeom prst="rect">
            <a:avLst/>
          </a:prstGeom>
        </p:spPr>
        <p:txBody>
          <a:bodyPr vert="eaVert"/>
          <a:lstStyle/>
          <a:p>
            <a:r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C8073D7-A873-4610-B104-6AF994A7A3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46238" y="1757363"/>
            <a:ext cx="22067837" cy="37450712"/>
          </a:xfrm>
          <a:prstGeom prst="rect">
            <a:avLst/>
          </a:prstGeom>
        </p:spPr>
        <p:txBody>
          <a:bodyPr vert="eaVert"/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+mj-lt"/>
          <a:ea typeface="+mj-lt"/>
          <a:cs typeface="+mj-lt"/>
        </a:defRPr>
      </a:lvl1pPr>
      <a:lvl2pPr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2pPr>
      <a:lvl3pPr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3pPr>
      <a:lvl4pPr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4pPr>
      <a:lvl5pPr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5pPr>
      <a:lvl6pPr marL="4572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6pPr>
      <a:lvl7pPr marL="9144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7pPr>
      <a:lvl8pPr marL="13716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8pPr>
      <a:lvl9pPr marL="18288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9pPr>
    </p:titleStyle>
    <p:bodyStyle>
      <a:lvl1pPr marL="1646238" indent="-1646238" algn="l" defTabSz="4389438">
        <a:spcBef>
          <a:spcPct val="20000"/>
        </a:spcBef>
        <a:spcAft>
          <a:spcPct val="0"/>
        </a:spcAft>
        <a:buChar char="•"/>
        <a:defRPr sz="15400">
          <a:solidFill>
            <a:schemeClr val="tx1"/>
          </a:solidFill>
          <a:latin typeface="+mn-lt"/>
          <a:ea typeface="+mn-lt"/>
          <a:cs typeface="+mn-lt"/>
        </a:defRPr>
      </a:lvl1pPr>
      <a:lvl2pPr marL="3565525" indent="-1371600" algn="l" defTabSz="4389438">
        <a:spcBef>
          <a:spcPct val="20000"/>
        </a:spcBef>
        <a:spcAft>
          <a:spcPct val="0"/>
        </a:spcAft>
        <a:buChar char="–"/>
        <a:defRPr sz="13400">
          <a:solidFill>
            <a:schemeClr val="tx1"/>
          </a:solidFill>
          <a:latin typeface="+mn-lt"/>
          <a:ea typeface="+mn-lt"/>
          <a:cs typeface="+mn-lt"/>
        </a:defRPr>
      </a:lvl2pPr>
      <a:lvl3pPr marL="5486400" indent="-1096963" algn="l" defTabSz="4389438">
        <a:spcBef>
          <a:spcPct val="20000"/>
        </a:spcBef>
        <a:spcAft>
          <a:spcPct val="0"/>
        </a:spcAft>
        <a:buChar char="•"/>
        <a:defRPr sz="11500">
          <a:solidFill>
            <a:schemeClr val="tx1"/>
          </a:solidFill>
          <a:latin typeface="+mn-lt"/>
          <a:ea typeface="+mn-lt"/>
          <a:cs typeface="+mn-lt"/>
        </a:defRPr>
      </a:lvl3pPr>
      <a:lvl4pPr marL="7680325" indent="-1096963" algn="l" defTabSz="4389438">
        <a:spcBef>
          <a:spcPct val="20000"/>
        </a:spcBef>
        <a:spcAft>
          <a:spcPct val="0"/>
        </a:spcAft>
        <a:buChar char="–"/>
        <a:defRPr sz="9600">
          <a:solidFill>
            <a:schemeClr val="tx1"/>
          </a:solidFill>
          <a:latin typeface="+mn-lt"/>
          <a:ea typeface="+mn-lt"/>
          <a:cs typeface="+mn-lt"/>
        </a:defRPr>
      </a:lvl4pPr>
      <a:lvl5pPr marL="98758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5pPr>
      <a:lvl6pPr marL="103330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6pPr>
      <a:lvl7pPr marL="107902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7pPr>
      <a:lvl8pPr marL="112474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8pPr>
      <a:lvl9pPr marL="117046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3064"/>
            </a:gs>
            <a:gs pos="50000">
              <a:srgbClr val="EAEAEA"/>
            </a:gs>
            <a:gs pos="100000">
              <a:srgbClr val="00306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AutoShape 50">
            <a:extLst>
              <a:ext uri="{FF2B5EF4-FFF2-40B4-BE49-F238E27FC236}">
                <a16:creationId xmlns:a16="http://schemas.microsoft.com/office/drawing/2014/main" id="{45AF3B16-92C9-4B63-BB99-B0A6A8300EC3}"/>
              </a:ext>
            </a:extLst>
          </p:cNvPr>
          <p:cNvSpPr>
            <a:spLocks noGrp="1"/>
          </p:cNvSpPr>
          <p:nvPr/>
        </p:nvSpPr>
        <p:spPr>
          <a:xfrm>
            <a:off x="16518750" y="8037500"/>
            <a:ext cx="15243750" cy="3410000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3075" name="AutoShape 4">
            <a:extLst>
              <a:ext uri="{FF2B5EF4-FFF2-40B4-BE49-F238E27FC236}">
                <a16:creationId xmlns:a16="http://schemas.microsoft.com/office/drawing/2014/main" id="{06B93269-FC93-4109-A79A-88E08C33E52A}"/>
              </a:ext>
            </a:extLst>
          </p:cNvPr>
          <p:cNvSpPr>
            <a:spLocks noGrp="1"/>
          </p:cNvSpPr>
          <p:nvPr/>
        </p:nvSpPr>
        <p:spPr>
          <a:xfrm>
            <a:off x="562500" y="8000000"/>
            <a:ext cx="15243750" cy="3410000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3077" name="Text Box 10">
            <a:extLst>
              <a:ext uri="{FF2B5EF4-FFF2-40B4-BE49-F238E27FC236}">
                <a16:creationId xmlns:a16="http://schemas.microsoft.com/office/drawing/2014/main" id="{60C4A10B-A87F-4B22-82CB-DD80B26BD727}"/>
              </a:ext>
            </a:extLst>
          </p:cNvPr>
          <p:cNvSpPr>
            <a:spLocks noGrp="1"/>
          </p:cNvSpPr>
          <p:nvPr/>
        </p:nvSpPr>
        <p:spPr>
          <a:xfrm>
            <a:off x="1125000" y="29062500"/>
            <a:ext cx="14062500" cy="13593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Methods</a:t>
            </a:r>
          </a:p>
        </p:txBody>
      </p:sp>
      <p:sp>
        <p:nvSpPr>
          <p:cNvPr id="3078" name="Text Box 11">
            <a:extLst>
              <a:ext uri="{FF2B5EF4-FFF2-40B4-BE49-F238E27FC236}">
                <a16:creationId xmlns:a16="http://schemas.microsoft.com/office/drawing/2014/main" id="{221AD9D1-0226-440B-A3DA-6DD153247B05}"/>
              </a:ext>
            </a:extLst>
          </p:cNvPr>
          <p:cNvSpPr>
            <a:spLocks noGrp="1"/>
          </p:cNvSpPr>
          <p:nvPr/>
        </p:nvSpPr>
        <p:spPr>
          <a:xfrm>
            <a:off x="16968750" y="33562500"/>
            <a:ext cx="14156250" cy="13593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7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Conclusions</a:t>
            </a:r>
          </a:p>
        </p:txBody>
      </p:sp>
      <p:sp>
        <p:nvSpPr>
          <p:cNvPr id="3079" name="AutoShape 13">
            <a:extLst>
              <a:ext uri="{FF2B5EF4-FFF2-40B4-BE49-F238E27FC236}">
                <a16:creationId xmlns:a16="http://schemas.microsoft.com/office/drawing/2014/main" id="{87001057-A9F8-4E61-ACD9-3062DE42448E}"/>
              </a:ext>
            </a:extLst>
          </p:cNvPr>
          <p:cNvSpPr>
            <a:spLocks noGrp="1"/>
          </p:cNvSpPr>
          <p:nvPr/>
        </p:nvSpPr>
        <p:spPr>
          <a:xfrm>
            <a:off x="506250" y="500000"/>
            <a:ext cx="31387500" cy="6900000"/>
          </a:xfrm>
          <a:prstGeom prst="roundRect">
            <a:avLst>
              <a:gd name="adj" fmla="val 10870"/>
            </a:avLst>
          </a:prstGeom>
          <a:gradFill rotWithShape="1">
            <a:gsLst>
              <a:gs pos="0">
                <a:srgbClr val="A7C4FF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</a:ln>
        </p:spPr>
        <p:txBody>
          <a:bodyPr wrap="none" anchor="ctr"/>
          <a:lstStyle/>
          <a:p>
            <a:pPr algn="ctr" defTabSz="4389438"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080" name="Text Box 14">
            <a:extLst>
              <a:ext uri="{FF2B5EF4-FFF2-40B4-BE49-F238E27FC236}">
                <a16:creationId xmlns:a16="http://schemas.microsoft.com/office/drawing/2014/main" id="{99E695A8-C601-42BC-9999-D802F08C8DE8}"/>
              </a:ext>
            </a:extLst>
          </p:cNvPr>
          <p:cNvSpPr>
            <a:spLocks noGrp="1"/>
          </p:cNvSpPr>
          <p:nvPr/>
        </p:nvSpPr>
        <p:spPr>
          <a:xfrm>
            <a:off x="1125000" y="2625000"/>
            <a:ext cx="30187500" cy="417576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Measurement-Oriented Microscopy Reconstruction</a:t>
            </a:r>
          </a:p>
          <a:p>
            <a:pPr algn="ctr" defTabSz="4389438">
              <a:lnSpc>
                <a:spcPct val="102000"/>
              </a:lnSpc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for Cross-Magnification Micro-Displacement Inspection</a:t>
            </a:r>
          </a:p>
        </p:txBody>
      </p:sp>
      <p:sp>
        <p:nvSpPr>
          <p:cNvPr id="3084" name="Text Box 27">
            <a:extLst>
              <a:ext uri="{FF2B5EF4-FFF2-40B4-BE49-F238E27FC236}">
                <a16:creationId xmlns:a16="http://schemas.microsoft.com/office/drawing/2014/main" id="{4496260E-7609-40B1-B4F5-34F86E6C54D8}"/>
              </a:ext>
            </a:extLst>
          </p:cNvPr>
          <p:cNvSpPr>
            <a:spLocks noGrp="1"/>
          </p:cNvSpPr>
          <p:nvPr/>
        </p:nvSpPr>
        <p:spPr>
          <a:xfrm>
            <a:off x="17156250" y="37968750"/>
            <a:ext cx="13687500" cy="13593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56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6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Bibliography</a:t>
            </a:r>
          </a:p>
        </p:txBody>
      </p:sp>
      <p:sp>
        <p:nvSpPr>
          <p:cNvPr id="3090" name="Text Box 42">
            <a:extLst>
              <a:ext uri="{FF2B5EF4-FFF2-40B4-BE49-F238E27FC236}">
                <a16:creationId xmlns:a16="http://schemas.microsoft.com/office/drawing/2014/main" id="{C2F720DB-3B68-49C1-AE22-EF8FD779EDE8}"/>
              </a:ext>
            </a:extLst>
          </p:cNvPr>
          <p:cNvSpPr>
            <a:spLocks noGrp="1"/>
          </p:cNvSpPr>
          <p:nvPr/>
        </p:nvSpPr>
        <p:spPr>
          <a:xfrm>
            <a:off x="1125000" y="8596875"/>
            <a:ext cx="14062500" cy="13593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3091" name="Text Box 43">
            <a:extLst>
              <a:ext uri="{FF2B5EF4-FFF2-40B4-BE49-F238E27FC236}">
                <a16:creationId xmlns:a16="http://schemas.microsoft.com/office/drawing/2014/main" id="{76388F38-CCAD-4705-BF6E-6A1C1DFA68AC}"/>
              </a:ext>
            </a:extLst>
          </p:cNvPr>
          <p:cNvSpPr>
            <a:spLocks noGrp="1"/>
          </p:cNvSpPr>
          <p:nvPr/>
        </p:nvSpPr>
        <p:spPr>
          <a:xfrm>
            <a:off x="16968750" y="8615625"/>
            <a:ext cx="14156250" cy="13593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3092" name="Text Box 49">
            <a:extLst>
              <a:ext uri="{FF2B5EF4-FFF2-40B4-BE49-F238E27FC236}">
                <a16:creationId xmlns:a16="http://schemas.microsoft.com/office/drawing/2014/main" id="{E36F28AF-EABB-4EB8-9ED7-9154CEFEE8BE}"/>
              </a:ext>
            </a:extLst>
          </p:cNvPr>
          <p:cNvSpPr>
            <a:spLocks noGrp="1"/>
          </p:cNvSpPr>
          <p:nvPr/>
        </p:nvSpPr>
        <p:spPr>
          <a:xfrm>
            <a:off x="28200000" y="1846875"/>
            <a:ext cx="3281250" cy="167132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2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Paper Code:</a:t>
            </a:r>
          </a:p>
        </p:txBody>
      </p:sp>
      <p:pic>
        <p:nvPicPr>
          <p:cNvPr id="3147" name="圖片 2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940625" y="857813"/>
            <a:ext cx="2512500" cy="843750"/>
          </a:xfrm>
          <a:prstGeom prst="rect">
            <a:avLst/>
          </a:prstGeom>
          <a:ln w="9525">
            <a:noFill/>
            <a:miter/>
          </a:ln>
        </p:spPr>
      </p:pic>
      <p:sp>
        <p:nvSpPr>
          <p:cNvPr id="3096" name="authors">
            <a:extLst>
              <a:ext uri="{FF2B5EF4-FFF2-40B4-BE49-F238E27FC236}">
                <a16:creationId xmlns:a16="http://schemas.microsoft.com/office/drawing/2014/main" id="{C35648B5-472B-404F-BAE0-29C960A530C3}"/>
              </a:ext>
            </a:extLst>
          </p:cNvPr>
          <p:cNvSpPr>
            <a:spLocks noGrp="1"/>
          </p:cNvSpPr>
          <p:nvPr/>
        </p:nvSpPr>
        <p:spPr>
          <a:xfrm>
            <a:off x="1500000" y="5437500"/>
            <a:ext cx="29343750" cy="675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4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Yen Hsuan Chiang, Liang-Chia Chen*</a:t>
            </a:r>
          </a:p>
        </p:txBody>
      </p:sp>
      <p:sp>
        <p:nvSpPr>
          <p:cNvPr id="3097" name="affiliation">
            <a:extLst>
              <a:ext uri="{FF2B5EF4-FFF2-40B4-BE49-F238E27FC236}">
                <a16:creationId xmlns:a16="http://schemas.microsoft.com/office/drawing/2014/main" id="{91FFB1B9-5310-4C8E-83FE-1A58F7F4899B}"/>
              </a:ext>
            </a:extLst>
          </p:cNvPr>
          <p:cNvSpPr>
            <a:spLocks noGrp="1"/>
          </p:cNvSpPr>
          <p:nvPr/>
        </p:nvSpPr>
        <p:spPr>
          <a:xfrm>
            <a:off x="1500000" y="6140625"/>
            <a:ext cx="29343750" cy="515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34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4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Department of Mechanical Engineering, National Taiwan University</a:t>
            </a:r>
          </a:p>
        </p:txBody>
      </p:sp>
      <p:sp>
        <p:nvSpPr>
          <p:cNvPr id="3098" name="contact">
            <a:extLst>
              <a:ext uri="{FF2B5EF4-FFF2-40B4-BE49-F238E27FC236}">
                <a16:creationId xmlns:a16="http://schemas.microsoft.com/office/drawing/2014/main" id="{9C402D2B-005F-4037-A776-ED3AC1718596}"/>
              </a:ext>
            </a:extLst>
          </p:cNvPr>
          <p:cNvSpPr>
            <a:spLocks noGrp="1"/>
          </p:cNvSpPr>
          <p:nvPr/>
        </p:nvSpPr>
        <p:spPr>
          <a:xfrm>
            <a:off x="1593750" y="6759375"/>
            <a:ext cx="29156250" cy="431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No. 1, Sec. 4, Roosevelt Rd., Taipei 10617, Taiwan.  *Correspondence: lchen@ntu.edu.tw</a:t>
            </a:r>
          </a:p>
        </p:txBody>
      </p:sp>
      <p:sp>
        <p:nvSpPr>
          <p:cNvPr id="3099" name="intro_body">
            <a:extLst>
              <a:ext uri="{FF2B5EF4-FFF2-40B4-BE49-F238E27FC236}">
                <a16:creationId xmlns:a16="http://schemas.microsoft.com/office/drawing/2014/main" id="{A11441C3-C67B-40A1-AFB0-D6257768612B}"/>
              </a:ext>
            </a:extLst>
          </p:cNvPr>
          <p:cNvSpPr>
            <a:spLocks noGrp="1"/>
          </p:cNvSpPr>
          <p:nvPr/>
        </p:nvSpPr>
        <p:spPr>
          <a:xfrm>
            <a:off x="1171875" y="10218750"/>
            <a:ext cx="13875000" cy="600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Optical inspection estimates motion from image features. A sharper reconstructed edge is useful when its measured position remains stable. Optical blur, pixel sampling and reconstruction-induced boundary shifts can all change the reported displacement, especially when an inspection workflow switches objectives.</a:t>
            </a:r>
          </a:p>
          <a:p>
            <a:endParaRPr sz="2900" b="0" i="0">
              <a:solidFill>
                <a:srgbClr val="111111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MOSR combines U-Net context [1], calibrated optical guidance and anti-aliased processing [2] to address these effects. Bounded correction retains the original image grid and limits geometry changes while improving boundary visibility. One fixed set of learned weights serves both objectives.</a:t>
            </a:r>
          </a:p>
          <a:p>
            <a:endParaRPr sz="2900" b="0" i="0">
              <a:solidFill>
                <a:srgbClr val="111111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At a common nominal step of 1 µm, this study compares Raw, fixed Wiener and MOSR at 20× and 50×. Each condition contributes 30 measured single steps. The central outcome is the variation of these steps, linking reconstruction quality directly to displacement measurement.</a:t>
            </a:r>
          </a:p>
        </p:txBody>
      </p:sp>
      <p:sp>
        <p:nvSpPr>
          <p:cNvPr id="3100" name="raw_label">
            <a:extLst>
              <a:ext uri="{FF2B5EF4-FFF2-40B4-BE49-F238E27FC236}">
                <a16:creationId xmlns:a16="http://schemas.microsoft.com/office/drawing/2014/main" id="{19CEA3AC-F667-4309-81F7-EE25B70FB08D}"/>
              </a:ext>
            </a:extLst>
          </p:cNvPr>
          <p:cNvSpPr>
            <a:spLocks noGrp="1"/>
          </p:cNvSpPr>
          <p:nvPr/>
        </p:nvSpPr>
        <p:spPr>
          <a:xfrm>
            <a:off x="1893750" y="16406250"/>
            <a:ext cx="4968750" cy="609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Raw</a:t>
            </a:r>
          </a:p>
        </p:txBody>
      </p:sp>
      <p:sp>
        <p:nvSpPr>
          <p:cNvPr id="3101" name="mosr_label">
            <a:extLst>
              <a:ext uri="{FF2B5EF4-FFF2-40B4-BE49-F238E27FC236}">
                <a16:creationId xmlns:a16="http://schemas.microsoft.com/office/drawing/2014/main" id="{527AAAAA-5E56-4514-9ED1-31ACE576D0FF}"/>
              </a:ext>
            </a:extLst>
          </p:cNvPr>
          <p:cNvSpPr>
            <a:spLocks noGrp="1"/>
          </p:cNvSpPr>
          <p:nvPr/>
        </p:nvSpPr>
        <p:spPr>
          <a:xfrm>
            <a:off x="9300000" y="16406250"/>
            <a:ext cx="4968750" cy="609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MOSR</a:t>
            </a:r>
          </a:p>
        </p:txBody>
      </p:sp>
      <p:sp>
        <p:nvSpPr>
          <p:cNvPr id="3102" name="mag-20x">
            <a:extLst>
              <a:ext uri="{FF2B5EF4-FFF2-40B4-BE49-F238E27FC236}">
                <a16:creationId xmlns:a16="http://schemas.microsoft.com/office/drawing/2014/main" id="{C852B771-A49F-466C-9729-ED060D8B04A9}"/>
              </a:ext>
            </a:extLst>
          </p:cNvPr>
          <p:cNvSpPr>
            <a:spLocks noGrp="1"/>
          </p:cNvSpPr>
          <p:nvPr/>
        </p:nvSpPr>
        <p:spPr>
          <a:xfrm>
            <a:off x="1171875" y="16734375"/>
            <a:ext cx="1546875" cy="515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9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20×</a:t>
            </a:r>
          </a:p>
        </p:txBody>
      </p:sp>
      <p:pic>
        <p:nvPicPr>
          <p:cNvPr id="3155" name="圖片 315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893750" y="17250000"/>
            <a:ext cx="4968750" cy="4968750"/>
          </a:xfrm>
          <a:prstGeom prst="rect">
            <a:avLst/>
          </a:prstGeom>
        </p:spPr>
      </p:pic>
      <p:sp>
        <p:nvSpPr>
          <p:cNvPr id="3104" name="scale-20x-Raw">
            <a:extLst>
              <a:ext uri="{FF2B5EF4-FFF2-40B4-BE49-F238E27FC236}">
                <a16:creationId xmlns:a16="http://schemas.microsoft.com/office/drawing/2014/main" id="{8DB6C5DB-0990-404E-BAB8-3E65FABFDB6F}"/>
              </a:ext>
            </a:extLst>
          </p:cNvPr>
          <p:cNvSpPr>
            <a:spLocks noGrp="1"/>
          </p:cNvSpPr>
          <p:nvPr/>
        </p:nvSpPr>
        <p:spPr>
          <a:xfrm>
            <a:off x="5931096" y="21871875"/>
            <a:ext cx="593904" cy="0"/>
          </a:xfrm>
          <a:prstGeom prst="line">
            <a:avLst/>
          </a:prstGeom>
          <a:noFill/>
          <a:ln w="56250">
            <a:solidFill>
              <a:srgbClr val="FFFFFF"/>
            </a:solidFill>
          </a:ln>
        </p:spPr>
      </p:sp>
      <p:sp>
        <p:nvSpPr>
          <p:cNvPr id="3105" name="scale-label-20x-Raw">
            <a:extLst>
              <a:ext uri="{FF2B5EF4-FFF2-40B4-BE49-F238E27FC236}">
                <a16:creationId xmlns:a16="http://schemas.microsoft.com/office/drawing/2014/main" id="{2FA1572D-B8E6-4D5A-98C1-EC7C9FEDD61A}"/>
              </a:ext>
            </a:extLst>
          </p:cNvPr>
          <p:cNvSpPr>
            <a:spLocks noGrp="1"/>
          </p:cNvSpPr>
          <p:nvPr/>
        </p:nvSpPr>
        <p:spPr>
          <a:xfrm>
            <a:off x="5743596" y="21365625"/>
            <a:ext cx="968904" cy="421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158" name="圖片 3157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300000" y="17250000"/>
            <a:ext cx="4968750" cy="4968750"/>
          </a:xfrm>
          <a:prstGeom prst="rect">
            <a:avLst/>
          </a:prstGeom>
        </p:spPr>
      </p:pic>
      <p:sp>
        <p:nvSpPr>
          <p:cNvPr id="3107" name="scale-20x-MOSR">
            <a:extLst>
              <a:ext uri="{FF2B5EF4-FFF2-40B4-BE49-F238E27FC236}">
                <a16:creationId xmlns:a16="http://schemas.microsoft.com/office/drawing/2014/main" id="{5F03BE97-7DA9-42E2-9C97-BED69569E8E9}"/>
              </a:ext>
            </a:extLst>
          </p:cNvPr>
          <p:cNvSpPr>
            <a:spLocks noGrp="1"/>
          </p:cNvSpPr>
          <p:nvPr/>
        </p:nvSpPr>
        <p:spPr>
          <a:xfrm>
            <a:off x="13337346" y="21871875"/>
            <a:ext cx="593904" cy="0"/>
          </a:xfrm>
          <a:prstGeom prst="line">
            <a:avLst/>
          </a:prstGeom>
          <a:noFill/>
          <a:ln w="56250">
            <a:solidFill>
              <a:srgbClr val="FFFFFF"/>
            </a:solidFill>
          </a:ln>
        </p:spPr>
      </p:sp>
      <p:sp>
        <p:nvSpPr>
          <p:cNvPr id="3108" name="scale-label-20x-MOSR">
            <a:extLst>
              <a:ext uri="{FF2B5EF4-FFF2-40B4-BE49-F238E27FC236}">
                <a16:creationId xmlns:a16="http://schemas.microsoft.com/office/drawing/2014/main" id="{4F8E8B12-0F85-4A8B-B13A-8CFCFDCB932F}"/>
              </a:ext>
            </a:extLst>
          </p:cNvPr>
          <p:cNvSpPr>
            <a:spLocks noGrp="1"/>
          </p:cNvSpPr>
          <p:nvPr/>
        </p:nvSpPr>
        <p:spPr>
          <a:xfrm>
            <a:off x="13149846" y="21365625"/>
            <a:ext cx="968904" cy="421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09" name="mag-50x">
            <a:extLst>
              <a:ext uri="{FF2B5EF4-FFF2-40B4-BE49-F238E27FC236}">
                <a16:creationId xmlns:a16="http://schemas.microsoft.com/office/drawing/2014/main" id="{AFD4380E-D5AF-4095-8D8E-85E3A1EA7811}"/>
              </a:ext>
            </a:extLst>
          </p:cNvPr>
          <p:cNvSpPr>
            <a:spLocks noGrp="1"/>
          </p:cNvSpPr>
          <p:nvPr/>
        </p:nvSpPr>
        <p:spPr>
          <a:xfrm>
            <a:off x="1171875" y="22453125"/>
            <a:ext cx="1546875" cy="515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9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50×</a:t>
            </a:r>
          </a:p>
        </p:txBody>
      </p:sp>
      <p:pic>
        <p:nvPicPr>
          <p:cNvPr id="3162" name="圖片 3161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893750" y="22979694"/>
            <a:ext cx="4968750" cy="4946861"/>
          </a:xfrm>
          <a:prstGeom prst="rect">
            <a:avLst/>
          </a:prstGeom>
        </p:spPr>
      </p:pic>
      <p:sp>
        <p:nvSpPr>
          <p:cNvPr id="3111" name="scale-50x-Raw">
            <a:extLst>
              <a:ext uri="{FF2B5EF4-FFF2-40B4-BE49-F238E27FC236}">
                <a16:creationId xmlns:a16="http://schemas.microsoft.com/office/drawing/2014/main" id="{71A693A6-355C-4FFC-97B2-37AAEAFA03D5}"/>
              </a:ext>
            </a:extLst>
          </p:cNvPr>
          <p:cNvSpPr>
            <a:spLocks noGrp="1"/>
          </p:cNvSpPr>
          <p:nvPr/>
        </p:nvSpPr>
        <p:spPr>
          <a:xfrm>
            <a:off x="5890543" y="27590625"/>
            <a:ext cx="634457" cy="0"/>
          </a:xfrm>
          <a:prstGeom prst="line">
            <a:avLst/>
          </a:prstGeom>
          <a:noFill/>
          <a:ln w="56250">
            <a:solidFill>
              <a:srgbClr val="FFFFFF"/>
            </a:solidFill>
          </a:ln>
        </p:spPr>
      </p:sp>
      <p:sp>
        <p:nvSpPr>
          <p:cNvPr id="3112" name="scale-label-50x-Raw">
            <a:extLst>
              <a:ext uri="{FF2B5EF4-FFF2-40B4-BE49-F238E27FC236}">
                <a16:creationId xmlns:a16="http://schemas.microsoft.com/office/drawing/2014/main" id="{63557CBF-C3E4-4533-8EBD-747719D72DF2}"/>
              </a:ext>
            </a:extLst>
          </p:cNvPr>
          <p:cNvSpPr>
            <a:spLocks noGrp="1"/>
          </p:cNvSpPr>
          <p:nvPr/>
        </p:nvSpPr>
        <p:spPr>
          <a:xfrm>
            <a:off x="5703043" y="27084375"/>
            <a:ext cx="1009457" cy="421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165" name="圖片 3164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9300000" y="22979694"/>
            <a:ext cx="4968750" cy="4946861"/>
          </a:xfrm>
          <a:prstGeom prst="rect">
            <a:avLst/>
          </a:prstGeom>
        </p:spPr>
      </p:pic>
      <p:sp>
        <p:nvSpPr>
          <p:cNvPr id="3114" name="scale-50x-MOSR">
            <a:extLst>
              <a:ext uri="{FF2B5EF4-FFF2-40B4-BE49-F238E27FC236}">
                <a16:creationId xmlns:a16="http://schemas.microsoft.com/office/drawing/2014/main" id="{6F67D9E4-8AD6-4C1D-9F8C-714893C221BC}"/>
              </a:ext>
            </a:extLst>
          </p:cNvPr>
          <p:cNvSpPr>
            <a:spLocks noGrp="1"/>
          </p:cNvSpPr>
          <p:nvPr/>
        </p:nvSpPr>
        <p:spPr>
          <a:xfrm>
            <a:off x="13296793" y="27590625"/>
            <a:ext cx="634457" cy="0"/>
          </a:xfrm>
          <a:prstGeom prst="line">
            <a:avLst/>
          </a:prstGeom>
          <a:noFill/>
          <a:ln w="56250">
            <a:solidFill>
              <a:srgbClr val="FFFFFF"/>
            </a:solidFill>
          </a:ln>
        </p:spPr>
      </p:sp>
      <p:sp>
        <p:nvSpPr>
          <p:cNvPr id="3115" name="scale-label-50x-MOSR">
            <a:extLst>
              <a:ext uri="{FF2B5EF4-FFF2-40B4-BE49-F238E27FC236}">
                <a16:creationId xmlns:a16="http://schemas.microsoft.com/office/drawing/2014/main" id="{F9803184-C54A-4FD6-87D6-CFB07C04C1B2}"/>
              </a:ext>
            </a:extLst>
          </p:cNvPr>
          <p:cNvSpPr>
            <a:spLocks noGrp="1"/>
          </p:cNvSpPr>
          <p:nvPr/>
        </p:nvSpPr>
        <p:spPr>
          <a:xfrm>
            <a:off x="13109293" y="27084375"/>
            <a:ext cx="1009457" cy="421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16" name="fig1_caption">
            <a:extLst>
              <a:ext uri="{FF2B5EF4-FFF2-40B4-BE49-F238E27FC236}">
                <a16:creationId xmlns:a16="http://schemas.microsoft.com/office/drawing/2014/main" id="{EFB4038C-E05E-4375-B24E-BA2476C413B7}"/>
              </a:ext>
            </a:extLst>
          </p:cNvPr>
          <p:cNvSpPr>
            <a:spLocks noGrp="1"/>
          </p:cNvSpPr>
          <p:nvPr/>
        </p:nvSpPr>
        <p:spPr>
          <a:xfrm>
            <a:off x="1171875" y="28078125"/>
            <a:ext cx="13875000" cy="89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1. Raw and MOSR images from the measured 20× and 50×, 1 µm datasets. Paired images use identical fields and grayscale ranges. Scale bars: 2 µm.</a:t>
            </a:r>
          </a:p>
        </p:txBody>
      </p:sp>
      <p:sp>
        <p:nvSpPr>
          <p:cNvPr id="3117" name="methods_body">
            <a:extLst>
              <a:ext uri="{FF2B5EF4-FFF2-40B4-BE49-F238E27FC236}">
                <a16:creationId xmlns:a16="http://schemas.microsoft.com/office/drawing/2014/main" id="{5BDFB114-075A-4BE3-8D74-4D351787734D}"/>
              </a:ext>
            </a:extLst>
          </p:cNvPr>
          <p:cNvSpPr>
            <a:spLocks noGrp="1"/>
          </p:cNvSpPr>
          <p:nvPr/>
        </p:nvSpPr>
        <p:spPr>
          <a:xfrm>
            <a:off x="1171875" y="30562500"/>
            <a:ext cx="13875000" cy="689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7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Data and reconstruction. At 20×, 31 frames form 30 consecutive steps; 50× uses the original 30 locked adjacent pairs. Both conditions employ a 1 µm nominal step. MOSR uses fixed weights and native-grid outputs, with 25 measured PSF kernels at 20× and one calibrated kernel at 50×. Fixed Wiener uses a regularization value of 0.0565.</a:t>
            </a:r>
          </a:p>
          <a:p>
            <a:endParaRPr sz="2700" b="0" i="0">
              <a:solidFill>
                <a:srgbClr val="111111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lnSpc>
                <a:spcPct val="102000"/>
              </a:lnSpc>
              <a:buNone/>
              <a:defRPr sz="27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Boundary and center. A coarse active contour [3] initializes each pillar boundary. Intensity profiles normal to the contour use 0.1-pixel spacing. Quadratic refinement locates each gradient maximum between samples. Geometric least-squares circle fitting [4] uses 64 refined points at 20× and 96 at 50× to estimate the center.</a:t>
            </a:r>
          </a:p>
          <a:p>
            <a:endParaRPr sz="2700" b="0" i="0">
              <a:solidFill>
                <a:srgbClr val="111111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lnSpc>
                <a:spcPct val="102000"/>
              </a:lnSpc>
              <a:buNone/>
              <a:defRPr sz="27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Displacement and statistics. Coordinate-wise medians of nine pillar-center changes define the array shift. Its component along the acquisition motion direction gives the measured step. Object-space conversion uses the scale in Table I. Each condition yields one sample SD from its 30 steps. Raw, Wiener and MOSR share the same images, features and center-calculation settings.</a:t>
            </a:r>
          </a:p>
        </p:txBody>
      </p:sp>
      <p:sp>
        <p:nvSpPr>
          <p:cNvPr id="3118" name="table1_caption">
            <a:extLst>
              <a:ext uri="{FF2B5EF4-FFF2-40B4-BE49-F238E27FC236}">
                <a16:creationId xmlns:a16="http://schemas.microsoft.com/office/drawing/2014/main" id="{DB56DBE0-0C2F-4EA4-895E-8D1D25CBA3B6}"/>
              </a:ext>
            </a:extLst>
          </p:cNvPr>
          <p:cNvSpPr>
            <a:spLocks noGrp="1"/>
          </p:cNvSpPr>
          <p:nvPr/>
        </p:nvSpPr>
        <p:spPr>
          <a:xfrm>
            <a:off x="1218750" y="37828125"/>
            <a:ext cx="13781250" cy="60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7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TABLE I. SEPARATE ACQUISITION CONDITIONS</a:t>
            </a:r>
          </a:p>
        </p:txBody>
      </p:sp>
      <p:graphicFrame>
        <p:nvGraphicFramePr>
          <p:cNvPr id="3171" name="表格 3170"/>
          <p:cNvGraphicFramePr/>
          <p:nvPr>
            <p:extLst>
              <p:ext uri="{D42A27DB-BD31-4B8C-83A1-F6EECF244321}">
                <p14:modId xmlns:p14="http://schemas.microsoft.com/office/powerpoint/2010/main" val="3231878740"/>
              </p:ext>
            </p:extLst>
          </p:nvPr>
        </p:nvGraphicFramePr>
        <p:xfrm>
          <a:off x="1218750" y="38531250"/>
          <a:ext cx="13781250" cy="1734375"/>
        </p:xfrm>
        <a:graphic>
          <a:graphicData uri="http://schemas.openxmlformats.org/drawingml/2006/table">
            <a:tbl>
              <a:tblPr/>
              <a:tblGrid>
                <a:gridCol w="281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1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1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8125">
                <a:tc>
                  <a:txBody>
                    <a:bodyPr/>
                    <a:lstStyle/>
                    <a:p>
                      <a:pPr algn="l"/>
                      <a:r>
                        <a:rPr lang="en-US" sz="25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Objective QA</a:t>
                      </a:r>
                      <a:endParaRPr sz="2500" b="1">
                        <a:solidFill>
                          <a:srgbClr val="11111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5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Step (µm)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5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Measured steps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5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µm/pixel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125">
                <a:tc>
                  <a:txBody>
                    <a:bodyPr/>
                    <a:lstStyle/>
                    <a:p>
                      <a:pPr algn="l"/>
                      <a:r>
                        <a:rPr sz="25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5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5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5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0.1725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125">
                <a:tc>
                  <a:txBody>
                    <a:bodyPr/>
                    <a:lstStyle/>
                    <a:p>
                      <a:pPr algn="l"/>
                      <a:r>
                        <a:rPr sz="25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5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5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5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0.0690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120" name="statistics_definition">
            <a:extLst>
              <a:ext uri="{FF2B5EF4-FFF2-40B4-BE49-F238E27FC236}">
                <a16:creationId xmlns:a16="http://schemas.microsoft.com/office/drawing/2014/main" id="{EB5D8AC9-FFC9-4B49-8850-CC522B4AA11D}"/>
              </a:ext>
            </a:extLst>
          </p:cNvPr>
          <p:cNvSpPr>
            <a:spLocks noGrp="1"/>
          </p:cNvSpPr>
          <p:nvPr/>
        </p:nvSpPr>
        <p:spPr>
          <a:xfrm>
            <a:off x="1218750" y="40593750"/>
            <a:ext cx="13781250" cy="1171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Step SD uses all 30 displacements with denominator 29. Reduction (%) = 100 × (1 − SD(MOSR) / SD(Raw)). Each trace plots measured step minus the nominal 1 µm; each objective is summarized separately.</a:t>
            </a:r>
          </a:p>
        </p:txBody>
      </p:sp>
      <p:sp>
        <p:nvSpPr>
          <p:cNvPr id="3121" name="results_intro">
            <a:extLst>
              <a:ext uri="{FF2B5EF4-FFF2-40B4-BE49-F238E27FC236}">
                <a16:creationId xmlns:a16="http://schemas.microsoft.com/office/drawing/2014/main" id="{4456E7B6-9ADB-4BC5-98B1-6EE52263EDB7}"/>
              </a:ext>
            </a:extLst>
          </p:cNvPr>
          <p:cNvSpPr>
            <a:spLocks noGrp="1"/>
          </p:cNvSpPr>
          <p:nvPr/>
        </p:nvSpPr>
        <p:spPr>
          <a:xfrm>
            <a:off x="17156250" y="10218750"/>
            <a:ext cx="13781250" cy="131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1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At a common 1 µm step, MOSR lowers displacement variation at both objectives. Results are calculated within each acquisition condition.</a:t>
            </a:r>
          </a:p>
        </p:txBody>
      </p:sp>
      <p:sp>
        <p:nvSpPr>
          <p:cNvPr id="3122" name="20x_heading">
            <a:extLst>
              <a:ext uri="{FF2B5EF4-FFF2-40B4-BE49-F238E27FC236}">
                <a16:creationId xmlns:a16="http://schemas.microsoft.com/office/drawing/2014/main" id="{35019B60-8893-4431-B347-60EF6AFD4C0F}"/>
              </a:ext>
            </a:extLst>
          </p:cNvPr>
          <p:cNvSpPr>
            <a:spLocks noGrp="1"/>
          </p:cNvSpPr>
          <p:nvPr/>
        </p:nvSpPr>
        <p:spPr>
          <a:xfrm>
            <a:off x="17250000" y="11718750"/>
            <a:ext cx="13687500" cy="796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20×, 1 µm: 30 single steps</a:t>
            </a:r>
          </a:p>
        </p:txBody>
      </p:sp>
      <p:sp>
        <p:nvSpPr>
          <p:cNvPr id="3123" name="20x_gain">
            <a:extLst>
              <a:ext uri="{FF2B5EF4-FFF2-40B4-BE49-F238E27FC236}">
                <a16:creationId xmlns:a16="http://schemas.microsoft.com/office/drawing/2014/main" id="{847DF336-23FA-4727-BB8B-EE0BA6AEC407}"/>
              </a:ext>
            </a:extLst>
          </p:cNvPr>
          <p:cNvSpPr>
            <a:spLocks noGrp="1"/>
          </p:cNvSpPr>
          <p:nvPr/>
        </p:nvSpPr>
        <p:spPr>
          <a:xfrm>
            <a:off x="17296875" y="12750000"/>
            <a:ext cx="7265625" cy="1546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9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57.2%</a:t>
            </a:r>
          </a:p>
        </p:txBody>
      </p:sp>
      <p:sp>
        <p:nvSpPr>
          <p:cNvPr id="3124" name="20x_values">
            <a:extLst>
              <a:ext uri="{FF2B5EF4-FFF2-40B4-BE49-F238E27FC236}">
                <a16:creationId xmlns:a16="http://schemas.microsoft.com/office/drawing/2014/main" id="{C72275CE-22D7-4F5D-A34A-34B9CB8F22D6}"/>
              </a:ext>
            </a:extLst>
          </p:cNvPr>
          <p:cNvSpPr>
            <a:spLocks noGrp="1"/>
          </p:cNvSpPr>
          <p:nvPr/>
        </p:nvSpPr>
        <p:spPr>
          <a:xfrm>
            <a:off x="24843750" y="12937500"/>
            <a:ext cx="6000000" cy="107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9.506 nm  Raw</a:t>
            </a:r>
          </a:p>
          <a:p>
            <a:pPr algn="ctr">
              <a:lnSpc>
                <a:spcPct val="102000"/>
              </a:lnSpc>
              <a:buNone/>
              <a:def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4.068 nm  MOSR</a:t>
            </a:r>
          </a:p>
        </p:txBody>
      </p:sp>
      <p:sp>
        <p:nvSpPr>
          <p:cNvPr id="3125" name="20x_gain_label">
            <a:extLst>
              <a:ext uri="{FF2B5EF4-FFF2-40B4-BE49-F238E27FC236}">
                <a16:creationId xmlns:a16="http://schemas.microsoft.com/office/drawing/2014/main" id="{CB2839E1-F846-4491-ADE9-F7DD82BF4A6A}"/>
              </a:ext>
            </a:extLst>
          </p:cNvPr>
          <p:cNvSpPr>
            <a:spLocks noGrp="1"/>
          </p:cNvSpPr>
          <p:nvPr/>
        </p:nvSpPr>
        <p:spPr>
          <a:xfrm>
            <a:off x="17296875" y="14203125"/>
            <a:ext cx="13593750" cy="65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1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Reduction in Step SD</a:t>
            </a:r>
          </a:p>
        </p:txBody>
      </p:sp>
      <p:graphicFrame>
        <p:nvGraphicFramePr>
          <p:cNvPr id="3178" name="Chart"/>
          <p:cNvGraphicFramePr/>
          <p:nvPr/>
        </p:nvGraphicFramePr>
        <p:xfrm>
          <a:off x="17062500" y="15093750"/>
          <a:ext cx="14156250" cy="562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3127" name="fig2_caption">
            <a:extLst>
              <a:ext uri="{FF2B5EF4-FFF2-40B4-BE49-F238E27FC236}">
                <a16:creationId xmlns:a16="http://schemas.microsoft.com/office/drawing/2014/main" id="{6F702251-1429-43A9-8076-EE3508DB1A73}"/>
              </a:ext>
            </a:extLst>
          </p:cNvPr>
          <p:cNvSpPr>
            <a:spLocks noGrp="1"/>
          </p:cNvSpPr>
          <p:nvPr/>
        </p:nvSpPr>
        <p:spPr>
          <a:xfrm>
            <a:off x="17156250" y="20906250"/>
            <a:ext cx="13781250" cy="1031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2. Thirty single-step displacements at 20×. The traces show measured step minus 1 µm, using the same axes and units as the 50× experiment.</a:t>
            </a:r>
          </a:p>
        </p:txBody>
      </p:sp>
      <p:sp>
        <p:nvSpPr>
          <p:cNvPr id="3128" name="20x_interpretation">
            <a:extLst>
              <a:ext uri="{FF2B5EF4-FFF2-40B4-BE49-F238E27FC236}">
                <a16:creationId xmlns:a16="http://schemas.microsoft.com/office/drawing/2014/main" id="{C5AFD605-3DB7-48CA-8722-FAC33798A280}"/>
              </a:ext>
            </a:extLst>
          </p:cNvPr>
          <p:cNvSpPr>
            <a:spLocks noGrp="1"/>
          </p:cNvSpPr>
          <p:nvPr/>
        </p:nvSpPr>
        <p:spPr>
          <a:xfrm>
            <a:off x="17156250" y="22218750"/>
            <a:ext cx="13781250" cy="140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At 20×, Step SD decreases from 9.506 nm for Raw to 5.794 nm for fixed Wiener and 4.068 nm for MOSR. MOSR reduces the variation by 57.2% relative to Raw.</a:t>
            </a:r>
          </a:p>
        </p:txBody>
      </p:sp>
      <p:sp>
        <p:nvSpPr>
          <p:cNvPr id="3129" name="50x_heading">
            <a:extLst>
              <a:ext uri="{FF2B5EF4-FFF2-40B4-BE49-F238E27FC236}">
                <a16:creationId xmlns:a16="http://schemas.microsoft.com/office/drawing/2014/main" id="{8F053F6C-1E5F-4830-BA1B-4ADFFA150F27}"/>
              </a:ext>
            </a:extLst>
          </p:cNvPr>
          <p:cNvSpPr>
            <a:spLocks noGrp="1"/>
          </p:cNvSpPr>
          <p:nvPr/>
        </p:nvSpPr>
        <p:spPr>
          <a:xfrm>
            <a:off x="17250000" y="23906250"/>
            <a:ext cx="13687500" cy="796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50×, 1 µm: 30 single steps</a:t>
            </a:r>
          </a:p>
        </p:txBody>
      </p:sp>
      <p:sp>
        <p:nvSpPr>
          <p:cNvPr id="3130" name="50x_gain">
            <a:extLst>
              <a:ext uri="{FF2B5EF4-FFF2-40B4-BE49-F238E27FC236}">
                <a16:creationId xmlns:a16="http://schemas.microsoft.com/office/drawing/2014/main" id="{845E828D-CB72-4618-A621-7D98E29B0C1D}"/>
              </a:ext>
            </a:extLst>
          </p:cNvPr>
          <p:cNvSpPr>
            <a:spLocks noGrp="1"/>
          </p:cNvSpPr>
          <p:nvPr/>
        </p:nvSpPr>
        <p:spPr>
          <a:xfrm>
            <a:off x="17296875" y="24843750"/>
            <a:ext cx="7265625" cy="150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9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23.5%</a:t>
            </a:r>
          </a:p>
        </p:txBody>
      </p:sp>
      <p:sp>
        <p:nvSpPr>
          <p:cNvPr id="3131" name="50x_values">
            <a:extLst>
              <a:ext uri="{FF2B5EF4-FFF2-40B4-BE49-F238E27FC236}">
                <a16:creationId xmlns:a16="http://schemas.microsoft.com/office/drawing/2014/main" id="{2EDF9C6E-FC88-4B70-9E94-91023251645E}"/>
              </a:ext>
            </a:extLst>
          </p:cNvPr>
          <p:cNvSpPr>
            <a:spLocks noGrp="1"/>
          </p:cNvSpPr>
          <p:nvPr/>
        </p:nvSpPr>
        <p:spPr>
          <a:xfrm>
            <a:off x="24843750" y="25031250"/>
            <a:ext cx="6000000" cy="107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5.938 nm  Raw</a:t>
            </a:r>
          </a:p>
          <a:p>
            <a:pPr algn="ctr">
              <a:lnSpc>
                <a:spcPct val="102000"/>
              </a:lnSpc>
              <a:buNone/>
              <a:def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4.542 nm  MOSR</a:t>
            </a:r>
          </a:p>
        </p:txBody>
      </p:sp>
      <p:sp>
        <p:nvSpPr>
          <p:cNvPr id="3132" name="50x_gain_label">
            <a:extLst>
              <a:ext uri="{FF2B5EF4-FFF2-40B4-BE49-F238E27FC236}">
                <a16:creationId xmlns:a16="http://schemas.microsoft.com/office/drawing/2014/main" id="{59B338FB-9EDF-41A2-ACF5-14711A79D73C}"/>
              </a:ext>
            </a:extLst>
          </p:cNvPr>
          <p:cNvSpPr>
            <a:spLocks noGrp="1"/>
          </p:cNvSpPr>
          <p:nvPr/>
        </p:nvSpPr>
        <p:spPr>
          <a:xfrm>
            <a:off x="17296875" y="26250000"/>
            <a:ext cx="13593750" cy="609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1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Reduction in Step SD</a:t>
            </a:r>
          </a:p>
        </p:txBody>
      </p:sp>
      <p:graphicFrame>
        <p:nvGraphicFramePr>
          <p:cNvPr id="3185" name="Chart"/>
          <p:cNvGraphicFramePr/>
          <p:nvPr/>
        </p:nvGraphicFramePr>
        <p:xfrm>
          <a:off x="17062500" y="27000000"/>
          <a:ext cx="14156250" cy="478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3134" name="fig3_caption">
            <a:extLst>
              <a:ext uri="{FF2B5EF4-FFF2-40B4-BE49-F238E27FC236}">
                <a16:creationId xmlns:a16="http://schemas.microsoft.com/office/drawing/2014/main" id="{E959230F-A566-4993-ACF7-28D922690F58}"/>
              </a:ext>
            </a:extLst>
          </p:cNvPr>
          <p:cNvSpPr>
            <a:spLocks noGrp="1"/>
          </p:cNvSpPr>
          <p:nvPr/>
        </p:nvSpPr>
        <p:spPr>
          <a:xfrm>
            <a:off x="17156250" y="31968750"/>
            <a:ext cx="13781250" cy="107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3. Thirty locked single-step displacements at 50×. Step SD is 5.938 nm for Raw, 4.722 nm for fixed Wiener and 4.542 nm for MOSR.</a:t>
            </a:r>
          </a:p>
        </p:txBody>
      </p:sp>
      <p:sp>
        <p:nvSpPr>
          <p:cNvPr id="3135" name="conclusions_body">
            <a:extLst>
              <a:ext uri="{FF2B5EF4-FFF2-40B4-BE49-F238E27FC236}">
                <a16:creationId xmlns:a16="http://schemas.microsoft.com/office/drawing/2014/main" id="{848232E7-6A56-4829-8E09-9ACCE5C47A03}"/>
              </a:ext>
            </a:extLst>
          </p:cNvPr>
          <p:cNvSpPr>
            <a:spLocks noGrp="1"/>
          </p:cNvSpPr>
          <p:nvPr/>
        </p:nvSpPr>
        <p:spPr>
          <a:xfrm>
            <a:off x="17156250" y="35156250"/>
            <a:ext cx="13781250" cy="2465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MOSR reduces the SD of 30 measured single steps by 57.2% at 20× and 23.5% at 50×, at a common nominal step of 1 µm. Each result retains its own acquisition condition.</a:t>
            </a:r>
          </a:p>
          <a:p>
            <a:endParaRPr sz="2900" b="0" i="0">
              <a:solidFill>
                <a:srgbClr val="111111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One reconstruction model supports both objectives with calibrated optical inputs. Clearer boundaries and lower step variation support cross-magnification optical inspection.</a:t>
            </a:r>
          </a:p>
        </p:txBody>
      </p:sp>
      <p:sp>
        <p:nvSpPr>
          <p:cNvPr id="3136" name="bibliography_body">
            <a:extLst>
              <a:ext uri="{FF2B5EF4-FFF2-40B4-BE49-F238E27FC236}">
                <a16:creationId xmlns:a16="http://schemas.microsoft.com/office/drawing/2014/main" id="{58B6191E-8A8F-4C43-925B-D424039000CB}"/>
              </a:ext>
            </a:extLst>
          </p:cNvPr>
          <p:cNvSpPr>
            <a:spLocks noGrp="1"/>
          </p:cNvSpPr>
          <p:nvPr/>
        </p:nvSpPr>
        <p:spPr>
          <a:xfrm>
            <a:off x="17156250" y="39093750"/>
            <a:ext cx="13687500" cy="2643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[1] O. Ronneberger et al., U-Net, MICCAI, 2015, pp. 234–241.</a:t>
            </a:r>
          </a:p>
          <a:p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[2] R. Zhang, Making convolutional networks shift-invariant again, ICML, 2019, pp. 7324–7334.</a:t>
            </a:r>
          </a:p>
          <a:p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[3] T. F. Chan and L. A. Vese, Active contours without edges, IEEE Trans. Image Process., 10(2), 266–277, 2001.</a:t>
            </a:r>
          </a:p>
          <a:p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[4] N. Chernov and C. Lesort, Least squares fitting of circles, J. Math. Imaging Vis., 23, 239–252, 2005.</a:t>
            </a:r>
          </a:p>
        </p:txBody>
      </p:sp>
    </p:spTree>
    <p:extLst>
      <p:ext uri="{BB962C8B-B14F-4D97-AF65-F5344CB8AC3E}">
        <p14:creationId xmlns:p14="http://schemas.microsoft.com/office/powerpoint/2010/main" val="1270814280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1108</Words>
  <Application>Microsoft Office PowerPoint</Application>
  <DocSecurity>0</DocSecurity>
  <PresentationFormat>自訂</PresentationFormat>
  <Paragraphs>77</Paragraphs>
  <Slides>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Default Design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彥諠 江</cp:lastModifiedBy>
  <cp:revision>1</cp:revision>
  <dcterms:created xsi:type="dcterms:W3CDTF">2026-09-29T17:34:22Z</dcterms:created>
  <dcterms:modified xsi:type="dcterms:W3CDTF">2026-09-29T17:37:43Z</dcterms:modified>
</cp:coreProperties>
</file>