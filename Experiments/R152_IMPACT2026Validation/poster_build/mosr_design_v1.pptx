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0f552db9474946" /><Relationship Type="http://schemas.openxmlformats.org/officeDocument/2006/relationships/extended-properties" Target="/docProps/app.xml" Id="Re54d6d5d85404a05" /><Relationship Type="http://schemas.openxmlformats.org/officeDocument/2006/relationships/officeDocument" Target="/ppt/presentation.xml" Id="R4e6f78b5e38945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e57df11de54e9e"/>
  </p:sldMasterIdLst>
  <p:notesMasterIdLst>
    <p:notesMasterId xmlns:r="http://schemas.openxmlformats.org/officeDocument/2006/relationships" r:id="Rb2fccc7a2c3842c1"/>
  </p:notesMasterIdLst>
  <p:sldIdLst>
    <p:sldId xmlns:r="http://schemas.openxmlformats.org/officeDocument/2006/relationships" id="256" r:id="R4dc580ec81a741ea"/>
  </p:sldIdLst>
  <p:sldSz cx="32400000" cy="4320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d532386ca34550" /><Relationship Type="http://schemas.openxmlformats.org/officeDocument/2006/relationships/slideMaster" Target="/ppt/slideMasters/slideMaster1.xml" Id="Rc2e57df11de54e9e" /><Relationship Type="http://schemas.openxmlformats.org/officeDocument/2006/relationships/notesMaster" Target="/ppt/notesMasters/notesMaster1.xml" Id="Rb2fccc7a2c3842c1" /><Relationship Type="http://schemas.openxmlformats.org/officeDocument/2006/relationships/presProps" Target="/ppt/presProps.xml" Id="R3fef382e95d44c54" /><Relationship Type="http://schemas.openxmlformats.org/officeDocument/2006/relationships/viewProps" Target="/ppt/viewProps.xml" Id="R3ba51278da274536" /><Relationship Type="http://schemas.openxmlformats.org/officeDocument/2006/relationships/tableStyles" Target="/ppt/tableStyles.xml" Id="R7d967b54d6a44cc5" /><Relationship Type="http://schemas.openxmlformats.org/officeDocument/2006/relationships/slide" Target="/ppt/slides/slide1.xml" Id="R4dc580ec81a741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7041abed7745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705d60d11a4f32" /><Relationship Type="http://schemas.openxmlformats.org/officeDocument/2006/relationships/notesMaster" Target="/ppt/notesMasters/notesMaster1.xml" Id="R9a3245675fc148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IMPACT2026 TW0243. Public model name: MOSR. This poster presents an updated evaluation at a nominal 1 micrometer step. The 20x condition uses one complete 31-frame evaluation scan; the 50x condition uses its fixed prior list of 30 adjacent-frame pairs. Conditions are reported separately. All methods use the same image pairs, identities, scale and center-estimation procedure within each condition. Fig. 2 is a functional overview, not an isolated-component efficacy result. Fig. 3 uses measured boundary points and a fitted center from the displayed 20x MOSR field. The curves contain all 30 observed displacements per condition and method, minus nominal 1000 nm for display; no per-method centering, detrending or smoothing is applied. Sources for method context: Ronneberger et al., MICCAI 2015; Zhang, ICML 2019; Chan and Vese, IEEE TIP 2001; Chernov and Lesort, JMIV 2005.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8b864319de44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abc60bae54c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6ec4ab95b42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9e0f1ac0cf40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b7da990454d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b04637998649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ff827735b4f2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80e6f97b647a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1cdd4f47d45d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fe877dd70499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e31b94b2374f97" /></Relationships>
</file>

<file path=ppt/slideLayouts/slideLayout1.xml><?xml version="1.0" encoding="utf-8"?>
<p:sldLayout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2E408086-EAF8-45E3-BFD7-1AB6D6FD8F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468563" y="13635038"/>
            <a:ext cx="27981275" cy="94075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副標題 2">
            <a:extLst xmlns:a="http://schemas.openxmlformats.org/drawingml/2006/main">
              <a:ext uri="{FF2B5EF4-FFF2-40B4-BE49-F238E27FC236}">
                <a16:creationId xmlns:a16="http://schemas.microsoft.com/office/drawing/2014/main" id="{CA7F62CB-05FD-429E-BFC5-3716A22CDB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937125" y="24871363"/>
            <a:ext cx="23044150" cy="1121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 xmlns:a="http://schemas.openxmlformats.org/drawingml/2006/main">
            <a:r>
              <a:t>按一下以編輯母片副標題樣式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46538775-CE93-4CFD-A89F-B9A735C079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EAD36F17-30DC-4254-9A3F-A4929F6679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2AE3B74-81F9-45C8-9749-4CFA83883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00325" y="28203525"/>
            <a:ext cx="27981275" cy="8718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D6079327-ED5D-46E8-B8B2-6A8BCCCF17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600325" y="18602325"/>
            <a:ext cx="27981275" cy="960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3521E912-E809-478E-8095-3AA955C7AC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578AC39D-F121-445F-AE6B-6020EA3837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646238" y="10240963"/>
            <a:ext cx="14736762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C26CE016-F93C-4A44-96D7-E72AA12C7D4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535400" y="10240963"/>
            <a:ext cx="14736763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7C90C65F-B82E-44C7-98C9-8E5A0C8F8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C6749D6-A534-492E-B708-DD056CCEF6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9825038"/>
            <a:ext cx="14544675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 xmlns:a="http://schemas.openxmlformats.org/drawingml/2006/main">
              <a:ext uri="{FF2B5EF4-FFF2-40B4-BE49-F238E27FC236}">
                <a16:creationId xmlns:a16="http://schemas.microsoft.com/office/drawing/2014/main" id="{0C493732-4F33-4CFA-81F1-1077F2A8135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646238" y="13919200"/>
            <a:ext cx="14544675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 xmlns:a="http://schemas.openxmlformats.org/drawingml/2006/main">
              <a:ext uri="{FF2B5EF4-FFF2-40B4-BE49-F238E27FC236}">
                <a16:creationId xmlns:a16="http://schemas.microsoft.com/office/drawing/2014/main" id="{9486FCC7-792A-41F7-8B25-7B6012F6D5B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6722725" y="9825038"/>
            <a:ext cx="14549438" cy="409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 xmlns:a="http://schemas.openxmlformats.org/drawingml/2006/main">
              <a:ext uri="{FF2B5EF4-FFF2-40B4-BE49-F238E27FC236}">
                <a16:creationId xmlns:a16="http://schemas.microsoft.com/office/drawing/2014/main" id="{0C8D23BA-462C-4263-8F48-88B089EDB61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6722725" y="13919200"/>
            <a:ext cx="14549438" cy="2528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F3DC36E8-6CBF-4E29-8F14-63EC1EB86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8.xml><?xml version="1.0" encoding="utf-8"?>
<p:sldLayout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DA238C99-66E7-479B-A0CC-1D3ED0C73E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47838"/>
            <a:ext cx="10829925" cy="74374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內容版面配置區 2">
            <a:extLst xmlns:a="http://schemas.openxmlformats.org/drawingml/2006/main">
              <a:ext uri="{FF2B5EF4-FFF2-40B4-BE49-F238E27FC236}">
                <a16:creationId xmlns:a16="http://schemas.microsoft.com/office/drawing/2014/main" id="{272B08A7-6C1F-40E3-8C9E-46223F4EB1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69863" y="1747838"/>
            <a:ext cx="18402300" cy="3746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F2517DE1-1760-4924-A9F4-64B552AA6D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646238" y="9185275"/>
            <a:ext cx="10829925" cy="30022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E18D1863-6C0A-40C2-A14A-BF4C93D8AB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51600" y="30724475"/>
            <a:ext cx="19751675" cy="362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圖片版面配置區 2">
            <a:extLst xmlns:a="http://schemas.openxmlformats.org/drawingml/2006/main">
              <a:ext uri="{FF2B5EF4-FFF2-40B4-BE49-F238E27FC236}">
                <a16:creationId xmlns:a16="http://schemas.microsoft.com/office/drawing/2014/main" id="{1D389902-14A9-4AD1-87BF-B2027036AE9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451600" y="3921125"/>
            <a:ext cx="19751675" cy="263350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文字版面配置區 3">
            <a:extLst xmlns:a="http://schemas.openxmlformats.org/drawingml/2006/main">
              <a:ext uri="{FF2B5EF4-FFF2-40B4-BE49-F238E27FC236}">
                <a16:creationId xmlns:a16="http://schemas.microsoft.com/office/drawing/2014/main" id="{44419BC6-B893-4438-9C43-BADD196E98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51600" y="34350325"/>
            <a:ext cx="19751675" cy="5151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標題 1">
            <a:extLst xmlns:a="http://schemas.openxmlformats.org/drawingml/2006/main">
              <a:ext uri="{FF2B5EF4-FFF2-40B4-BE49-F238E27FC236}">
                <a16:creationId xmlns:a16="http://schemas.microsoft.com/office/drawing/2014/main" id="{C412B3E9-4D32-4965-9767-9FF817B16A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46238" y="1757363"/>
            <a:ext cx="29625925" cy="7315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C87F8207-4E0B-4620-9C54-963DDFBC33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0240963"/>
            <a:ext cx="29625925" cy="289671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直排標題 1">
            <a:extLst xmlns:a="http://schemas.openxmlformats.org/drawingml/2006/main">
              <a:ext uri="{FF2B5EF4-FFF2-40B4-BE49-F238E27FC236}">
                <a16:creationId xmlns:a16="http://schemas.microsoft.com/office/drawing/2014/main" id="{744C1F82-D0C0-418C-B6EA-C7687DA764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66475" y="1757363"/>
            <a:ext cx="7405688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按一下以編輯母片標題樣式</a:t>
            </a:r>
          </a:p>
        </p:txBody>
      </p:sp>
      <p:sp>
        <p:nvSpPr>
          <p:cNvPr id="3" name="直排文字版面配置區 2">
            <a:extLst xmlns:a="http://schemas.openxmlformats.org/drawingml/2006/main">
              <a:ext uri="{FF2B5EF4-FFF2-40B4-BE49-F238E27FC236}">
                <a16:creationId xmlns:a16="http://schemas.microsoft.com/office/drawing/2014/main" id="{FC8073D7-A873-4610-B104-6AF994A7A3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46238" y="1757363"/>
            <a:ext cx="22067837" cy="374507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按一下以編輯母片文字樣式</a:t>
            </a:r>
          </a:p>
          <a:p xmlns:a="http://schemas.openxmlformats.org/drawingml/2006/main">
            <a:pPr lvl="1">
              <a:buNone/>
            </a:pPr>
            <a:r>
              <a:t>第二層</a:t>
            </a:r>
          </a:p>
          <a:p xmlns:a="http://schemas.openxmlformats.org/drawingml/2006/main">
            <a:pPr lvl="2">
              <a:buNone/>
            </a:pPr>
            <a:r>
              <a:t>第三層</a:t>
            </a:r>
          </a:p>
          <a:p xmlns:a="http://schemas.openxmlformats.org/drawingml/2006/main">
            <a:pPr lvl="3">
              <a:buNone/>
            </a:pPr>
            <a:r>
              <a:t>第四層</a:t>
            </a:r>
          </a:p>
          <a:p xmlns:a="http://schemas.openxmlformats.org/drawingml/2006/main">
            <a:pPr lvl="4">
              <a:buNone/>
            </a:pPr>
            <a:r>
              <a:t>第五層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977feba65c4c35" /><Relationship Type="http://schemas.openxmlformats.org/officeDocument/2006/relationships/slideLayout" Target="/ppt/slideLayouts/slideLayout1.xml" Id="Rb8a8780e34184988" /><Relationship Type="http://schemas.openxmlformats.org/officeDocument/2006/relationships/slideLayout" Target="/ppt/slideLayouts/slideLayout2.xml" Id="R1583ecadb27b48d3" /><Relationship Type="http://schemas.openxmlformats.org/officeDocument/2006/relationships/slideLayout" Target="/ppt/slideLayouts/slideLayout3.xml" Id="Rca0c41fb958945fe" /><Relationship Type="http://schemas.openxmlformats.org/officeDocument/2006/relationships/slideLayout" Target="/ppt/slideLayouts/slideLayout4.xml" Id="Rd19cdd62c216417c" /><Relationship Type="http://schemas.openxmlformats.org/officeDocument/2006/relationships/slideLayout" Target="/ppt/slideLayouts/slideLayout5.xml" Id="R892e0a4ebc824a0a" /><Relationship Type="http://schemas.openxmlformats.org/officeDocument/2006/relationships/slideLayout" Target="/ppt/slideLayouts/slideLayout6.xml" Id="Re9288d1e05174617" /><Relationship Type="http://schemas.openxmlformats.org/officeDocument/2006/relationships/slideLayout" Target="/ppt/slideLayouts/slideLayout7.xml" Id="R4906448fdd514035" /><Relationship Type="http://schemas.openxmlformats.org/officeDocument/2006/relationships/slideLayout" Target="/ppt/slideLayouts/slideLayout8.xml" Id="R886895f8d2844b7f" /><Relationship Type="http://schemas.openxmlformats.org/officeDocument/2006/relationships/slideLayout" Target="/ppt/slideLayouts/slideLayout9.xml" Id="R7033d8c5b5034ec1" /><Relationship Type="http://schemas.openxmlformats.org/officeDocument/2006/relationships/slideLayout" Target="/ppt/slideLayouts/slideLayout10.xml" Id="R2dcfaad3736d4778" /><Relationship Type="http://schemas.openxmlformats.org/officeDocument/2006/relationships/slideLayout" Target="/ppt/slideLayouts/slideLayout11.xml" Id="Raf83c2f481be403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a8780e34184988"/>
    <p:sldLayoutId xmlns:r="http://schemas.openxmlformats.org/officeDocument/2006/relationships" id="2147483650" r:id="R1583ecadb27b48d3"/>
    <p:sldLayoutId xmlns:r="http://schemas.openxmlformats.org/officeDocument/2006/relationships" id="2147483651" r:id="Rca0c41fb958945fe"/>
    <p:sldLayoutId xmlns:r="http://schemas.openxmlformats.org/officeDocument/2006/relationships" id="2147483652" r:id="Rd19cdd62c216417c"/>
    <p:sldLayoutId xmlns:r="http://schemas.openxmlformats.org/officeDocument/2006/relationships" id="2147483653" r:id="R892e0a4ebc824a0a"/>
    <p:sldLayoutId xmlns:r="http://schemas.openxmlformats.org/officeDocument/2006/relationships" id="2147483654" r:id="Re9288d1e05174617"/>
    <p:sldLayoutId xmlns:r="http://schemas.openxmlformats.org/officeDocument/2006/relationships" id="2147483655" r:id="R4906448fdd514035"/>
    <p:sldLayoutId xmlns:r="http://schemas.openxmlformats.org/officeDocument/2006/relationships" id="2147483656" r:id="R886895f8d2844b7f"/>
    <p:sldLayoutId xmlns:r="http://schemas.openxmlformats.org/officeDocument/2006/relationships" id="2147483657" r:id="R7033d8c5b5034ec1"/>
    <p:sldLayoutId xmlns:r="http://schemas.openxmlformats.org/officeDocument/2006/relationships" id="2147483658" r:id="R2dcfaad3736d4778"/>
    <p:sldLayoutId xmlns:r="http://schemas.openxmlformats.org/officeDocument/2006/relationships" id="2147483659" r:id="Raf83c2f481be4036"/>
  </p:sldLayoutIdLst>
  <p:txStyles>
    <p:titleStyle>
      <a:lvl1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+mj-lt"/>
          <a:ea typeface="+mj-lt"/>
          <a:cs typeface="+mj-lt"/>
        </a:defRPr>
      </a:lvl1pPr>
      <a:lvl2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2pPr>
      <a:lvl3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3pPr>
      <a:lvl4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4pPr>
      <a:lvl5pPr xmlns:a="http://schemas.openxmlformats.org/drawingml/2006/main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5pPr>
      <a:lvl6pPr xmlns:a="http://schemas.openxmlformats.org/drawingml/2006/main" marL="4572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6pPr>
      <a:lvl7pPr xmlns:a="http://schemas.openxmlformats.org/drawingml/2006/main" marL="9144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7pPr>
      <a:lvl8pPr xmlns:a="http://schemas.openxmlformats.org/drawingml/2006/main" marL="13716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8pPr>
      <a:lvl9pPr xmlns:a="http://schemas.openxmlformats.org/drawingml/2006/main" marL="1828800" algn="ctr" defTabSz="4389438">
        <a:spcBef>
          <a:spcPct val="0"/>
        </a:spcBef>
        <a:spcAft>
          <a:spcPct val="0"/>
        </a:spcAft>
        <a:buNone/>
        <a:defRPr sz="21100">
          <a:solidFill>
            <a:schemeClr val="tx2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1646238" indent="-1646238" algn="l" defTabSz="4389438">
        <a:spcBef>
          <a:spcPct val="20000"/>
        </a:spcBef>
        <a:spcAft>
          <a:spcPct val="0"/>
        </a:spcAft>
        <a:buChar char="•"/>
        <a:defRPr sz="15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565525" indent="-1371600" algn="l" defTabSz="4389438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86400" indent="-1096963" algn="l" defTabSz="4389438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7680325" indent="-1096963" algn="l" defTabSz="4389438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98758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03330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07902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112474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11704638" indent="-1096963" algn="l" defTabSz="4389438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92bf7ab6f470a" /><Relationship Type="http://schemas.openxmlformats.org/officeDocument/2006/relationships/image" Target="/ppt/media/image.jpeg" Id="Rbcc54dec1a104337" /><Relationship Type="http://schemas.openxmlformats.org/officeDocument/2006/relationships/image" Target="/ppt/media/image.png" Id="R4397805035eb49c5" /><Relationship Type="http://schemas.openxmlformats.org/officeDocument/2006/relationships/image" Target="/ppt/media/image2.png" Id="R74a30444d8aa4df0" /><Relationship Type="http://schemas.openxmlformats.org/officeDocument/2006/relationships/image" Target="/ppt/media/image3.png" Id="Rc0c31947874f4b5c" /><Relationship Type="http://schemas.openxmlformats.org/officeDocument/2006/relationships/image" Target="/ppt/media/image4.png" Id="R0eb68057e44745fd" /><Relationship Type="http://schemas.openxmlformats.org/officeDocument/2006/relationships/image" Target="/ppt/media/image5.png" Id="Rac276e2e68424034" /><Relationship Type="http://schemas.openxmlformats.org/officeDocument/2006/relationships/chart" Target="/ppt/slides/charts/chart1.xml" Id="Rcaf5470fb31b4c30" /><Relationship Type="http://schemas.openxmlformats.org/officeDocument/2006/relationships/chart" Target="/ppt/slides/charts/chart2.xml" Id="R61629c1edfcd4a08" /><Relationship Type="http://schemas.openxmlformats.org/officeDocument/2006/relationships/notesSlide" Target="/ppt/notesSlides/notesSlide1.xml" Id="Rabfa207c11fe4e1f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99999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-5.500603</c:v>
              </c:pt>
              <c:pt idx="1">
                <c:v>-5.908449</c:v>
              </c:pt>
              <c:pt idx="2">
                <c:v>2.69955</c:v>
              </c:pt>
              <c:pt idx="3">
                <c:v>4.106944</c:v>
              </c:pt>
              <c:pt idx="4">
                <c:v>8.655457</c:v>
              </c:pt>
              <c:pt idx="5">
                <c:v>2.396533</c:v>
              </c:pt>
              <c:pt idx="6">
                <c:v>-8.565548</c:v>
              </c:pt>
              <c:pt idx="7">
                <c:v>0.508422</c:v>
              </c:pt>
              <c:pt idx="8">
                <c:v>12.650861</c:v>
              </c:pt>
              <c:pt idx="9">
                <c:v>-5.735517</c:v>
              </c:pt>
              <c:pt idx="10">
                <c:v>11.784784</c:v>
              </c:pt>
              <c:pt idx="11">
                <c:v>-26.069287</c:v>
              </c:pt>
              <c:pt idx="12">
                <c:v>5.606411</c:v>
              </c:pt>
              <c:pt idx="13">
                <c:v>10.025318</c:v>
              </c:pt>
              <c:pt idx="14">
                <c:v>-11.478591</c:v>
              </c:pt>
              <c:pt idx="15">
                <c:v>20.234999</c:v>
              </c:pt>
              <c:pt idx="16">
                <c:v>-8.759684</c:v>
              </c:pt>
              <c:pt idx="17">
                <c:v>-4.175094</c:v>
              </c:pt>
              <c:pt idx="18">
                <c:v>10.560885</c:v>
              </c:pt>
              <c:pt idx="19">
                <c:v>-5.878099</c:v>
              </c:pt>
              <c:pt idx="20">
                <c:v>4.019884</c:v>
              </c:pt>
              <c:pt idx="21">
                <c:v>3.772859</c:v>
              </c:pt>
              <c:pt idx="22">
                <c:v>4.2599</c:v>
              </c:pt>
              <c:pt idx="23">
                <c:v>0.617848</c:v>
              </c:pt>
              <c:pt idx="24">
                <c:v>7.136656</c:v>
              </c:pt>
              <c:pt idx="25">
                <c:v>0.218938</c:v>
              </c:pt>
              <c:pt idx="26">
                <c:v>9.489033</c:v>
              </c:pt>
              <c:pt idx="27">
                <c:v>11.02197</c:v>
              </c:pt>
              <c:pt idx="28">
                <c:v>-10.847007</c:v>
              </c:pt>
              <c:pt idx="29">
                <c:v>9.775089</c:v>
              </c:pt>
            </c:numLit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1.216177</c:v>
              </c:pt>
              <c:pt idx="1">
                <c:v>2.717153</c:v>
              </c:pt>
              <c:pt idx="2">
                <c:v>-5.017586</c:v>
              </c:pt>
              <c:pt idx="3">
                <c:v>-4.797491</c:v>
              </c:pt>
              <c:pt idx="4">
                <c:v>-6.494276</c:v>
              </c:pt>
              <c:pt idx="5">
                <c:v>8.034867</c:v>
              </c:pt>
              <c:pt idx="6">
                <c:v>2.334531</c:v>
              </c:pt>
              <c:pt idx="7">
                <c:v>-0.051228</c:v>
              </c:pt>
              <c:pt idx="8">
                <c:v>-4.941241</c:v>
              </c:pt>
              <c:pt idx="9">
                <c:v>-2.722</c:v>
              </c:pt>
              <c:pt idx="10">
                <c:v>5.586717</c:v>
              </c:pt>
              <c:pt idx="11">
                <c:v>6.563323</c:v>
              </c:pt>
              <c:pt idx="12">
                <c:v>2.912163</c:v>
              </c:pt>
              <c:pt idx="13">
                <c:v>2.068432</c:v>
              </c:pt>
              <c:pt idx="14">
                <c:v>-1.430616</c:v>
              </c:pt>
              <c:pt idx="15">
                <c:v>2.43275</c:v>
              </c:pt>
              <c:pt idx="16">
                <c:v>17.393</c:v>
              </c:pt>
              <c:pt idx="17">
                <c:v>9.439032</c:v>
              </c:pt>
              <c:pt idx="18">
                <c:v>7.841508</c:v>
              </c:pt>
              <c:pt idx="19">
                <c:v>-1.531477</c:v>
              </c:pt>
              <c:pt idx="20">
                <c:v>2.702926</c:v>
              </c:pt>
              <c:pt idx="21">
                <c:v>-0.045107</c:v>
              </c:pt>
              <c:pt idx="22">
                <c:v>12.382601</c:v>
              </c:pt>
              <c:pt idx="23">
                <c:v>-0.034985</c:v>
              </c:pt>
              <c:pt idx="24">
                <c:v>0.03399</c:v>
              </c:pt>
              <c:pt idx="25">
                <c:v>-3.439241</c:v>
              </c:pt>
              <c:pt idx="26">
                <c:v>11.283227</c:v>
              </c:pt>
              <c:pt idx="27">
                <c:v>-2.529997</c:v>
              </c:pt>
              <c:pt idx="28">
                <c:v>1.623318</c:v>
              </c:pt>
              <c:pt idx="29">
                <c:v>-5.178834</c:v>
              </c:pt>
            </c:numLit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-3.227868</c:v>
              </c:pt>
              <c:pt idx="1">
                <c:v>2.710964</c:v>
              </c:pt>
              <c:pt idx="2">
                <c:v>-2.745939</c:v>
              </c:pt>
              <c:pt idx="3">
                <c:v>-10.368061</c:v>
              </c:pt>
              <c:pt idx="4">
                <c:v>-3.924594</c:v>
              </c:pt>
              <c:pt idx="5">
                <c:v>9.661482</c:v>
              </c:pt>
              <c:pt idx="6">
                <c:v>-1.869753</c:v>
              </c:pt>
              <c:pt idx="7">
                <c:v>-3.653498</c:v>
              </c:pt>
              <c:pt idx="8">
                <c:v>2.079089</c:v>
              </c:pt>
              <c:pt idx="9">
                <c:v>1.76388</c:v>
              </c:pt>
              <c:pt idx="10">
                <c:v>-0.209511</c:v>
              </c:pt>
              <c:pt idx="11">
                <c:v>6.087434</c:v>
              </c:pt>
              <c:pt idx="12">
                <c:v>0.209496</c:v>
              </c:pt>
              <c:pt idx="13">
                <c:v>2.521649</c:v>
              </c:pt>
              <c:pt idx="14">
                <c:v>4.634937</c:v>
              </c:pt>
              <c:pt idx="15">
                <c:v>5.615431</c:v>
              </c:pt>
              <c:pt idx="16">
                <c:v>0.258603</c:v>
              </c:pt>
              <c:pt idx="17">
                <c:v>1.537293</c:v>
              </c:pt>
              <c:pt idx="18">
                <c:v>1.837462</c:v>
              </c:pt>
              <c:pt idx="19">
                <c:v>1.170726</c:v>
              </c:pt>
              <c:pt idx="20">
                <c:v>1.593509</c:v>
              </c:pt>
              <c:pt idx="21">
                <c:v>1.493215</c:v>
              </c:pt>
              <c:pt idx="22">
                <c:v>5.060378</c:v>
              </c:pt>
              <c:pt idx="23">
                <c:v>-2.324919</c:v>
              </c:pt>
              <c:pt idx="24">
                <c:v>8.597368</c:v>
              </c:pt>
              <c:pt idx="25">
                <c:v>4.286585</c:v>
              </c:pt>
              <c:pt idx="26">
                <c:v>0.363105</c:v>
              </c:pt>
              <c:pt idx="27">
                <c:v>5.261717</c:v>
              </c:pt>
              <c:pt idx="28">
                <c:v>4.081247</c:v>
              </c:pt>
              <c:pt idx="29">
                <c:v>1.123131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Step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Raw</c:v>
          </c:tx>
          <c:spPr>
            <a:solidFill xmlns:a="http://schemas.openxmlformats.org/drawingml/2006/main">
              <a:srgbClr val="999999"/>
            </a:solidFill>
            <a:ln xmlns:a="http://schemas.openxmlformats.org/drawingml/2006/main" w="22860">
              <a:solidFill>
                <a:srgbClr val="999999"/>
              </a:solidFill>
              <a:prstDash val="solid"/>
            </a:ln>
          </c:spPr>
          <c:marker>
            <c:symbol val="triangle"/>
            <c:size val="5"/>
            <c:spPr>
              <ns0:solidFill xmlns:ns0="http://schemas.openxmlformats.org/drawingml/2006/main">
                <ns0:srgbClr val="999999"/>
              </ns0:solidFill>
              <ns1:ln xmlns:ns1="http://schemas.openxmlformats.org/drawingml/2006/main" w="9525">
                <ns1:solidFill>
                  <ns1:srgbClr val="999999"/>
                </ns1:solidFill>
              </ns1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2.686368</c:v>
              </c:pt>
              <c:pt idx="1">
                <c:v>9.182534</c:v>
              </c:pt>
              <c:pt idx="2">
                <c:v>2.138453</c:v>
              </c:pt>
              <c:pt idx="3">
                <c:v>19.038464</c:v>
              </c:pt>
              <c:pt idx="4">
                <c:v>7.55241</c:v>
              </c:pt>
              <c:pt idx="5">
                <c:v>8.292485</c:v>
              </c:pt>
              <c:pt idx="6">
                <c:v>1.938353</c:v>
              </c:pt>
              <c:pt idx="7">
                <c:v>0.169756</c:v>
              </c:pt>
              <c:pt idx="8">
                <c:v>12.516923</c:v>
              </c:pt>
              <c:pt idx="9">
                <c:v>-7.524604</c:v>
              </c:pt>
              <c:pt idx="10">
                <c:v>7.555743</c:v>
              </c:pt>
              <c:pt idx="11">
                <c:v>-6.01632</c:v>
              </c:pt>
              <c:pt idx="12">
                <c:v>2.937759</c:v>
              </c:pt>
              <c:pt idx="13">
                <c:v>4.849974</c:v>
              </c:pt>
              <c:pt idx="14">
                <c:v>-1.991931</c:v>
              </c:pt>
              <c:pt idx="15">
                <c:v>7.006504</c:v>
              </c:pt>
              <c:pt idx="16">
                <c:v>10.385565</c:v>
              </c:pt>
              <c:pt idx="17">
                <c:v>4.370432</c:v>
              </c:pt>
              <c:pt idx="18">
                <c:v>-4.605217</c:v>
              </c:pt>
              <c:pt idx="19">
                <c:v>1.729503</c:v>
              </c:pt>
              <c:pt idx="20">
                <c:v>6.639988</c:v>
              </c:pt>
              <c:pt idx="21">
                <c:v>2.952791</c:v>
              </c:pt>
              <c:pt idx="22">
                <c:v>1.565323</c:v>
              </c:pt>
              <c:pt idx="23">
                <c:v>-1.842113</c:v>
              </c:pt>
              <c:pt idx="24">
                <c:v>11.002118</c:v>
              </c:pt>
              <c:pt idx="25">
                <c:v>7.265897</c:v>
              </c:pt>
              <c:pt idx="26">
                <c:v>-3.046962</c:v>
              </c:pt>
              <c:pt idx="27">
                <c:v>12.251693</c:v>
              </c:pt>
              <c:pt idx="28">
                <c:v>1.922943</c:v>
              </c:pt>
              <c:pt idx="29">
                <c:v>4.484335</c:v>
              </c:pt>
            </c:numLit>
          </c:val>
          <c:smooth val="0"/>
        </c:ser>
        <c:ser>
          <c:idx val="1"/>
          <c:order val="1"/>
          <c:tx>
            <c:v>Wiener</c:v>
          </c:tx>
          <c:spPr>
            <a:solidFill xmlns:a="http://schemas.openxmlformats.org/drawingml/2006/main">
              <a:srgbClr val="555555"/>
            </a:solidFill>
            <a:ln xmlns:a="http://schemas.openxmlformats.org/drawingml/2006/main" w="22860">
              <a:solidFill>
                <a:srgbClr val="555555"/>
              </a:solidFill>
              <a:prstDash val="dash"/>
            </a:ln>
          </c:spPr>
          <c:marker>
            <c:symbol val="square"/>
            <c:size val="5"/>
            <c:spPr>
              <ns2:solidFill xmlns:ns2="http://schemas.openxmlformats.org/drawingml/2006/main">
                <ns2:srgbClr val="555555"/>
              </ns2:solidFill>
              <ns3:ln xmlns:ns3="http://schemas.openxmlformats.org/drawingml/2006/main" w="9525">
                <ns3:solidFill>
                  <ns3:srgbClr val="555555"/>
                </ns3:solidFill>
              </ns3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0.776912</c:v>
              </c:pt>
              <c:pt idx="1">
                <c:v>9.592831</c:v>
              </c:pt>
              <c:pt idx="2">
                <c:v>0.733851</c:v>
              </c:pt>
              <c:pt idx="3">
                <c:v>9.536013</c:v>
              </c:pt>
              <c:pt idx="4">
                <c:v>6.043761</c:v>
              </c:pt>
              <c:pt idx="5">
                <c:v>8.937796</c:v>
              </c:pt>
              <c:pt idx="6">
                <c:v>5.038577</c:v>
              </c:pt>
              <c:pt idx="7">
                <c:v>-2.234989</c:v>
              </c:pt>
              <c:pt idx="8">
                <c:v>8.741583</c:v>
              </c:pt>
              <c:pt idx="9">
                <c:v>-9.188174</c:v>
              </c:pt>
              <c:pt idx="10">
                <c:v>4.837024</c:v>
              </c:pt>
              <c:pt idx="11">
                <c:v>2.31548</c:v>
              </c:pt>
              <c:pt idx="12">
                <c:v>0.548453</c:v>
              </c:pt>
              <c:pt idx="13">
                <c:v>0.922328</c:v>
              </c:pt>
              <c:pt idx="14">
                <c:v>1.656364</c:v>
              </c:pt>
              <c:pt idx="15">
                <c:v>7.469376</c:v>
              </c:pt>
              <c:pt idx="16">
                <c:v>8.894075</c:v>
              </c:pt>
              <c:pt idx="17">
                <c:v>1.793953</c:v>
              </c:pt>
              <c:pt idx="18">
                <c:v>-7.004938</c:v>
              </c:pt>
              <c:pt idx="19">
                <c:v>0.586654</c:v>
              </c:pt>
              <c:pt idx="20">
                <c:v>6.626341</c:v>
              </c:pt>
              <c:pt idx="21">
                <c:v>1.477375</c:v>
              </c:pt>
              <c:pt idx="22">
                <c:v>1.980899</c:v>
              </c:pt>
              <c:pt idx="23">
                <c:v>2.507699</c:v>
              </c:pt>
              <c:pt idx="24">
                <c:v>3.572485</c:v>
              </c:pt>
              <c:pt idx="25">
                <c:v>8.726712</c:v>
              </c:pt>
              <c:pt idx="26">
                <c:v>3.90271</c:v>
              </c:pt>
              <c:pt idx="27">
                <c:v>10.370118</c:v>
              </c:pt>
              <c:pt idx="28">
                <c:v>7.791488</c:v>
              </c:pt>
              <c:pt idx="29">
                <c:v>4.299462</c:v>
              </c:pt>
            </c:numLit>
          </c:val>
          <c:smooth val="0"/>
        </c:ser>
        <c:ser>
          <c:idx val="2"/>
          <c:order val="2"/>
          <c:tx>
            <c:v>MOSR</c:v>
          </c:tx>
          <c:spPr>
            <a:solidFill xmlns:a="http://schemas.openxmlformats.org/drawingml/2006/main">
              <a:srgbClr val="111111"/>
            </a:solidFill>
            <a:ln xmlns:a="http://schemas.openxmlformats.org/drawingml/2006/main" w="33338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  <c:spPr>
              <ns4:solidFill xmlns:ns4="http://schemas.openxmlformats.org/drawingml/2006/main">
                <ns4:srgbClr val="111111"/>
              </ns4:solidFill>
              <ns5:ln xmlns:ns5="http://schemas.openxmlformats.org/drawingml/2006/main" w="9525">
                <ns5:solidFill>
                  <ns5:srgbClr val="111111"/>
                </ns5:solidFill>
              </ns5:ln>
            </c:spPr>
          </c:marker>
          <c:cat>
            <c:numLit>
              <c:formatCode>General</c:formatCode>
              <c:ptCount val="3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  <c:pt idx="10">
                <c:v>11</c:v>
              </c:pt>
              <c:pt idx="11">
                <c:v>12</c:v>
              </c:pt>
              <c:pt idx="12">
                <c:v>13</c:v>
              </c:pt>
              <c:pt idx="13">
                <c:v>14</c:v>
              </c:pt>
              <c:pt idx="14">
                <c:v>15</c:v>
              </c:pt>
              <c:pt idx="15">
                <c:v>16</c:v>
              </c:pt>
              <c:pt idx="16">
                <c:v>17</c:v>
              </c:pt>
              <c:pt idx="17">
                <c:v>18</c:v>
              </c:pt>
              <c:pt idx="18">
                <c:v>19</c:v>
              </c:pt>
              <c:pt idx="19">
                <c:v>20</c:v>
              </c:pt>
              <c:pt idx="20">
                <c:v>21</c:v>
              </c:pt>
              <c:pt idx="21">
                <c:v>22</c:v>
              </c:pt>
              <c:pt idx="22">
                <c:v>23</c:v>
              </c:pt>
              <c:pt idx="23">
                <c:v>24</c:v>
              </c:pt>
              <c:pt idx="24">
                <c:v>25</c:v>
              </c:pt>
              <c:pt idx="25">
                <c:v>26</c:v>
              </c:pt>
              <c:pt idx="26">
                <c:v>27</c:v>
              </c:pt>
              <c:pt idx="27">
                <c:v>28</c:v>
              </c:pt>
              <c:pt idx="28">
                <c:v>29</c:v>
              </c:pt>
              <c:pt idx="29">
                <c:v>30</c:v>
              </c:pt>
            </c:numLit>
          </c:cat>
          <c:val>
            <c:numLit>
              <c:formatCode>0.000</c:formatCode>
              <c:ptCount val="30"/>
              <c:pt idx="0">
                <c:v>0.680232</c:v>
              </c:pt>
              <c:pt idx="1">
                <c:v>12.242885</c:v>
              </c:pt>
              <c:pt idx="2">
                <c:v>1.863735</c:v>
              </c:pt>
              <c:pt idx="3">
                <c:v>12.564694</c:v>
              </c:pt>
              <c:pt idx="4">
                <c:v>5.435655</c:v>
              </c:pt>
              <c:pt idx="5">
                <c:v>7.208391</c:v>
              </c:pt>
              <c:pt idx="6">
                <c:v>4.623323</c:v>
              </c:pt>
              <c:pt idx="7">
                <c:v>-1.305476</c:v>
              </c:pt>
              <c:pt idx="8">
                <c:v>7.424037</c:v>
              </c:pt>
              <c:pt idx="9">
                <c:v>-7.976704</c:v>
              </c:pt>
              <c:pt idx="10">
                <c:v>3.492664</c:v>
              </c:pt>
              <c:pt idx="11">
                <c:v>-1.536607</c:v>
              </c:pt>
              <c:pt idx="12">
                <c:v>0.768757</c:v>
              </c:pt>
              <c:pt idx="13">
                <c:v>0.782678</c:v>
              </c:pt>
              <c:pt idx="14">
                <c:v>-0.286744</c:v>
              </c:pt>
              <c:pt idx="15">
                <c:v>4.945026</c:v>
              </c:pt>
              <c:pt idx="16">
                <c:v>9.192739</c:v>
              </c:pt>
              <c:pt idx="17">
                <c:v>1.055709</c:v>
              </c:pt>
              <c:pt idx="18">
                <c:v>-5.153098</c:v>
              </c:pt>
              <c:pt idx="19">
                <c:v>-0.645551</c:v>
              </c:pt>
              <c:pt idx="20">
                <c:v>6.037578</c:v>
              </c:pt>
              <c:pt idx="21">
                <c:v>0.465356</c:v>
              </c:pt>
              <c:pt idx="22">
                <c:v>4.159249</c:v>
              </c:pt>
              <c:pt idx="23">
                <c:v>3.294079</c:v>
              </c:pt>
              <c:pt idx="24">
                <c:v>2.30634</c:v>
              </c:pt>
              <c:pt idx="25">
                <c:v>6.304203</c:v>
              </c:pt>
              <c:pt idx="26">
                <c:v>2.782126</c:v>
              </c:pt>
              <c:pt idx="27">
                <c:v>8.773705</c:v>
              </c:pt>
              <c:pt idx="28">
                <c:v>3.920411</c:v>
              </c:pt>
              <c:pt idx="29">
                <c:v>2.086435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75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Pair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  <c:tickLblPos val="low"/>
      </c:catAx>
      <c:valAx>
        <c:axId val="48672768"/>
        <c:scaling>
          <c:orientation val="minMax"/>
          <c:max val="30"/>
          <c:min val="-3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6D6D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2100" b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Measured step − 1 µm (nm)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 b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" sourceLinked="0"/>
        <c:majorTickMark val="none"/>
        <c:minorTickMark val="none"/>
        <c:spPr>
          <a:ln xmlns:a="http://schemas.openxmlformats.org/drawingml/2006/main" w="11430">
            <a:solidFill>
              <a:srgbClr val="11111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10"/>
        <c:crosses val="mi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75" b="0">
              <a:solidFill>
                <a:srgbClr val="111111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0">
          <a:gsLst>
            <a:gs pos="0">
              <a:srgbClr val="003064"/>
            </a:gs>
            <a:gs pos="50000">
              <a:srgbClr val="EAEAEA"/>
            </a:gs>
            <a:gs pos="100000">
              <a:srgbClr val="00306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74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45AF3B16-92C9-4B63-BB99-B0A6A830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9113" y="8037677"/>
            <a:ext cx="15244085" cy="34100749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6B93269-FC93-4109-A79A-88E08C33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512" y="8000176"/>
            <a:ext cx="15244085" cy="34100749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77" name="Text Box 10">
            <a:extLst xmlns:a="http://schemas.openxmlformats.org/drawingml/2006/main">
              <a:ext uri="{FF2B5EF4-FFF2-40B4-BE49-F238E27FC236}">
                <a16:creationId xmlns:a16="http://schemas.microsoft.com/office/drawing/2014/main" id="{60C4A10B-A87F-4B22-82CB-DD80B26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489062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Methods</a:t>
            </a:r>
          </a:p>
        </p:txBody>
      </p:sp>
      <p:sp>
        <p:nvSpPr>
          <p:cNvPr id="3078" name="Text Box 11">
            <a:extLst xmlns:a="http://schemas.openxmlformats.org/drawingml/2006/main">
              <a:ext uri="{FF2B5EF4-FFF2-40B4-BE49-F238E27FC236}">
                <a16:creationId xmlns:a16="http://schemas.microsoft.com/office/drawing/2014/main" id="{221AD9D1-0226-440B-A3DA-6DD15324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34125000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7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7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Conclusions</a:t>
            </a:r>
          </a:p>
        </p:txBody>
      </p:sp>
      <p:sp>
        <p:nvSpPr>
          <p:cNvPr id="307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87001057-A9F8-4E61-ACD9-3062DE42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261" y="500011"/>
            <a:ext cx="31388190" cy="6900152"/>
          </a:xfrm>
          <a:prstGeom xmlns:a="http://schemas.openxmlformats.org/drawingml/2006/main" prst="roundRect">
            <a:avLst>
              <a:gd name="adj" fmla="val 10870"/>
            </a:avLst>
          </a:prstGeom>
          <a:gradFill xmlns:a="http://schemas.openxmlformats.org/drawingml/2006/main" rotWithShape="1">
            <a:gsLst>
              <a:gs pos="0">
                <a:srgbClr val="A7C4FF"/>
              </a:gs>
              <a:gs pos="100000">
                <a:schemeClr val="bg1"/>
              </a:gs>
            </a:gsLst>
            <a:lin ang="5400000" scaled="1"/>
          </a:gradFill>
          <a:ln xmlns:a="http://schemas.openxmlformats.org/drawingml/2006/main" w="9525">
            <a:solidFill>
              <a:schemeClr val="tx1"/>
            </a:solidFill>
          </a:ln>
        </p:spPr>
        <p:txBody>
          <a:bodyPr xmlns:a="http://schemas.openxmlformats.org/drawingml/2006/main" wrap="none" anchor="ctr"/>
          <a:lstStyle xmlns:a="http://schemas.openxmlformats.org/drawingml/2006/main"/>
          <a:p xmlns:a="http://schemas.openxmlformats.org/drawingml/2006/main">
            <a:pPr algn="ctr" defTabSz="4389438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80" name="Text Box 14">
            <a:extLst xmlns:a="http://schemas.openxmlformats.org/drawingml/2006/main">
              <a:ext uri="{FF2B5EF4-FFF2-40B4-BE49-F238E27FC236}">
                <a16:creationId xmlns:a16="http://schemas.microsoft.com/office/drawing/2014/main" id="{99E695A8-C601-42BC-9999-D802F08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2625000"/>
            <a:ext cx="30187500" cy="25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Measurement-Oriented Microscopy Reconstruction</a:t>
            </a:r>
          </a:p>
          <a:p xmlns:a="http://schemas.openxmlformats.org/drawingml/2006/main">
            <a:pPr algn="ctr" defTabSz="4389438">
              <a:lnSpc>
                <a:spcPct val="102000"/>
              </a:lnSpc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 Cross-Magnification Micro-Displacement Inspection</a:t>
            </a:r>
          </a:p>
        </p:txBody>
      </p:sp>
      <p:sp>
        <p:nvSpPr>
          <p:cNvPr id="3084" name="Text Box 27">
            <a:extLst xmlns:a="http://schemas.openxmlformats.org/drawingml/2006/main">
              <a:ext uri="{FF2B5EF4-FFF2-40B4-BE49-F238E27FC236}">
                <a16:creationId xmlns:a16="http://schemas.microsoft.com/office/drawing/2014/main" id="{4496260E-7609-40B1-B4F5-34F86E6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8250000"/>
            <a:ext cx="13687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53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3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Bibliography</a:t>
            </a:r>
          </a:p>
        </p:txBody>
      </p:sp>
      <p:sp>
        <p:nvSpPr>
          <p:cNvPr id="3090" name="Text Box 42">
            <a:extLst xmlns:a="http://schemas.openxmlformats.org/drawingml/2006/main">
              <a:ext uri="{FF2B5EF4-FFF2-40B4-BE49-F238E27FC236}">
                <a16:creationId xmlns:a16="http://schemas.microsoft.com/office/drawing/2014/main" id="{C2F720DB-3B68-49C1-AE22-EF8FD77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000" y="8596875"/>
            <a:ext cx="140625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3091" name="Text Box 43">
            <a:extLst xmlns:a="http://schemas.openxmlformats.org/drawingml/2006/main">
              <a:ext uri="{FF2B5EF4-FFF2-40B4-BE49-F238E27FC236}">
                <a16:creationId xmlns:a16="http://schemas.microsoft.com/office/drawing/2014/main" id="{76388F38-CCAD-4705-BF6E-6A1C1DFA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8750" y="8615625"/>
            <a:ext cx="1415625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80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0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092" name="Text Box 49">
            <a:extLst xmlns:a="http://schemas.openxmlformats.org/drawingml/2006/main">
              <a:ext uri="{FF2B5EF4-FFF2-40B4-BE49-F238E27FC236}">
                <a16:creationId xmlns:a16="http://schemas.microsoft.com/office/drawing/2014/main" id="{E36F28AF-EABB-4EB8-9ED7-9154CEFE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00" y="1846875"/>
            <a:ext cx="3796875" cy="10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 defTabSz="4389438">
              <a:lnSpc>
                <a:spcPct val="102000"/>
              </a:lnSpc>
              <a:spcBef>
                <a:spcPct val="50000"/>
              </a:spcBef>
              <a:buNone/>
              <a:defRPr sz="2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Paper Code: TW0243</a:t>
            </a:r>
            <a:endParaRPr sz="2800" b="1" i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291" name="圖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54dec1a1043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941261" y="857832"/>
            <a:ext cx="2512555" cy="843769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</p:spPr>
      </p:pic>
      <p:sp>
        <p:nvSpPr>
          <p:cNvPr id="3138" name="authors">
            <a:extLst xmlns:a="http://schemas.openxmlformats.org/drawingml/2006/main">
              <a:ext uri="{FF2B5EF4-FFF2-40B4-BE49-F238E27FC236}">
                <a16:creationId xmlns:a16="http://schemas.microsoft.com/office/drawing/2014/main" id="{7E314A6A-B183-412E-A7FC-ACE6BF75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5437500"/>
            <a:ext cx="29343750" cy="6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46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6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Yen Hsuan Chiang, Liang-Chia Chen*</a:t>
            </a:r>
          </a:p>
        </p:txBody>
      </p:sp>
      <p:sp>
        <p:nvSpPr>
          <p:cNvPr id="3139" name="affiliation">
            <a:extLst xmlns:a="http://schemas.openxmlformats.org/drawingml/2006/main">
              <a:ext uri="{FF2B5EF4-FFF2-40B4-BE49-F238E27FC236}">
                <a16:creationId xmlns:a16="http://schemas.microsoft.com/office/drawing/2014/main" id="{9464D880-EC0D-48E0-95F3-62B16137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000" y="6140625"/>
            <a:ext cx="29343750" cy="51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Department of Mechanical Engineering, National Taiwan University</a:t>
            </a:r>
          </a:p>
        </p:txBody>
      </p:sp>
      <p:sp>
        <p:nvSpPr>
          <p:cNvPr id="3140" name="contact">
            <a:extLst xmlns:a="http://schemas.openxmlformats.org/drawingml/2006/main">
              <a:ext uri="{FF2B5EF4-FFF2-40B4-BE49-F238E27FC236}">
                <a16:creationId xmlns:a16="http://schemas.microsoft.com/office/drawing/2014/main" id="{67912D34-D21F-4AC2-90F2-33F6AEA2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750" y="6759375"/>
            <a:ext cx="29156250" cy="43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No. 1, Sec. 4, Roosevelt Rd., Taipei 10617, Taiwan.  *Correspondence: lchen@ntu.edu.tw</a:t>
            </a:r>
          </a:p>
        </p:txBody>
      </p:sp>
      <p:sp>
        <p:nvSpPr>
          <p:cNvPr id="3141" name="intro_body">
            <a:extLst xmlns:a="http://schemas.openxmlformats.org/drawingml/2006/main">
              <a:ext uri="{FF2B5EF4-FFF2-40B4-BE49-F238E27FC236}">
                <a16:creationId xmlns:a16="http://schemas.microsoft.com/office/drawing/2014/main" id="{0B8668B4-0B0F-4591-A6DD-4EA4D9F3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0218750"/>
            <a:ext cx="13875000" cy="365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Micro-displacement inspection requires image features that can be located consistently when the objective changes. Optical blur and pixel sampling affect the boundary signals used to estimate 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combines calibrated optical guidance, anti-aliased multiscale features [1,2] and bounded correction on the original pixel grid. One fixed set of reconstruction weights serves 20× and 50×. We test its measurement benefit using the same circle-center procedure for Raw, fixed Wiener and MOSR.</a:t>
            </a:r>
          </a:p>
        </p:txBody>
      </p:sp>
      <p:sp>
        <p:nvSpPr>
          <p:cNvPr id="3142" name="raw_label">
            <a:extLst xmlns:a="http://schemas.openxmlformats.org/drawingml/2006/main">
              <a:ext uri="{FF2B5EF4-FFF2-40B4-BE49-F238E27FC236}">
                <a16:creationId xmlns:a16="http://schemas.microsoft.com/office/drawing/2014/main" id="{251D5905-0F80-49F8-8669-8A4B5270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750" y="14062500"/>
            <a:ext cx="412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Raw</a:t>
            </a:r>
          </a:p>
        </p:txBody>
      </p:sp>
      <p:sp>
        <p:nvSpPr>
          <p:cNvPr id="3143" name="mosr_label">
            <a:extLst xmlns:a="http://schemas.openxmlformats.org/drawingml/2006/main">
              <a:ext uri="{FF2B5EF4-FFF2-40B4-BE49-F238E27FC236}">
                <a16:creationId xmlns:a16="http://schemas.microsoft.com/office/drawing/2014/main" id="{62DD4964-D7B3-4430-AAAD-142BA245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5000" y="14062500"/>
            <a:ext cx="412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MOSR</a:t>
            </a:r>
          </a:p>
        </p:txBody>
      </p:sp>
      <p:sp>
        <p:nvSpPr>
          <p:cNvPr id="3144" name="mag-20x">
            <a:extLst xmlns:a="http://schemas.openxmlformats.org/drawingml/2006/main">
              <a:ext uri="{FF2B5EF4-FFF2-40B4-BE49-F238E27FC236}">
                <a16:creationId xmlns:a16="http://schemas.microsoft.com/office/drawing/2014/main" id="{DDBBAE3F-4C9F-4D7E-B571-3B240644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4578125"/>
            <a:ext cx="1406250" cy="4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</a:t>
            </a:r>
          </a:p>
        </p:txBody>
      </p:sp>
      <p:pic>
        <p:nvPicPr>
          <p:cNvPr id="32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7805035eb49c5"/>
          <a:stretch xmlns:a="http://schemas.openxmlformats.org/drawingml/2006/main"/>
        </p:blipFill>
        <p:spPr>
          <a:xfrm xmlns:a="http://schemas.openxmlformats.org/drawingml/2006/main">
            <a:off x="2343750" y="15046875"/>
            <a:ext cx="4125000" cy="4125000"/>
          </a:xfrm>
          <a:prstGeom xmlns:a="http://schemas.openxmlformats.org/drawingml/2006/main" prst="rect">
            <a:avLst/>
          </a:prstGeom>
        </p:spPr>
      </p:pic>
      <p:sp>
        <p:nvSpPr>
          <p:cNvPr id="3146" name="scale-20x-Raw">
            <a:extLst xmlns:a="http://schemas.openxmlformats.org/drawingml/2006/main">
              <a:ext uri="{FF2B5EF4-FFF2-40B4-BE49-F238E27FC236}">
                <a16:creationId xmlns:a16="http://schemas.microsoft.com/office/drawing/2014/main" id="{8AF57270-0DFD-413F-80B3-B9B301E1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448" y="18890625"/>
            <a:ext cx="493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47" name="scale-label-20x-Raw">
            <a:extLst xmlns:a="http://schemas.openxmlformats.org/drawingml/2006/main">
              <a:ext uri="{FF2B5EF4-FFF2-40B4-BE49-F238E27FC236}">
                <a16:creationId xmlns:a16="http://schemas.microsoft.com/office/drawing/2014/main" id="{B393BC27-B67C-4F6C-A96D-7F064BFB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948" y="18440625"/>
            <a:ext cx="868052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a30444d8aa4df0"/>
          <a:stretch xmlns:a="http://schemas.openxmlformats.org/drawingml/2006/main"/>
        </p:blipFill>
        <p:spPr>
          <a:xfrm xmlns:a="http://schemas.openxmlformats.org/drawingml/2006/main">
            <a:off x="9375000" y="15046875"/>
            <a:ext cx="4125000" cy="4125000"/>
          </a:xfrm>
          <a:prstGeom xmlns:a="http://schemas.openxmlformats.org/drawingml/2006/main" prst="rect">
            <a:avLst/>
          </a:prstGeom>
        </p:spPr>
      </p:pic>
      <p:sp>
        <p:nvSpPr>
          <p:cNvPr id="3149" name="scale-20x-MOSR">
            <a:extLst xmlns:a="http://schemas.openxmlformats.org/drawingml/2006/main">
              <a:ext uri="{FF2B5EF4-FFF2-40B4-BE49-F238E27FC236}">
                <a16:creationId xmlns:a16="http://schemas.microsoft.com/office/drawing/2014/main" id="{1A645367-BE73-4F82-9645-2C54AB3E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698" y="18890625"/>
            <a:ext cx="4930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0" name="scale-label-20x-MOSR">
            <a:extLst xmlns:a="http://schemas.openxmlformats.org/drawingml/2006/main">
              <a:ext uri="{FF2B5EF4-FFF2-40B4-BE49-F238E27FC236}">
                <a16:creationId xmlns:a16="http://schemas.microsoft.com/office/drawing/2014/main" id="{8780B00E-CD0D-48CB-B5AD-4382E5E9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8198" y="18440625"/>
            <a:ext cx="868052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1" name="mag-50x">
            <a:extLst xmlns:a="http://schemas.openxmlformats.org/drawingml/2006/main">
              <a:ext uri="{FF2B5EF4-FFF2-40B4-BE49-F238E27FC236}">
                <a16:creationId xmlns:a16="http://schemas.microsoft.com/office/drawing/2014/main" id="{44A21074-C70F-40BA-9592-DEE7FEDB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19359375"/>
            <a:ext cx="1406250" cy="46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</a:t>
            </a:r>
          </a:p>
        </p:txBody>
      </p:sp>
      <p:pic>
        <p:nvPicPr>
          <p:cNvPr id="33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c31947874f4b5c"/>
          <a:stretch xmlns:a="http://schemas.openxmlformats.org/drawingml/2006/main"/>
        </p:blipFill>
        <p:spPr>
          <a:xfrm xmlns:a="http://schemas.openxmlformats.org/drawingml/2006/main">
            <a:off x="2343750" y="19837211"/>
            <a:ext cx="4125000" cy="4106828"/>
          </a:xfrm>
          <a:prstGeom xmlns:a="http://schemas.openxmlformats.org/drawingml/2006/main" prst="rect">
            <a:avLst/>
          </a:prstGeom>
        </p:spPr>
      </p:pic>
      <p:sp>
        <p:nvSpPr>
          <p:cNvPr id="3153" name="scale-50x-Raw">
            <a:extLst xmlns:a="http://schemas.openxmlformats.org/drawingml/2006/main">
              <a:ext uri="{FF2B5EF4-FFF2-40B4-BE49-F238E27FC236}">
                <a16:creationId xmlns:a16="http://schemas.microsoft.com/office/drawing/2014/main" id="{2C243FFA-046F-41CB-894D-0A831AB8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0781" y="23671875"/>
            <a:ext cx="5267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4" name="scale-label-50x-Raw">
            <a:extLst xmlns:a="http://schemas.openxmlformats.org/drawingml/2006/main">
              <a:ext uri="{FF2B5EF4-FFF2-40B4-BE49-F238E27FC236}">
                <a16:creationId xmlns:a16="http://schemas.microsoft.com/office/drawing/2014/main" id="{0A949D06-3885-4FE2-9214-47EEAB78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281" y="23221875"/>
            <a:ext cx="901719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pic>
        <p:nvPicPr>
          <p:cNvPr id="3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68057e44745fd"/>
          <a:stretch xmlns:a="http://schemas.openxmlformats.org/drawingml/2006/main"/>
        </p:blipFill>
        <p:spPr>
          <a:xfrm xmlns:a="http://schemas.openxmlformats.org/drawingml/2006/main">
            <a:off x="9375000" y="19837211"/>
            <a:ext cx="4125000" cy="4106828"/>
          </a:xfrm>
          <a:prstGeom xmlns:a="http://schemas.openxmlformats.org/drawingml/2006/main" prst="rect">
            <a:avLst/>
          </a:prstGeom>
        </p:spPr>
      </p:pic>
      <p:sp>
        <p:nvSpPr>
          <p:cNvPr id="3156" name="scale-50x-MOSR">
            <a:extLst xmlns:a="http://schemas.openxmlformats.org/drawingml/2006/main">
              <a:ext uri="{FF2B5EF4-FFF2-40B4-BE49-F238E27FC236}">
                <a16:creationId xmlns:a16="http://schemas.microsoft.com/office/drawing/2014/main" id="{708E8618-1D46-41FB-9831-47D93953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031" y="23671875"/>
            <a:ext cx="52671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6250">
            <a:solidFill>
              <a:srgbClr val="FFFFFF"/>
            </a:solidFill>
          </a:ln>
        </p:spPr>
      </p:sp>
      <p:sp>
        <p:nvSpPr>
          <p:cNvPr id="3157" name="scale-label-50x-MOSR">
            <a:extLst xmlns:a="http://schemas.openxmlformats.org/drawingml/2006/main">
              <a:ext uri="{FF2B5EF4-FFF2-40B4-BE49-F238E27FC236}">
                <a16:creationId xmlns:a16="http://schemas.microsoft.com/office/drawing/2014/main" id="{C58E632C-632C-4F6C-B76B-65A575B3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4531" y="23221875"/>
            <a:ext cx="901719" cy="3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 µm</a:t>
            </a:r>
          </a:p>
        </p:txBody>
      </p:sp>
      <p:sp>
        <p:nvSpPr>
          <p:cNvPr id="3158" name="figure1_caption">
            <a:extLst xmlns:a="http://schemas.openxmlformats.org/drawingml/2006/main">
              <a:ext uri="{FF2B5EF4-FFF2-40B4-BE49-F238E27FC236}">
                <a16:creationId xmlns:a16="http://schemas.microsoft.com/office/drawing/2014/main" id="{2CB29FA8-7C8A-46C1-90A6-F18B4528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4093750"/>
            <a:ext cx="13875000" cy="7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1. Corresponding Raw and MOSR fields at both objectives. Paired images share the crop and grayscale range. Scale bars: 2 µm.</a:t>
            </a:r>
          </a:p>
        </p:txBody>
      </p:sp>
      <p:sp>
        <p:nvSpPr>
          <p:cNvPr id="3159" name="model_heading">
            <a:extLst xmlns:a="http://schemas.openxmlformats.org/drawingml/2006/main">
              <a:ext uri="{FF2B5EF4-FFF2-40B4-BE49-F238E27FC236}">
                <a16:creationId xmlns:a16="http://schemas.microsoft.com/office/drawing/2014/main" id="{C64AB510-5662-455E-982F-3F8B40F2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26343750"/>
            <a:ext cx="1387500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Optically guided reconstruction on the native grid</a:t>
            </a:r>
          </a:p>
        </p:txBody>
      </p:sp>
      <p:sp>
        <p:nvSpPr>
          <p:cNvPr id="3160" name="model_input">
            <a:extLst xmlns:a="http://schemas.openxmlformats.org/drawingml/2006/main">
              <a:ext uri="{FF2B5EF4-FFF2-40B4-BE49-F238E27FC236}">
                <a16:creationId xmlns:a16="http://schemas.microsoft.com/office/drawing/2014/main" id="{5BD1C7B2-6422-482B-80AC-1E09D3C4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27281250"/>
            <a:ext cx="2156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image</a:t>
            </a:r>
          </a:p>
        </p:txBody>
      </p:sp>
      <p:sp>
        <p:nvSpPr>
          <p:cNvPr id="3161" name="model_context">
            <a:extLst xmlns:a="http://schemas.openxmlformats.org/drawingml/2006/main">
              <a:ext uri="{FF2B5EF4-FFF2-40B4-BE49-F238E27FC236}">
                <a16:creationId xmlns:a16="http://schemas.microsoft.com/office/drawing/2014/main" id="{F5C98FAB-50B9-435E-9B30-3E6874E7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500" y="27281250"/>
            <a:ext cx="30937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Anti-aliased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multiscale features</a:t>
            </a:r>
          </a:p>
        </p:txBody>
      </p:sp>
      <p:sp>
        <p:nvSpPr>
          <p:cNvPr id="3162" name="model_native">
            <a:extLst xmlns:a="http://schemas.openxmlformats.org/drawingml/2006/main">
              <a:ext uri="{FF2B5EF4-FFF2-40B4-BE49-F238E27FC236}">
                <a16:creationId xmlns:a16="http://schemas.microsoft.com/office/drawing/2014/main" id="{AD966F0B-8953-49FB-A16D-2F49CC6C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7500" y="27281250"/>
            <a:ext cx="2906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Native-grid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refinement</a:t>
            </a:r>
          </a:p>
        </p:txBody>
      </p:sp>
      <p:sp>
        <p:nvSpPr>
          <p:cNvPr id="3163" name="model_output">
            <a:extLst xmlns:a="http://schemas.openxmlformats.org/drawingml/2006/main">
              <a:ext uri="{FF2B5EF4-FFF2-40B4-BE49-F238E27FC236}">
                <a16:creationId xmlns:a16="http://schemas.microsoft.com/office/drawing/2014/main" id="{1465205D-A474-400C-9E1A-5D19AAC6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5000" y="27281250"/>
            <a:ext cx="2531250" cy="131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Input-referenced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bounded output</a:t>
            </a:r>
          </a:p>
        </p:txBody>
      </p:sp>
      <p:sp>
        <p:nvSpPr>
          <p:cNvPr id="3164" name="model_optical">
            <a:extLst xmlns:a="http://schemas.openxmlformats.org/drawingml/2006/main">
              <a:ext uri="{FF2B5EF4-FFF2-40B4-BE49-F238E27FC236}">
                <a16:creationId xmlns:a16="http://schemas.microsoft.com/office/drawing/2014/main" id="{2F25F925-14F5-4D28-B8C5-CA201294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750" y="29484375"/>
            <a:ext cx="4500000" cy="98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Calibrated optical guidance</a:t>
            </a:r>
          </a:p>
        </p:txBody>
      </p:sp>
      <p:cxnSp>
        <p:nvCxnSpPr>
          <p:cNvPr id="3319" name=""/>
          <p:cNvCxnSpPr>
            <a:stCxn xmlns:a="http://schemas.openxmlformats.org/drawingml/2006/main" id="3160" idx="3"/>
            <a:endCxn xmlns:a="http://schemas.openxmlformats.org/drawingml/2006/main" id="3161" idx="1"/>
          </p:cNvCxnSpPr>
          <p:nvPr/>
        </p:nvCxnSpPr>
        <p:spPr>
          <a:xfrm xmlns:a="http://schemas.openxmlformats.org/drawingml/2006/main">
            <a:off x="3375000" y="27937500"/>
            <a:ext cx="93750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cxnSp>
        <p:nvCxnSpPr>
          <p:cNvPr id="3320" name=""/>
          <p:cNvCxnSpPr>
            <a:stCxn xmlns:a="http://schemas.openxmlformats.org/drawingml/2006/main" id="3161" idx="3"/>
            <a:endCxn xmlns:a="http://schemas.openxmlformats.org/drawingml/2006/main" id="3162" idx="1"/>
          </p:cNvCxnSpPr>
          <p:nvPr/>
        </p:nvCxnSpPr>
        <p:spPr>
          <a:xfrm xmlns:a="http://schemas.openxmlformats.org/drawingml/2006/main">
            <a:off x="7406250" y="27937500"/>
            <a:ext cx="103125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cxnSp>
        <p:nvCxnSpPr>
          <p:cNvPr id="3321" name=""/>
          <p:cNvCxnSpPr>
            <a:stCxn xmlns:a="http://schemas.openxmlformats.org/drawingml/2006/main" id="3162" idx="3"/>
            <a:endCxn xmlns:a="http://schemas.openxmlformats.org/drawingml/2006/main" id="3163" idx="1"/>
          </p:cNvCxnSpPr>
          <p:nvPr/>
        </p:nvCxnSpPr>
        <p:spPr>
          <a:xfrm xmlns:a="http://schemas.openxmlformats.org/drawingml/2006/main">
            <a:off x="11343750" y="27937500"/>
            <a:ext cx="1031250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cxnSp>
        <p:nvCxnSpPr>
          <p:cNvPr id="3322" name=""/>
          <p:cNvCxnSpPr>
            <a:stCxn xmlns:a="http://schemas.openxmlformats.org/drawingml/2006/main" id="3164" idx="0"/>
            <a:endCxn xmlns:a="http://schemas.openxmlformats.org/drawingml/2006/main" id="3161" idx="2"/>
          </p:cNvCxnSpPr>
          <p:nvPr/>
        </p:nvCxnSpPr>
        <p:spPr>
          <a:xfrm xmlns:a="http://schemas.openxmlformats.org/drawingml/2006/main" flipH="1" flipV="1">
            <a:off x="5859375" y="28593750"/>
            <a:ext cx="1734375" cy="8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sp>
        <p:nvSpPr>
          <p:cNvPr id="3169" name="optical_route">
            <a:extLst xmlns:a="http://schemas.openxmlformats.org/drawingml/2006/main">
              <a:ext uri="{FF2B5EF4-FFF2-40B4-BE49-F238E27FC236}">
                <a16:creationId xmlns:a16="http://schemas.microsoft.com/office/drawing/2014/main" id="{8E882AEA-49E5-49D6-A3CE-615606CD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563" y="29976563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0" name="optical_route_end">
            <a:extLst xmlns:a="http://schemas.openxmlformats.org/drawingml/2006/main">
              <a:ext uri="{FF2B5EF4-FFF2-40B4-BE49-F238E27FC236}">
                <a16:creationId xmlns:a16="http://schemas.microsoft.com/office/drawing/2014/main" id="{74FBD7B2-2EA6-4755-AE3C-681CC921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1563" y="2826093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25" name=""/>
          <p:cNvCxnSpPr>
            <a:stCxn xmlns:a="http://schemas.openxmlformats.org/drawingml/2006/main" id="3164" idx="3"/>
            <a:endCxn xmlns:a="http://schemas.openxmlformats.org/drawingml/2006/main" id="3169" idx="1"/>
          </p:cNvCxnSpPr>
          <p:nvPr/>
        </p:nvCxnSpPr>
        <p:spPr>
          <a:xfrm xmlns:a="http://schemas.openxmlformats.org/drawingml/2006/main">
            <a:off x="9843750" y="29976563"/>
            <a:ext cx="2057813" cy="468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none" w="med" len="med"/>
          </a:ln>
        </p:spPr>
      </p:cxnSp>
      <p:cxnSp>
        <p:nvCxnSpPr>
          <p:cNvPr id="3326" name=""/>
          <p:cNvCxnSpPr>
            <a:stCxn xmlns:a="http://schemas.openxmlformats.org/drawingml/2006/main" id="3169" idx="0"/>
            <a:endCxn xmlns:a="http://schemas.openxmlformats.org/drawingml/2006/main" id="3170" idx="2"/>
          </p:cNvCxnSpPr>
          <p:nvPr/>
        </p:nvCxnSpPr>
        <p:spPr>
          <a:xfrm xmlns:a="http://schemas.openxmlformats.org/drawingml/2006/main" flipV="1">
            <a:off x="11906251" y="28270313"/>
            <a:ext cx="0" cy="170625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none" w="med" len="med"/>
          </a:ln>
        </p:spPr>
      </p:cxnSp>
      <p:cxnSp>
        <p:nvCxnSpPr>
          <p:cNvPr id="3327" name=""/>
          <p:cNvCxnSpPr>
            <a:stCxn xmlns:a="http://schemas.openxmlformats.org/drawingml/2006/main" id="3170" idx="3"/>
            <a:endCxn xmlns:a="http://schemas.openxmlformats.org/drawingml/2006/main" id="3163" idx="1"/>
          </p:cNvCxnSpPr>
          <p:nvPr/>
        </p:nvCxnSpPr>
        <p:spPr>
          <a:xfrm xmlns:a="http://schemas.openxmlformats.org/drawingml/2006/main" flipV="1">
            <a:off x="11910938" y="27937500"/>
            <a:ext cx="464062" cy="328126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sp>
        <p:nvSpPr>
          <p:cNvPr id="3174" name="reference_route_a">
            <a:extLst xmlns:a="http://schemas.openxmlformats.org/drawingml/2006/main">
              <a:ext uri="{FF2B5EF4-FFF2-40B4-BE49-F238E27FC236}">
                <a16:creationId xmlns:a16="http://schemas.microsoft.com/office/drawing/2014/main" id="{0945C267-1FC3-40C0-B234-AADDE72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188" y="3116718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75" name="reference_route_b">
            <a:extLst xmlns:a="http://schemas.openxmlformats.org/drawingml/2006/main">
              <a:ext uri="{FF2B5EF4-FFF2-40B4-BE49-F238E27FC236}">
                <a16:creationId xmlns:a16="http://schemas.microsoft.com/office/drawing/2014/main" id="{2EEC01C9-8305-4D35-8D1C-8C07E226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5938" y="3116718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0" name=""/>
          <p:cNvCxnSpPr>
            <a:stCxn xmlns:a="http://schemas.openxmlformats.org/drawingml/2006/main" id="3160" idx="2"/>
            <a:endCxn xmlns:a="http://schemas.openxmlformats.org/drawingml/2006/main" id="3174" idx="0"/>
          </p:cNvCxnSpPr>
          <p:nvPr/>
        </p:nvCxnSpPr>
        <p:spPr>
          <a:xfrm xmlns:a="http://schemas.openxmlformats.org/drawingml/2006/main">
            <a:off x="2296875" y="28593750"/>
            <a:ext cx="0" cy="257343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headEnd type="none" w="med" len="med"/>
          </a:ln>
        </p:spPr>
      </p:cxnSp>
      <p:cxnSp>
        <p:nvCxnSpPr>
          <p:cNvPr id="3331" name=""/>
          <p:cNvCxnSpPr>
            <a:stCxn xmlns:a="http://schemas.openxmlformats.org/drawingml/2006/main" id="3174" idx="3"/>
            <a:endCxn xmlns:a="http://schemas.openxmlformats.org/drawingml/2006/main" id="3175" idx="1"/>
          </p:cNvCxnSpPr>
          <p:nvPr/>
        </p:nvCxnSpPr>
        <p:spPr>
          <a:xfrm xmlns:a="http://schemas.openxmlformats.org/drawingml/2006/main">
            <a:off x="2301563" y="31171875"/>
            <a:ext cx="1133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headEnd type="none" w="med" len="med"/>
          </a:ln>
        </p:spPr>
      </p:cxnSp>
      <p:cxnSp>
        <p:nvCxnSpPr>
          <p:cNvPr id="3332" name=""/>
          <p:cNvCxnSpPr>
            <a:stCxn xmlns:a="http://schemas.openxmlformats.org/drawingml/2006/main" id="3175" idx="0"/>
            <a:endCxn xmlns:a="http://schemas.openxmlformats.org/drawingml/2006/main" id="3163" idx="2"/>
          </p:cNvCxnSpPr>
          <p:nvPr/>
        </p:nvCxnSpPr>
        <p:spPr>
          <a:xfrm xmlns:a="http://schemas.openxmlformats.org/drawingml/2006/main" flipH="1" flipV="1">
            <a:off x="13640625" y="28593750"/>
            <a:ext cx="1" cy="2573438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dash"/>
            <a:headEnd type="arrow" w="med" len="med"/>
          </a:ln>
        </p:spPr>
      </p:cxnSp>
      <p:sp>
        <p:nvSpPr>
          <p:cNvPr id="3179" name="reference_label">
            <a:extLst xmlns:a="http://schemas.openxmlformats.org/drawingml/2006/main">
              <a:ext uri="{FF2B5EF4-FFF2-40B4-BE49-F238E27FC236}">
                <a16:creationId xmlns:a16="http://schemas.microsoft.com/office/drawing/2014/main" id="{A2E7D76C-A1E0-4A20-B1B1-E01B5C5B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1875" y="30656250"/>
            <a:ext cx="5343750" cy="42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Original-image reference</a:t>
            </a:r>
          </a:p>
        </p:txBody>
      </p:sp>
      <p:sp>
        <p:nvSpPr>
          <p:cNvPr id="3180" name="figure2_caption">
            <a:extLst xmlns:a="http://schemas.openxmlformats.org/drawingml/2006/main">
              <a:ext uri="{FF2B5EF4-FFF2-40B4-BE49-F238E27FC236}">
                <a16:creationId xmlns:a16="http://schemas.microsoft.com/office/drawing/2014/main" id="{A933C246-0FA6-491C-9028-5818E8D23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1500000"/>
            <a:ext cx="1387500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2. Functional design of MOSR. Calibrated guidance addresses optical variation; anti-aliased features target sampling sensitivity. Refinement and bounded output retain the native image grid.</a:t>
            </a:r>
          </a:p>
        </p:txBody>
      </p:sp>
      <p:sp>
        <p:nvSpPr>
          <p:cNvPr id="3181" name="readout_heading">
            <a:extLst xmlns:a="http://schemas.openxmlformats.org/drawingml/2006/main">
              <a:ext uri="{FF2B5EF4-FFF2-40B4-BE49-F238E27FC236}">
                <a16:creationId xmlns:a16="http://schemas.microsoft.com/office/drawing/2014/main" id="{9F03CF02-2AB8-490E-B4E6-FD2E4AF95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3328125"/>
            <a:ext cx="1387500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Common readout for Raw, fixed Wiener and MOSR</a:t>
            </a:r>
          </a:p>
        </p:txBody>
      </p:sp>
      <p:pic>
        <p:nvPicPr>
          <p:cNvPr id="3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76e2e68424034"/>
          <a:stretch xmlns:a="http://schemas.openxmlformats.org/drawingml/2006/main"/>
        </p:blipFill>
        <p:spPr>
          <a:xfrm xmlns:a="http://schemas.openxmlformats.org/drawingml/2006/main">
            <a:off x="1312500" y="34453125"/>
            <a:ext cx="2250000" cy="2250000"/>
          </a:xfrm>
          <a:prstGeom xmlns:a="http://schemas.openxmlformats.org/drawingml/2006/main" prst="rect">
            <a:avLst/>
          </a:prstGeom>
        </p:spPr>
      </p:pic>
      <p:sp>
        <p:nvSpPr>
          <p:cNvPr id="3183" name="measured_lsc_circle">
            <a:extLst xmlns:a="http://schemas.openxmlformats.org/drawingml/2006/main">
              <a:ext uri="{FF2B5EF4-FFF2-40B4-BE49-F238E27FC236}">
                <a16:creationId xmlns:a16="http://schemas.microsoft.com/office/drawing/2014/main" id="{C2F180E0-B424-4635-BEED-F33F942C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068" y="34934182"/>
            <a:ext cx="1270453" cy="1270453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313">
            <a:solidFill>
              <a:srgbClr val="111111"/>
            </a:solidFill>
          </a:ln>
        </p:spPr>
      </p:sp>
      <p:sp>
        <p:nvSpPr>
          <p:cNvPr id="3184" name="measured_boundary_point_1">
            <a:extLst xmlns:a="http://schemas.openxmlformats.org/drawingml/2006/main">
              <a:ext uri="{FF2B5EF4-FFF2-40B4-BE49-F238E27FC236}">
                <a16:creationId xmlns:a16="http://schemas.microsoft.com/office/drawing/2014/main" id="{BC039D81-B5A3-4EE0-B198-D0DCC2D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556" y="361376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5" name="measured_boundary_point_2">
            <a:extLst xmlns:a="http://schemas.openxmlformats.org/drawingml/2006/main">
              <a:ext uri="{FF2B5EF4-FFF2-40B4-BE49-F238E27FC236}">
                <a16:creationId xmlns:a16="http://schemas.microsoft.com/office/drawing/2014/main" id="{EE234731-9C17-415D-99C9-313FFBE2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638" y="3614423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6" name="measured_boundary_point_3">
            <a:extLst xmlns:a="http://schemas.openxmlformats.org/drawingml/2006/main">
              <a:ext uri="{FF2B5EF4-FFF2-40B4-BE49-F238E27FC236}">
                <a16:creationId xmlns:a16="http://schemas.microsoft.com/office/drawing/2014/main" id="{1A09171F-9F11-400B-AD79-CD359970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830" y="361534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7" name="measured_boundary_point_4">
            <a:extLst xmlns:a="http://schemas.openxmlformats.org/drawingml/2006/main">
              <a:ext uri="{FF2B5EF4-FFF2-40B4-BE49-F238E27FC236}">
                <a16:creationId xmlns:a16="http://schemas.microsoft.com/office/drawing/2014/main" id="{4D78EF8C-1983-43F5-9903-9F7F16E5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022" y="3616914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8" name="measured_boundary_point_5">
            <a:extLst xmlns:a="http://schemas.openxmlformats.org/drawingml/2006/main">
              <a:ext uri="{FF2B5EF4-FFF2-40B4-BE49-F238E27FC236}">
                <a16:creationId xmlns:a16="http://schemas.microsoft.com/office/drawing/2014/main" id="{84768E90-3F5F-4F12-9FF0-DA8EDA9C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214" y="3617751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89" name="measured_boundary_point_6">
            <a:extLst xmlns:a="http://schemas.openxmlformats.org/drawingml/2006/main">
              <a:ext uri="{FF2B5EF4-FFF2-40B4-BE49-F238E27FC236}">
                <a16:creationId xmlns:a16="http://schemas.microsoft.com/office/drawing/2014/main" id="{CE4898A9-C0A7-4BFA-A180-6156CFB7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406" y="3616861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0" name="measured_boundary_point_7">
            <a:extLst xmlns:a="http://schemas.openxmlformats.org/drawingml/2006/main">
              <a:ext uri="{FF2B5EF4-FFF2-40B4-BE49-F238E27FC236}">
                <a16:creationId xmlns:a16="http://schemas.microsoft.com/office/drawing/2014/main" id="{E12E7D7B-ECE2-4CC7-85AD-BD2C3DA7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598" y="361517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1" name="measured_boundary_point_8">
            <a:extLst xmlns:a="http://schemas.openxmlformats.org/drawingml/2006/main">
              <a:ext uri="{FF2B5EF4-FFF2-40B4-BE49-F238E27FC236}">
                <a16:creationId xmlns:a16="http://schemas.microsoft.com/office/drawing/2014/main" id="{5AA95705-A5BA-4D36-963C-F5F1407E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695" y="3614246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2" name="measured_boundary_point_9">
            <a:extLst xmlns:a="http://schemas.openxmlformats.org/drawingml/2006/main">
              <a:ext uri="{FF2B5EF4-FFF2-40B4-BE49-F238E27FC236}">
                <a16:creationId xmlns:a16="http://schemas.microsoft.com/office/drawing/2014/main" id="{6E183EE1-8B1E-416A-B0CD-ACE9C56A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983" y="3612969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3" name="measured_boundary_point_10">
            <a:extLst xmlns:a="http://schemas.openxmlformats.org/drawingml/2006/main">
              <a:ext uri="{FF2B5EF4-FFF2-40B4-BE49-F238E27FC236}">
                <a16:creationId xmlns:a16="http://schemas.microsoft.com/office/drawing/2014/main" id="{53EB8403-2318-4020-A5BE-BBB085E1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129" y="3610760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4" name="measured_boundary_point_11">
            <a:extLst xmlns:a="http://schemas.openxmlformats.org/drawingml/2006/main">
              <a:ext uri="{FF2B5EF4-FFF2-40B4-BE49-F238E27FC236}">
                <a16:creationId xmlns:a16="http://schemas.microsoft.com/office/drawing/2014/main" id="{38E9CDB5-ACFC-4ACD-B46D-70998D55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3535" y="3607084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5" name="measured_boundary_point_12">
            <a:extLst xmlns:a="http://schemas.openxmlformats.org/drawingml/2006/main">
              <a:ext uri="{FF2B5EF4-FFF2-40B4-BE49-F238E27FC236}">
                <a16:creationId xmlns:a16="http://schemas.microsoft.com/office/drawing/2014/main" id="{5B695944-D474-45E1-BEEE-F6600A03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569" y="3603131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6" name="measured_boundary_point_13">
            <a:extLst xmlns:a="http://schemas.openxmlformats.org/drawingml/2006/main">
              <a:ext uri="{FF2B5EF4-FFF2-40B4-BE49-F238E27FC236}">
                <a16:creationId xmlns:a16="http://schemas.microsoft.com/office/drawing/2014/main" id="{14386B24-63DE-4C89-92AF-A7F89E1E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297" y="3597852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7" name="measured_boundary_point_14">
            <a:extLst xmlns:a="http://schemas.openxmlformats.org/drawingml/2006/main">
              <a:ext uri="{FF2B5EF4-FFF2-40B4-BE49-F238E27FC236}">
                <a16:creationId xmlns:a16="http://schemas.microsoft.com/office/drawing/2014/main" id="{775025D6-A238-48D5-AEBE-8F330F4B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908" y="3591984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8" name="measured_boundary_point_15">
            <a:extLst xmlns:a="http://schemas.openxmlformats.org/drawingml/2006/main">
              <a:ext uri="{FF2B5EF4-FFF2-40B4-BE49-F238E27FC236}">
                <a16:creationId xmlns:a16="http://schemas.microsoft.com/office/drawing/2014/main" id="{58246597-7D1C-4C16-913B-C8BD6A5F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1551" y="3587036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99" name="measured_boundary_point_16">
            <a:extLst xmlns:a="http://schemas.openxmlformats.org/drawingml/2006/main">
              <a:ext uri="{FF2B5EF4-FFF2-40B4-BE49-F238E27FC236}">
                <a16:creationId xmlns:a16="http://schemas.microsoft.com/office/drawing/2014/main" id="{79FE6B14-7EC9-4BBB-9942-E233ECB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475" y="3581143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0" name="measured_boundary_point_17">
            <a:extLst xmlns:a="http://schemas.openxmlformats.org/drawingml/2006/main">
              <a:ext uri="{FF2B5EF4-FFF2-40B4-BE49-F238E27FC236}">
                <a16:creationId xmlns:a16="http://schemas.microsoft.com/office/drawing/2014/main" id="{D8FB7DF3-D244-435D-A747-D53AA520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042" y="3575404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1" name="measured_boundary_point_18">
            <a:extLst xmlns:a="http://schemas.openxmlformats.org/drawingml/2006/main">
              <a:ext uri="{FF2B5EF4-FFF2-40B4-BE49-F238E27FC236}">
                <a16:creationId xmlns:a16="http://schemas.microsoft.com/office/drawing/2014/main" id="{F2FA9B49-CF60-4FC9-8288-792DE941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00" y="35704418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2" name="measured_boundary_point_19">
            <a:extLst xmlns:a="http://schemas.openxmlformats.org/drawingml/2006/main">
              <a:ext uri="{FF2B5EF4-FFF2-40B4-BE49-F238E27FC236}">
                <a16:creationId xmlns:a16="http://schemas.microsoft.com/office/drawing/2014/main" id="{1C9BEC5A-3474-4A71-9989-30922138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910" y="3564538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3" name="measured_boundary_point_20">
            <a:extLst xmlns:a="http://schemas.openxmlformats.org/drawingml/2006/main">
              <a:ext uri="{FF2B5EF4-FFF2-40B4-BE49-F238E27FC236}">
                <a16:creationId xmlns:a16="http://schemas.microsoft.com/office/drawing/2014/main" id="{7B355414-6E9B-40B6-A5DF-551D5422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236" y="3557957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4" name="measured_boundary_point_21">
            <a:extLst xmlns:a="http://schemas.openxmlformats.org/drawingml/2006/main">
              <a:ext uri="{FF2B5EF4-FFF2-40B4-BE49-F238E27FC236}">
                <a16:creationId xmlns:a16="http://schemas.microsoft.com/office/drawing/2014/main" id="{DE2AE56B-AA44-4667-B4D2-7E36F916D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3926" y="355137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5" name="measured_boundary_point_22">
            <a:extLst xmlns:a="http://schemas.openxmlformats.org/drawingml/2006/main">
              <a:ext uri="{FF2B5EF4-FFF2-40B4-BE49-F238E27FC236}">
                <a16:creationId xmlns:a16="http://schemas.microsoft.com/office/drawing/2014/main" id="{00DB8214-4ED3-4D49-AB7C-49D08ABB9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87" y="3544901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6" name="measured_boundary_point_23">
            <a:extLst xmlns:a="http://schemas.openxmlformats.org/drawingml/2006/main">
              <a:ext uri="{FF2B5EF4-FFF2-40B4-BE49-F238E27FC236}">
                <a16:creationId xmlns:a16="http://schemas.microsoft.com/office/drawing/2014/main" id="{D0C854BE-1B9B-40DD-AA74-2B13BDC1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362" y="3539358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7" name="measured_boundary_point_24">
            <a:extLst xmlns:a="http://schemas.openxmlformats.org/drawingml/2006/main">
              <a:ext uri="{FF2B5EF4-FFF2-40B4-BE49-F238E27FC236}">
                <a16:creationId xmlns:a16="http://schemas.microsoft.com/office/drawing/2014/main" id="{2E5C5F2D-F5A4-45DB-8D98-BF94B56A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143" y="3533955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8" name="measured_boundary_point_25">
            <a:extLst xmlns:a="http://schemas.openxmlformats.org/drawingml/2006/main">
              <a:ext uri="{FF2B5EF4-FFF2-40B4-BE49-F238E27FC236}">
                <a16:creationId xmlns:a16="http://schemas.microsoft.com/office/drawing/2014/main" id="{D8853119-F218-4DBC-950C-683BE566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5672" y="3528197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09" name="measured_boundary_point_26">
            <a:extLst xmlns:a="http://schemas.openxmlformats.org/drawingml/2006/main">
              <a:ext uri="{FF2B5EF4-FFF2-40B4-BE49-F238E27FC236}">
                <a16:creationId xmlns:a16="http://schemas.microsoft.com/office/drawing/2014/main" id="{E440D7DA-EB93-40CE-AE8C-4A0F32F5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615" y="3522480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0" name="measured_boundary_point_27">
            <a:extLst xmlns:a="http://schemas.openxmlformats.org/drawingml/2006/main">
              <a:ext uri="{FF2B5EF4-FFF2-40B4-BE49-F238E27FC236}">
                <a16:creationId xmlns:a16="http://schemas.microsoft.com/office/drawing/2014/main" id="{66FC78C9-C79F-491A-A163-D7FCAFAD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272" y="3517357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1" name="measured_boundary_point_28">
            <a:extLst xmlns:a="http://schemas.openxmlformats.org/drawingml/2006/main">
              <a:ext uri="{FF2B5EF4-FFF2-40B4-BE49-F238E27FC236}">
                <a16:creationId xmlns:a16="http://schemas.microsoft.com/office/drawing/2014/main" id="{DAEE08AA-D3A5-4F52-A3F1-95D807D2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2275" y="35121508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2" name="measured_boundary_point_29">
            <a:extLst xmlns:a="http://schemas.openxmlformats.org/drawingml/2006/main">
              <a:ext uri="{FF2B5EF4-FFF2-40B4-BE49-F238E27FC236}">
                <a16:creationId xmlns:a16="http://schemas.microsoft.com/office/drawing/2014/main" id="{EB25C1F4-5FAB-477C-AE1D-BB44CC0B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573" y="3507674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3" name="measured_boundary_point_30">
            <a:extLst xmlns:a="http://schemas.openxmlformats.org/drawingml/2006/main">
              <a:ext uri="{FF2B5EF4-FFF2-40B4-BE49-F238E27FC236}">
                <a16:creationId xmlns:a16="http://schemas.microsoft.com/office/drawing/2014/main" id="{B3DFD83B-08B2-4B6B-98BD-4B60C186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559" y="3504065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4" name="measured_boundary_point_31">
            <a:extLst xmlns:a="http://schemas.openxmlformats.org/drawingml/2006/main">
              <a:ext uri="{FF2B5EF4-FFF2-40B4-BE49-F238E27FC236}">
                <a16:creationId xmlns:a16="http://schemas.microsoft.com/office/drawing/2014/main" id="{77FBF919-626F-484B-9C0D-9F47C1AC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816" y="3500064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5" name="measured_boundary_point_32">
            <a:extLst xmlns:a="http://schemas.openxmlformats.org/drawingml/2006/main">
              <a:ext uri="{FF2B5EF4-FFF2-40B4-BE49-F238E27FC236}">
                <a16:creationId xmlns:a16="http://schemas.microsoft.com/office/drawing/2014/main" id="{71261760-1A7F-4843-AE77-1D198A1B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3746" y="34979896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6" name="measured_boundary_point_33">
            <a:extLst xmlns:a="http://schemas.openxmlformats.org/drawingml/2006/main">
              <a:ext uri="{FF2B5EF4-FFF2-40B4-BE49-F238E27FC236}">
                <a16:creationId xmlns:a16="http://schemas.microsoft.com/office/drawing/2014/main" id="{FD33A468-7B67-4A96-90A1-9B5C7E37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523" y="3496292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7" name="measured_boundary_point_34">
            <a:extLst xmlns:a="http://schemas.openxmlformats.org/drawingml/2006/main">
              <a:ext uri="{FF2B5EF4-FFF2-40B4-BE49-F238E27FC236}">
                <a16:creationId xmlns:a16="http://schemas.microsoft.com/office/drawing/2014/main" id="{002D6A81-A143-428F-B03F-4F5D065F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162" y="3493094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8" name="measured_boundary_point_35">
            <a:extLst xmlns:a="http://schemas.openxmlformats.org/drawingml/2006/main">
              <a:ext uri="{FF2B5EF4-FFF2-40B4-BE49-F238E27FC236}">
                <a16:creationId xmlns:a16="http://schemas.microsoft.com/office/drawing/2014/main" id="{52E69C9B-77E6-48A4-95F1-6BD2B7B3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9256" y="3491177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19" name="measured_boundary_point_36">
            <a:extLst xmlns:a="http://schemas.openxmlformats.org/drawingml/2006/main">
              <a:ext uri="{FF2B5EF4-FFF2-40B4-BE49-F238E27FC236}">
                <a16:creationId xmlns:a16="http://schemas.microsoft.com/office/drawing/2014/main" id="{DF6CEC75-541E-45DF-88F2-3877206E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353" y="3490822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0" name="measured_boundary_point_37">
            <a:extLst xmlns:a="http://schemas.openxmlformats.org/drawingml/2006/main">
              <a:ext uri="{FF2B5EF4-FFF2-40B4-BE49-F238E27FC236}">
                <a16:creationId xmlns:a16="http://schemas.microsoft.com/office/drawing/2014/main" id="{D1D29491-FBC8-4D55-A927-D4654F3A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8890" y="3491295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1" name="measured_boundary_point_38">
            <a:extLst xmlns:a="http://schemas.openxmlformats.org/drawingml/2006/main">
              <a:ext uri="{FF2B5EF4-FFF2-40B4-BE49-F238E27FC236}">
                <a16:creationId xmlns:a16="http://schemas.microsoft.com/office/drawing/2014/main" id="{7B52A8CB-C34C-4027-86A1-EF8C223C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493" y="3492656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2" name="measured_boundary_point_39">
            <a:extLst xmlns:a="http://schemas.openxmlformats.org/drawingml/2006/main">
              <a:ext uri="{FF2B5EF4-FFF2-40B4-BE49-F238E27FC236}">
                <a16:creationId xmlns:a16="http://schemas.microsoft.com/office/drawing/2014/main" id="{B9561AB9-AA74-42D4-922F-02AB64A3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9889" y="3495591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3" name="measured_boundary_point_40">
            <a:extLst xmlns:a="http://schemas.openxmlformats.org/drawingml/2006/main">
              <a:ext uri="{FF2B5EF4-FFF2-40B4-BE49-F238E27FC236}">
                <a16:creationId xmlns:a16="http://schemas.microsoft.com/office/drawing/2014/main" id="{1BBFEC79-8019-4651-A429-DAF36953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178" y="3497317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4" name="measured_boundary_point_41">
            <a:extLst xmlns:a="http://schemas.openxmlformats.org/drawingml/2006/main">
              <a:ext uri="{FF2B5EF4-FFF2-40B4-BE49-F238E27FC236}">
                <a16:creationId xmlns:a16="http://schemas.microsoft.com/office/drawing/2014/main" id="{D86B66F2-61B9-49C3-8E8E-3C573845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86" y="3498796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5" name="measured_boundary_point_42">
            <a:extLst xmlns:a="http://schemas.openxmlformats.org/drawingml/2006/main">
              <a:ext uri="{FF2B5EF4-FFF2-40B4-BE49-F238E27FC236}">
                <a16:creationId xmlns:a16="http://schemas.microsoft.com/office/drawing/2014/main" id="{93D62FCF-CD04-48DC-8687-0B1758E9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518" y="3501859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6" name="measured_boundary_point_43">
            <a:extLst xmlns:a="http://schemas.openxmlformats.org/drawingml/2006/main">
              <a:ext uri="{FF2B5EF4-FFF2-40B4-BE49-F238E27FC236}">
                <a16:creationId xmlns:a16="http://schemas.microsoft.com/office/drawing/2014/main" id="{FD2F03DA-DF64-432C-AE63-325A8022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819" y="3504968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7" name="measured_boundary_point_44">
            <a:extLst xmlns:a="http://schemas.openxmlformats.org/drawingml/2006/main">
              <a:ext uri="{FF2B5EF4-FFF2-40B4-BE49-F238E27FC236}">
                <a16:creationId xmlns:a16="http://schemas.microsoft.com/office/drawing/2014/main" id="{A5E98B40-06A9-4D84-ABDA-362C38F1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6285" y="3508196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8" name="measured_boundary_point_45">
            <a:extLst xmlns:a="http://schemas.openxmlformats.org/drawingml/2006/main">
              <a:ext uri="{FF2B5EF4-FFF2-40B4-BE49-F238E27FC236}">
                <a16:creationId xmlns:a16="http://schemas.microsoft.com/office/drawing/2014/main" id="{1631E6AA-C431-4806-8AE3-101C3A59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3282" y="3512845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29" name="measured_boundary_point_46">
            <a:extLst xmlns:a="http://schemas.openxmlformats.org/drawingml/2006/main">
              <a:ext uri="{FF2B5EF4-FFF2-40B4-BE49-F238E27FC236}">
                <a16:creationId xmlns:a16="http://schemas.microsoft.com/office/drawing/2014/main" id="{A5B52F16-23D8-4201-8675-2E18A555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5600" y="3517920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0" name="measured_boundary_point_47">
            <a:extLst xmlns:a="http://schemas.openxmlformats.org/drawingml/2006/main">
              <a:ext uri="{FF2B5EF4-FFF2-40B4-BE49-F238E27FC236}">
                <a16:creationId xmlns:a16="http://schemas.microsoft.com/office/drawing/2014/main" id="{4076B577-79D1-4C07-AFFA-CB8765A8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047" y="35235951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1" name="measured_boundary_point_48">
            <a:extLst xmlns:a="http://schemas.openxmlformats.org/drawingml/2006/main">
              <a:ext uri="{FF2B5EF4-FFF2-40B4-BE49-F238E27FC236}">
                <a16:creationId xmlns:a16="http://schemas.microsoft.com/office/drawing/2014/main" id="{99AA788C-A0E0-4F15-86DD-63DD51F5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8370" y="3528217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2" name="measured_boundary_point_49">
            <a:extLst xmlns:a="http://schemas.openxmlformats.org/drawingml/2006/main">
              <a:ext uri="{FF2B5EF4-FFF2-40B4-BE49-F238E27FC236}">
                <a16:creationId xmlns:a16="http://schemas.microsoft.com/office/drawing/2014/main" id="{BF3244A2-39E0-4246-87B8-7D3BE36E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334" y="3534193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3" name="measured_boundary_point_50">
            <a:extLst xmlns:a="http://schemas.openxmlformats.org/drawingml/2006/main">
              <a:ext uri="{FF2B5EF4-FFF2-40B4-BE49-F238E27FC236}">
                <a16:creationId xmlns:a16="http://schemas.microsoft.com/office/drawing/2014/main" id="{F2DA01AA-93C5-4551-B8D8-386DEEB6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861" y="3540173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4" name="measured_boundary_point_51">
            <a:extLst xmlns:a="http://schemas.openxmlformats.org/drawingml/2006/main">
              <a:ext uri="{FF2B5EF4-FFF2-40B4-BE49-F238E27FC236}">
                <a16:creationId xmlns:a16="http://schemas.microsoft.com/office/drawing/2014/main" id="{61C122CB-45EF-4C13-B2DB-09FC01EB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982" y="3544616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5" name="measured_boundary_point_52">
            <a:extLst xmlns:a="http://schemas.openxmlformats.org/drawingml/2006/main">
              <a:ext uri="{FF2B5EF4-FFF2-40B4-BE49-F238E27FC236}">
                <a16:creationId xmlns:a16="http://schemas.microsoft.com/office/drawing/2014/main" id="{DB0312CE-29F5-429D-A578-985D55C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031" y="3550890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6" name="measured_boundary_point_53">
            <a:extLst xmlns:a="http://schemas.openxmlformats.org/drawingml/2006/main">
              <a:ext uri="{FF2B5EF4-FFF2-40B4-BE49-F238E27FC236}">
                <a16:creationId xmlns:a16="http://schemas.microsoft.com/office/drawing/2014/main" id="{238D6867-8443-4804-BFF7-DDABFC4E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9870" y="3557458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7" name="measured_boundary_point_54">
            <a:extLst xmlns:a="http://schemas.openxmlformats.org/drawingml/2006/main">
              <a:ext uri="{FF2B5EF4-FFF2-40B4-BE49-F238E27FC236}">
                <a16:creationId xmlns:a16="http://schemas.microsoft.com/office/drawing/2014/main" id="{1388BA00-F42F-447D-A7B3-EFCB9916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8538" y="3563161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8" name="measured_boundary_point_55">
            <a:extLst xmlns:a="http://schemas.openxmlformats.org/drawingml/2006/main">
              <a:ext uri="{FF2B5EF4-FFF2-40B4-BE49-F238E27FC236}">
                <a16:creationId xmlns:a16="http://schemas.microsoft.com/office/drawing/2014/main" id="{4F4B6EBD-1438-4E1E-9C1D-1D3A03DF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304" y="3568593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39" name="measured_boundary_point_56">
            <a:extLst xmlns:a="http://schemas.openxmlformats.org/drawingml/2006/main">
              <a:ext uri="{FF2B5EF4-FFF2-40B4-BE49-F238E27FC236}">
                <a16:creationId xmlns:a16="http://schemas.microsoft.com/office/drawing/2014/main" id="{AF1948BA-833E-4EE7-81C4-CBF9A709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514" y="3574262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0" name="measured_boundary_point_57">
            <a:extLst xmlns:a="http://schemas.openxmlformats.org/drawingml/2006/main">
              <a:ext uri="{FF2B5EF4-FFF2-40B4-BE49-F238E27FC236}">
                <a16:creationId xmlns:a16="http://schemas.microsoft.com/office/drawing/2014/main" id="{B3C3B6A3-66EE-49A5-9960-25D8735F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4211" y="35802917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1" name="measured_boundary_point_58">
            <a:extLst xmlns:a="http://schemas.openxmlformats.org/drawingml/2006/main">
              <a:ext uri="{FF2B5EF4-FFF2-40B4-BE49-F238E27FC236}">
                <a16:creationId xmlns:a16="http://schemas.microsoft.com/office/drawing/2014/main" id="{4032AB35-E5C4-47A5-B935-5CF1FD28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338" y="3585678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2" name="measured_boundary_point_59">
            <a:extLst xmlns:a="http://schemas.openxmlformats.org/drawingml/2006/main">
              <a:ext uri="{FF2B5EF4-FFF2-40B4-BE49-F238E27FC236}">
                <a16:creationId xmlns:a16="http://schemas.microsoft.com/office/drawing/2014/main" id="{DF7981C7-9641-4902-A3C3-86103184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40" y="35904909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3" name="measured_boundary_point_60">
            <a:extLst xmlns:a="http://schemas.openxmlformats.org/drawingml/2006/main">
              <a:ext uri="{FF2B5EF4-FFF2-40B4-BE49-F238E27FC236}">
                <a16:creationId xmlns:a16="http://schemas.microsoft.com/office/drawing/2014/main" id="{D7501122-D142-4CD3-9F45-943F90A3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842" y="35951945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4" name="measured_boundary_point_61">
            <a:extLst xmlns:a="http://schemas.openxmlformats.org/drawingml/2006/main">
              <a:ext uri="{FF2B5EF4-FFF2-40B4-BE49-F238E27FC236}">
                <a16:creationId xmlns:a16="http://schemas.microsoft.com/office/drawing/2014/main" id="{471A2B9C-71FC-4966-B381-84CC2D2F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446" y="35998080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5" name="measured_boundary_point_62">
            <a:extLst xmlns:a="http://schemas.openxmlformats.org/drawingml/2006/main">
              <a:ext uri="{FF2B5EF4-FFF2-40B4-BE49-F238E27FC236}">
                <a16:creationId xmlns:a16="http://schemas.microsoft.com/office/drawing/2014/main" id="{B9C41F5B-614F-4478-9E1A-F04638E1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730" y="36045164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6" name="measured_boundary_point_63">
            <a:extLst xmlns:a="http://schemas.openxmlformats.org/drawingml/2006/main">
              <a:ext uri="{FF2B5EF4-FFF2-40B4-BE49-F238E27FC236}">
                <a16:creationId xmlns:a16="http://schemas.microsoft.com/office/drawing/2014/main" id="{C86D7683-D3B6-43E4-99D1-4E7780B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67" y="36076872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7" name="measured_boundary_point_64">
            <a:extLst xmlns:a="http://schemas.openxmlformats.org/drawingml/2006/main">
              <a:ext uri="{FF2B5EF4-FFF2-40B4-BE49-F238E27FC236}">
                <a16:creationId xmlns:a16="http://schemas.microsoft.com/office/drawing/2014/main" id="{1CFA97C0-D787-402F-8639-1D07A09B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996" y="36111083"/>
            <a:ext cx="35625" cy="35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48" name="measured_center_x">
            <a:extLst xmlns:a="http://schemas.openxmlformats.org/drawingml/2006/main">
              <a:ext uri="{FF2B5EF4-FFF2-40B4-BE49-F238E27FC236}">
                <a16:creationId xmlns:a16="http://schemas.microsoft.com/office/drawing/2014/main" id="{6811B728-FE51-4380-8108-6C050E67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544" y="35569408"/>
            <a:ext cx="187500" cy="0"/>
          </a:xfrm>
          <a:prstGeom xmlns:a="http://schemas.openxmlformats.org/drawingml/2006/main" prst="line">
            <a:avLst/>
          </a:prstGeom>
          <a:ln xmlns:a="http://schemas.openxmlformats.org/drawingml/2006/main" w="24375">
            <a:solidFill>
              <a:srgbClr val="FFFFFF"/>
            </a:solidFill>
          </a:ln>
        </p:spPr>
      </p:sp>
      <p:sp>
        <p:nvSpPr>
          <p:cNvPr id="3249" name="measured_center_y">
            <a:extLst xmlns:a="http://schemas.openxmlformats.org/drawingml/2006/main">
              <a:ext uri="{FF2B5EF4-FFF2-40B4-BE49-F238E27FC236}">
                <a16:creationId xmlns:a16="http://schemas.microsoft.com/office/drawing/2014/main" id="{8424AB7C-D86E-4CC3-81FE-30BFFADD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294" y="35475658"/>
            <a:ext cx="0" cy="187500"/>
          </a:xfrm>
          <a:prstGeom xmlns:a="http://schemas.openxmlformats.org/drawingml/2006/main" prst="line">
            <a:avLst/>
          </a:prstGeom>
          <a:ln xmlns:a="http://schemas.openxmlformats.org/drawingml/2006/main" w="24375">
            <a:solidFill>
              <a:srgbClr val="FFFFFF"/>
            </a:solidFill>
          </a:ln>
        </p:spPr>
      </p:sp>
      <p:sp>
        <p:nvSpPr>
          <p:cNvPr id="3250" name="center_label">
            <a:extLst xmlns:a="http://schemas.openxmlformats.org/drawingml/2006/main">
              <a:ext uri="{FF2B5EF4-FFF2-40B4-BE49-F238E27FC236}">
                <a16:creationId xmlns:a16="http://schemas.microsoft.com/office/drawing/2014/main" id="{485196B8-B16D-40BD-9690-57D7DF14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6544" y="35288158"/>
            <a:ext cx="328125" cy="37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3251" name="boundary_plot_exit">
            <a:extLst xmlns:a="http://schemas.openxmlformats.org/drawingml/2006/main">
              <a:ext uri="{FF2B5EF4-FFF2-40B4-BE49-F238E27FC236}">
                <a16:creationId xmlns:a16="http://schemas.microsoft.com/office/drawing/2014/main" id="{2021733E-62A5-40EA-8972-3806E98D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813" y="35573438"/>
            <a:ext cx="9375" cy="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52" name="readout_centers">
            <a:extLst xmlns:a="http://schemas.openxmlformats.org/drawingml/2006/main">
              <a:ext uri="{FF2B5EF4-FFF2-40B4-BE49-F238E27FC236}">
                <a16:creationId xmlns:a16="http://schemas.microsoft.com/office/drawing/2014/main" id="{BC0B5024-68BA-4EEF-AFF9-A2DCB684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5000" y="34921875"/>
            <a:ext cx="2859375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LSC centers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in paired frames</a:t>
            </a:r>
          </a:p>
        </p:txBody>
      </p:sp>
      <p:sp>
        <p:nvSpPr>
          <p:cNvPr id="3253" name="readout_shift">
            <a:extLst xmlns:a="http://schemas.openxmlformats.org/drawingml/2006/main">
              <a:ext uri="{FF2B5EF4-FFF2-40B4-BE49-F238E27FC236}">
                <a16:creationId xmlns:a16="http://schemas.microsoft.com/office/drawing/2014/main" id="{24AB1C76-99C4-4991-BE4B-D9A8B446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8750" y="34921875"/>
            <a:ext cx="2953125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Median shift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of nine pillars</a:t>
            </a:r>
          </a:p>
        </p:txBody>
      </p:sp>
      <p:sp>
        <p:nvSpPr>
          <p:cNvPr id="3254" name="readout_sd">
            <a:extLst xmlns:a="http://schemas.openxmlformats.org/drawingml/2006/main">
              <a:ext uri="{FF2B5EF4-FFF2-40B4-BE49-F238E27FC236}">
                <a16:creationId xmlns:a16="http://schemas.microsoft.com/office/drawing/2014/main" id="{7CC75188-CB14-4312-AC62-3B032244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921875"/>
            <a:ext cx="3000000" cy="135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1F1"/>
          </a:solidFill>
          <a:ln xmlns:a="http://schemas.openxmlformats.org/drawingml/2006/main" w="17813">
            <a:solidFill>
              <a:srgbClr val="222222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30 single steps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00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Sample SD</a:t>
            </a:r>
          </a:p>
        </p:txBody>
      </p:sp>
      <p:cxnSp>
        <p:nvCxnSpPr>
          <p:cNvPr id="3409" name=""/>
          <p:cNvCxnSpPr>
            <a:stCxn xmlns:a="http://schemas.openxmlformats.org/drawingml/2006/main" id="3251" idx="3"/>
            <a:endCxn xmlns:a="http://schemas.openxmlformats.org/drawingml/2006/main" id="3252" idx="1"/>
          </p:cNvCxnSpPr>
          <p:nvPr/>
        </p:nvCxnSpPr>
        <p:spPr>
          <a:xfrm xmlns:a="http://schemas.openxmlformats.org/drawingml/2006/main">
            <a:off x="3567188" y="35578126"/>
            <a:ext cx="557812" cy="23437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cxnSp>
        <p:nvCxnSpPr>
          <p:cNvPr id="3410" name=""/>
          <p:cNvCxnSpPr>
            <a:stCxn xmlns:a="http://schemas.openxmlformats.org/drawingml/2006/main" id="3252" idx="3"/>
            <a:endCxn xmlns:a="http://schemas.openxmlformats.org/drawingml/2006/main" id="3253" idx="1"/>
          </p:cNvCxnSpPr>
          <p:nvPr/>
        </p:nvCxnSpPr>
        <p:spPr>
          <a:xfrm xmlns:a="http://schemas.openxmlformats.org/drawingml/2006/main">
            <a:off x="6984375" y="35601563"/>
            <a:ext cx="98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cxnSp>
        <p:nvCxnSpPr>
          <p:cNvPr id="3411" name=""/>
          <p:cNvCxnSpPr>
            <a:stCxn xmlns:a="http://schemas.openxmlformats.org/drawingml/2006/main" id="3253" idx="3"/>
            <a:endCxn xmlns:a="http://schemas.openxmlformats.org/drawingml/2006/main" id="3254" idx="1"/>
          </p:cNvCxnSpPr>
          <p:nvPr/>
        </p:nvCxnSpPr>
        <p:spPr>
          <a:xfrm xmlns:a="http://schemas.openxmlformats.org/drawingml/2006/main">
            <a:off x="10921875" y="35601563"/>
            <a:ext cx="984375" cy="0"/>
          </a:xfrm>
          <a:prstGeom xmlns:a="http://schemas.openxmlformats.org/drawingml/2006/main" prst="straightConnector1">
            <a:avLst/>
          </a:prstGeom>
          <a:ln xmlns:a="http://schemas.openxmlformats.org/drawingml/2006/main" w="20625">
            <a:solidFill>
              <a:srgbClr val="333333"/>
            </a:solidFill>
            <a:prstDash val="solid"/>
            <a:headEnd type="arrow" w="med" len="med"/>
          </a:ln>
        </p:spPr>
      </p:cxnSp>
      <p:sp>
        <p:nvSpPr>
          <p:cNvPr id="3258" name="boundary_key">
            <a:extLst xmlns:a="http://schemas.openxmlformats.org/drawingml/2006/main">
              <a:ext uri="{FF2B5EF4-FFF2-40B4-BE49-F238E27FC236}">
                <a16:creationId xmlns:a16="http://schemas.microsoft.com/office/drawing/2014/main" id="{DBCB179D-20DC-4F59-9D1F-B224959B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6843750"/>
            <a:ext cx="4781250" cy="5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Boundary points and LSC center</a:t>
            </a:r>
          </a:p>
        </p:txBody>
      </p:sp>
      <p:sp>
        <p:nvSpPr>
          <p:cNvPr id="3259" name="figure3_caption">
            <a:extLst xmlns:a="http://schemas.openxmlformats.org/drawingml/2006/main">
              <a:ext uri="{FF2B5EF4-FFF2-40B4-BE49-F238E27FC236}">
                <a16:creationId xmlns:a16="http://schemas.microsoft.com/office/drawing/2014/main" id="{57BEDEB0-5C7B-40E7-94DE-FE321A99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875" y="37453125"/>
            <a:ext cx="1387500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3. Measured boundary points [3] and a fitted circle center [4] feed the shared displacement readout. The inset uses an actual MOSR frame.</a:t>
            </a:r>
          </a:p>
        </p:txBody>
      </p:sp>
      <p:sp>
        <p:nvSpPr>
          <p:cNvPr id="3260" name="table1_caption">
            <a:extLst xmlns:a="http://schemas.openxmlformats.org/drawingml/2006/main">
              <a:ext uri="{FF2B5EF4-FFF2-40B4-BE49-F238E27FC236}">
                <a16:creationId xmlns:a16="http://schemas.microsoft.com/office/drawing/2014/main" id="{EE3A8885-B04A-49FE-B51E-BCBF598F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38531250"/>
            <a:ext cx="13781250" cy="54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TABLE I. EVALUATION AT A 1 µm NOMINAL STEP</a:t>
            </a:r>
          </a:p>
        </p:txBody>
      </p:sp>
      <p:graphicFrame>
        <p:nvGraphicFramePr>
          <p:cNvPr id="3415" name=""/>
          <p:cNvGraphicFramePr/>
          <p:nvPr/>
        </p:nvGraphicFramePr>
        <p:xfrm>
          <a:off xmlns:a="http://schemas.openxmlformats.org/drawingml/2006/main" x="1218750" y="39187500"/>
          <a:ext xmlns:a="http://schemas.openxmlformats.org/drawingml/2006/main" cx="13781250" cy="17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84375"/>
                <a:gridCol w="5812500"/>
                <a:gridCol w="1875000"/>
                <a:gridCol w="3609375"/>
              </a:tblGrid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Acquisition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µm/pixel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31-frame evaluation scan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0.1725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937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50×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 locked adjacent pairs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4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0.0690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62" name="measurement_definition">
            <a:extLst xmlns:a="http://schemas.openxmlformats.org/drawingml/2006/main">
              <a:ext uri="{FF2B5EF4-FFF2-40B4-BE49-F238E27FC236}">
                <a16:creationId xmlns:a16="http://schemas.microsoft.com/office/drawing/2014/main" id="{C5700B4A-2115-4826-AAC9-BE9DBD84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8750" y="41250000"/>
            <a:ext cx="13781250" cy="107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Centers come from maximum-gradient boundary points and geometric LSC fits. Nine-pillar median shifts use the acquisition direction. Each condition reports the sample SD of 30 steps (denominator 29).</a:t>
            </a:r>
          </a:p>
        </p:txBody>
      </p:sp>
      <p:sp>
        <p:nvSpPr>
          <p:cNvPr id="3263" name="results_intro">
            <a:extLst xmlns:a="http://schemas.openxmlformats.org/drawingml/2006/main">
              <a:ext uri="{FF2B5EF4-FFF2-40B4-BE49-F238E27FC236}">
                <a16:creationId xmlns:a16="http://schemas.microsoft.com/office/drawing/2014/main" id="{C01D8622-D9CF-4851-AAEC-210DF6F9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10218750"/>
            <a:ext cx="13781250" cy="131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a common nominal step of 1 µm, MOSR gives the lowest observed Step SD in both evaluations. Each comparison uses the same images and measurement settings for all three methods.</a:t>
            </a:r>
          </a:p>
        </p:txBody>
      </p:sp>
      <p:sp>
        <p:nvSpPr>
          <p:cNvPr id="3264" name="20x_heading">
            <a:extLst xmlns:a="http://schemas.openxmlformats.org/drawingml/2006/main">
              <a:ext uri="{FF2B5EF4-FFF2-40B4-BE49-F238E27FC236}">
                <a16:creationId xmlns:a16="http://schemas.microsoft.com/office/drawing/2014/main" id="{8978CC44-0BAB-4F9F-AB64-74274814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11812500"/>
            <a:ext cx="13687500" cy="6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20×, 1 µm: 30 single steps</a:t>
            </a:r>
          </a:p>
        </p:txBody>
      </p:sp>
      <p:sp>
        <p:nvSpPr>
          <p:cNvPr id="3265" name="20x_gain">
            <a:extLst xmlns:a="http://schemas.openxmlformats.org/drawingml/2006/main">
              <a:ext uri="{FF2B5EF4-FFF2-40B4-BE49-F238E27FC236}">
                <a16:creationId xmlns:a16="http://schemas.microsoft.com/office/drawing/2014/main" id="{8C47610E-2994-448B-B286-5D7EF612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2656250"/>
            <a:ext cx="71250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57.2%</a:t>
            </a:r>
          </a:p>
        </p:txBody>
      </p:sp>
      <p:sp>
        <p:nvSpPr>
          <p:cNvPr id="3266" name="20x_value">
            <a:extLst xmlns:a="http://schemas.openxmlformats.org/drawingml/2006/main">
              <a:ext uri="{FF2B5EF4-FFF2-40B4-BE49-F238E27FC236}">
                <a16:creationId xmlns:a16="http://schemas.microsoft.com/office/drawing/2014/main" id="{48C204F1-909F-4196-BF11-0D7529DB1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12778125"/>
            <a:ext cx="5343750" cy="11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4.068 nm</a:t>
            </a:r>
          </a:p>
        </p:txBody>
      </p:sp>
      <p:sp>
        <p:nvSpPr>
          <p:cNvPr id="3267" name="20x_gain_label">
            <a:extLst xmlns:a="http://schemas.openxmlformats.org/drawingml/2006/main">
              <a:ext uri="{FF2B5EF4-FFF2-40B4-BE49-F238E27FC236}">
                <a16:creationId xmlns:a16="http://schemas.microsoft.com/office/drawing/2014/main" id="{96C2D73D-672C-473F-B487-570C4555C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14015625"/>
            <a:ext cx="1359375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22" name=""/>
          <p:cNvGraphicFramePr/>
          <p:nvPr/>
        </p:nvGraphicFramePr>
        <p:xfrm>
          <a:off xmlns:a="http://schemas.openxmlformats.org/drawingml/2006/main" x="17156250" y="14671875"/>
          <a:ext xmlns:a="http://schemas.openxmlformats.org/drawingml/2006/main" cx="13781250" cy="121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68750"/>
                <a:gridCol w="2812500"/>
                <a:gridCol w="3187500"/>
                <a:gridCol w="2812500"/>
              </a:tblGrid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9.506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5.794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4.068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23" name="Chart"/>
          <p:cNvGraphicFramePr/>
          <p:nvPr/>
        </p:nvGraphicFramePr>
        <p:xfrm>
          <a:off xmlns:a="http://schemas.openxmlformats.org/drawingml/2006/main" x="17062500" y="16265625"/>
          <a:ext xmlns:a="http://schemas.openxmlformats.org/drawingml/2006/main" cx="14156250" cy="468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f5470fb31b4c30"/>
          </a:graphicData>
        </a:graphic>
      </p:graphicFrame>
      <p:sp>
        <p:nvSpPr>
          <p:cNvPr id="3270" name="figure4_caption">
            <a:extLst xmlns:a="http://schemas.openxmlformats.org/drawingml/2006/main">
              <a:ext uri="{FF2B5EF4-FFF2-40B4-BE49-F238E27FC236}">
                <a16:creationId xmlns:a16="http://schemas.microsoft.com/office/drawing/2014/main" id="{32D17027-EF60-4C65-A7CF-262A37B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1093750"/>
            <a:ext cx="1378125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4. All 30 single-step displacements at 20×. Curves use measured step minus 1 µm, with the same axis limits as the 50× evaluation.</a:t>
            </a:r>
          </a:p>
        </p:txBody>
      </p:sp>
      <p:sp>
        <p:nvSpPr>
          <p:cNvPr id="3271" name="20x_interpretation">
            <a:extLst xmlns:a="http://schemas.openxmlformats.org/drawingml/2006/main">
              <a:ext uri="{FF2B5EF4-FFF2-40B4-BE49-F238E27FC236}">
                <a16:creationId xmlns:a16="http://schemas.microsoft.com/office/drawing/2014/main" id="{CE898A36-7D6E-45C5-AE6A-6B8E4EA7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22218750"/>
            <a:ext cx="13781250" cy="140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At 20×, the mean step changes by only 0.10 nm while Step SD decreases by 5.44 nm. The dominant observed change is lower dispersion around a similar mean.</a:t>
            </a:r>
          </a:p>
        </p:txBody>
      </p:sp>
      <p:sp>
        <p:nvSpPr>
          <p:cNvPr id="3272" name="50x_heading">
            <a:extLst xmlns:a="http://schemas.openxmlformats.org/drawingml/2006/main">
              <a:ext uri="{FF2B5EF4-FFF2-40B4-BE49-F238E27FC236}">
                <a16:creationId xmlns:a16="http://schemas.microsoft.com/office/drawing/2014/main" id="{4BE93E79-6180-4BCD-B288-1DCA3B07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0000" y="23812500"/>
            <a:ext cx="13687500" cy="69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50×, 1 µm: 30 single steps</a:t>
            </a:r>
          </a:p>
        </p:txBody>
      </p:sp>
      <p:sp>
        <p:nvSpPr>
          <p:cNvPr id="3273" name="50x_gain">
            <a:extLst xmlns:a="http://schemas.openxmlformats.org/drawingml/2006/main">
              <a:ext uri="{FF2B5EF4-FFF2-40B4-BE49-F238E27FC236}">
                <a16:creationId xmlns:a16="http://schemas.microsoft.com/office/drawing/2014/main" id="{CF35A269-C98E-47BC-9EA7-690ED6F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4656250"/>
            <a:ext cx="7125000" cy="135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8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23.5%</a:t>
            </a:r>
          </a:p>
        </p:txBody>
      </p:sp>
      <p:sp>
        <p:nvSpPr>
          <p:cNvPr id="3274" name="50x_value">
            <a:extLst xmlns:a="http://schemas.openxmlformats.org/drawingml/2006/main">
              <a:ext uri="{FF2B5EF4-FFF2-40B4-BE49-F238E27FC236}">
                <a16:creationId xmlns:a16="http://schemas.microsoft.com/office/drawing/2014/main" id="{3BFE9F93-C00B-4C1D-80CA-F3BBF6E2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8750" y="24778125"/>
            <a:ext cx="5343750" cy="115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MOSR Step SD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00" b="1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4.542 nm</a:t>
            </a:r>
          </a:p>
        </p:txBody>
      </p:sp>
      <p:sp>
        <p:nvSpPr>
          <p:cNvPr id="3275" name="50x_gain_label">
            <a:extLst xmlns:a="http://schemas.openxmlformats.org/drawingml/2006/main">
              <a:ext uri="{FF2B5EF4-FFF2-40B4-BE49-F238E27FC236}">
                <a16:creationId xmlns:a16="http://schemas.microsoft.com/office/drawing/2014/main" id="{6A7DA016-E944-4ED8-BCCC-D2084D8B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96875" y="26015625"/>
            <a:ext cx="13593750" cy="52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Lower Step SD relative to Raw</a:t>
            </a:r>
          </a:p>
        </p:txBody>
      </p:sp>
      <p:graphicFrame>
        <p:nvGraphicFramePr>
          <p:cNvPr id="3430" name=""/>
          <p:cNvGraphicFramePr/>
          <p:nvPr/>
        </p:nvGraphicFramePr>
        <p:xfrm>
          <a:off xmlns:a="http://schemas.openxmlformats.org/drawingml/2006/main" x="17156250" y="26671875"/>
          <a:ext xmlns:a="http://schemas.openxmlformats.org/drawingml/2006/main" cx="13781250" cy="121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68750"/>
                <a:gridCol w="2812500"/>
                <a:gridCol w="3187500"/>
                <a:gridCol w="2812500"/>
              </a:tblGrid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Step SD (nm)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Raw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Wiener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MOSR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/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5.938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0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4.722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600" b="1">
                          <a:solidFill>
                            <a:srgbClr val="11111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4.542</a:t>
                      </a:r>
                    </a:p>
                  </a:txBody>
                  <a:tcPr marL="91440" marR="91440" marT="45720" marB="45720" anchor="ctr"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31" name="Chart"/>
          <p:cNvGraphicFramePr/>
          <p:nvPr/>
        </p:nvGraphicFramePr>
        <p:xfrm>
          <a:off xmlns:a="http://schemas.openxmlformats.org/drawingml/2006/main" x="17062500" y="28265625"/>
          <a:ext xmlns:a="http://schemas.openxmlformats.org/drawingml/2006/main" cx="14156250" cy="468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629c1edfcd4a08"/>
          </a:graphicData>
        </a:graphic>
      </p:graphicFrame>
      <p:sp>
        <p:nvSpPr>
          <p:cNvPr id="3278" name="figure5_caption">
            <a:extLst xmlns:a="http://schemas.openxmlformats.org/drawingml/2006/main">
              <a:ext uri="{FF2B5EF4-FFF2-40B4-BE49-F238E27FC236}">
                <a16:creationId xmlns:a16="http://schemas.microsoft.com/office/drawing/2014/main" id="{6C57E686-3ADA-4595-82E4-DF7794BA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3093750"/>
            <a:ext cx="13781250" cy="8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Fig. 5. All 30 locked single-step displacements at 50×. MOSR reaches 4.542 nm Step SD with the same learned weights and the corresponding optical calibration.</a:t>
            </a:r>
          </a:p>
        </p:txBody>
      </p:sp>
      <p:sp>
        <p:nvSpPr>
          <p:cNvPr id="3279" name="conclusions_body">
            <a:extLst xmlns:a="http://schemas.openxmlformats.org/drawingml/2006/main">
              <a:ext uri="{FF2B5EF4-FFF2-40B4-BE49-F238E27FC236}">
                <a16:creationId xmlns:a16="http://schemas.microsoft.com/office/drawing/2014/main" id="{A4C572EB-D478-40C0-B58D-9BD750E7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5718750"/>
            <a:ext cx="13781250" cy="220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9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With shared reconstruction weights and objective-specific optical guidance, MOSR reduces single-step variation by 57.2% at 20× and 23.5% at 50×. The observed reductions under a common center readout support MOSR for cross-magnification micro-displacement inspection.</a:t>
            </a:r>
          </a:p>
        </p:txBody>
      </p:sp>
      <p:sp>
        <p:nvSpPr>
          <p:cNvPr id="3280" name="bibliography_body">
            <a:extLst xmlns:a="http://schemas.openxmlformats.org/drawingml/2006/main">
              <a:ext uri="{FF2B5EF4-FFF2-40B4-BE49-F238E27FC236}">
                <a16:creationId xmlns:a16="http://schemas.microsoft.com/office/drawing/2014/main" id="{632BBF83-64D9-44AC-A496-4B11CF2E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6250" y="39375000"/>
            <a:ext cx="13687500" cy="24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[1] O. Ronneberger et al., U-Net, MICCAI, 2015, pp. 234–241.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[2] R. Zhang, Making convolutional networks shift-invariant again, ICML, 2019, pp. 7324–7334.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[3] T. F. Chan and L. A. Vese, Active contours without edges, IEEE Trans. Image Process., 10(2), 266–277, 2001.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[4] N. Chernov and C. Lesort, Least squares fitting of circles, J. Math. Imaging Vis., 23, 239–252, 2005.</a:t>
            </a:r>
          </a:p>
        </p:txBody>
      </p:sp>
    </p:spTree>
    <p:extLst>
      <p:ext uri="{BB962C8B-B14F-4D97-AF65-F5344CB8AC3E}">
        <p14:creationId xmlns:p14="http://schemas.microsoft.com/office/powerpoint/2010/main" val="1270814280"/>
      </p:ext>
    </p:extLst>
  </p:cSld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Default Design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2026-10-03T08:36:50.0290000Z</dcterms:created>
  <dcterms:modified xsi:type="dcterms:W3CDTF">2026-10-03T08:36:50.0290000Z</dcterms:modified>
</coreProperties>
</file>