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399288" cy="43200638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Raw editability test</c:v>
          </c:tx>
          <c:spPr>
            <a:solidFill>
              <a:srgbClr val="A8ADB3"/>
            </a:solidFill>
            <a:ln w="0"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75" b="1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Step SD</c:v>
                </c:pt>
                <c:pt idx="1">
                  <c:v>Nominal MAE</c:v>
                </c:pt>
                <c:pt idx="2">
                  <c:v>Within-grid SD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8.8394809999999993</c:v>
                </c:pt>
                <c:pt idx="1">
                  <c:v>7.233079</c:v>
                </c:pt>
                <c:pt idx="2">
                  <c:v>10.862548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B2B-42AA-82B8-AACC3904E2CB}"/>
            </c:ext>
          </c:extLst>
        </c:ser>
        <c:ser>
          <c:idx val="1"/>
          <c:order val="1"/>
          <c:tx>
            <c:v>Wiener</c:v>
          </c:tx>
          <c:spPr>
            <a:solidFill>
              <a:srgbClr val="7896B5"/>
            </a:solidFill>
            <a:ln w="0"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75" b="1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Data'!$C$2:$C$4</c:f>
              <c:strCache>
                <c:ptCount val="3"/>
                <c:pt idx="0">
                  <c:v>Step SD</c:v>
                </c:pt>
                <c:pt idx="1">
                  <c:v>Nominal MAE</c:v>
                </c:pt>
                <c:pt idx="2">
                  <c:v>Within-grid SD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7.8950250000000004</c:v>
                </c:pt>
                <c:pt idx="1">
                  <c:v>6.5418779999999996</c:v>
                </c:pt>
                <c:pt idx="2">
                  <c:v>6.4518940000000002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B2B-42AA-82B8-AACC3904E2CB}"/>
            </c:ext>
          </c:extLst>
        </c:ser>
        <c:ser>
          <c:idx val="2"/>
          <c:order val="2"/>
          <c:tx>
            <c:v>R152</c:v>
          </c:tx>
          <c:spPr>
            <a:solidFill>
              <a:srgbClr val="003064"/>
            </a:solidFill>
            <a:ln w="0"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75" b="1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Data'!$E$2:$E$4</c:f>
              <c:strCache>
                <c:ptCount val="3"/>
                <c:pt idx="0">
                  <c:v>Step SD</c:v>
                </c:pt>
                <c:pt idx="1">
                  <c:v>Nominal MAE</c:v>
                </c:pt>
                <c:pt idx="2">
                  <c:v>Within-grid SD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7.1133280000000001</c:v>
                </c:pt>
                <c:pt idx="1">
                  <c:v>5.5587879999999998</c:v>
                </c:pt>
                <c:pt idx="2">
                  <c:v>4.2581680000000004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B2B-42AA-82B8-AACC3904E2C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4288">
            <a:solidFill>
              <a:srgbClr val="111111"/>
            </a:solidFill>
          </a:ln>
        </c:spPr>
        <c:txPr>
          <a:bodyPr anchorCtr="1"/>
          <a:lstStyle/>
          <a:p>
            <a:pPr>
              <a:defRPr sz="24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w="9525">
              <a:solidFill>
                <a:srgbClr val="D8E0E7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40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nm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4288">
            <a:solidFill>
              <a:srgbClr val="111111"/>
            </a:solidFill>
          </a:ln>
        </c:spPr>
        <c:txPr>
          <a:bodyPr anchorCtr="1"/>
          <a:lstStyle/>
          <a:p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zh-TW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  <a:ln w="0">
          <a:noFill/>
        </a:ln>
      </c:spPr>
    </c:plotArea>
    <c:legend>
      <c:legendPos val="t"/>
      <c:overlay val="0"/>
      <c:txPr>
        <a:bodyPr anchorCtr="1"/>
        <a:lstStyle/>
        <a:p>
          <a:pPr>
            <a:defRPr sz="2325">
              <a:solidFill>
                <a:srgbClr val="111111"/>
              </a:solidFill>
              <a:latin typeface="Arial"/>
              <a:ea typeface="Arial"/>
              <a:cs typeface="Arial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Template: C:/Users/Rio/OneDrive/學業/碩班/論文/投稿/IMPACT2026/4. Poster_Sample_2026 (2).pptx</a:t>
            </a:r>
          </a:p>
          <a:p>
            <a:pPr>
              <a:buNone/>
            </a:pPr>
            <a:r>
              <a:t>Title, authors and affiliation: submitted two-page IMPACT manuscript in sources/submitted_paper.pdf.</a:t>
            </a:r>
          </a:p>
          <a:p>
            <a:pPr>
              <a:buNone/>
            </a:pPr>
            <a:r>
              <a:t>Numerical source: C:\Users\Rio\.codex\worktrees\impact-r152\GMM_2_Final\Experiments\R152_IMPACT2026Validation\results\localization_improvement\improved_summary.csv</a:t>
            </a:r>
          </a:p>
          <a:p>
            <a:pPr>
              <a:buNone/>
            </a:pPr>
            <a:r>
              <a:t>Pair-level source: C:\Users\Rio\.codex\worktrees\impact-r152\GMM_2_Final\Experiments\R152_IMPACT2026Validation\results\localization_improvement\improved_pairs.csv</a:t>
            </a:r>
          </a:p>
          <a:p>
            <a:pPr>
              <a:buNone/>
            </a:pPr>
            <a:r>
              <a:t>Images: inspection/images/2_0000_Raw.png, 2_0000_R152.png, 0_0000_Raw.png, 0_0000_R152.png. These are the first locked 0.5 µm frames at each objective with common 0–1 display mapping.</a:t>
            </a:r>
          </a:p>
          <a:p>
            <a:pPr>
              <a:buNone/>
            </a:pPr>
            <a:r>
              <a:t>Current poster readout: radial 720-direction geometric LSC with three refinement passes. The model and raw data are fixed.</a:t>
            </a:r>
          </a:p>
          <a:p>
            <a:pPr>
              <a:buNone/>
            </a:pPr>
            <a:r>
              <a:t>R152 learned checkpoint SHA-256: 17bf7c63f070520a5ef8d4428010340686f465bf1fa03ef8225c0a2eadad4a61.</a:t>
            </a:r>
          </a:p>
          <a:p>
            <a:pPr>
              <a:buNone/>
            </a:pPr>
            <a:r>
              <a:t>50x optics: original calibrated single PSF, installed through the optional input adapter. 20x optics: native R152 25-kernel bank.</a:t>
            </a:r>
          </a:p>
          <a:p>
            <a:pPr>
              <a:buNone/>
            </a:pPr>
            <a:r>
              <a:t>Percent reductions use unrounded aggregate values. All four condition-level values support the stated lowest-value comparison among Raw, Wiener and R152.</a:t>
            </a:r>
          </a:p>
          <a:p>
            <a:pPr>
              <a:buNone/>
            </a:pPr>
            <a:r>
              <a:t>Bibliography metadata follows references [3], [4], [6], [8] of the supplied manuscript.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F34B33-4B3F-4AC5-AAA4-5C6A14457D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8563" y="13635038"/>
            <a:ext cx="27981275" cy="9407525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D390978-1C22-4B1C-B66F-4DB00D880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125" y="24871363"/>
            <a:ext cx="23044150" cy="11217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按一下以編輯母片副標題樣式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BC5FDA-DD86-47BF-A66F-500F38345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311594-4696-439D-A41D-3458F8C25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238" y="10240963"/>
            <a:ext cx="29625925" cy="28967112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E7B442-B9B8-4515-B3B9-09459C5F7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325" y="28203525"/>
            <a:ext cx="27981275" cy="8718550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F51CD76-DE4D-4220-904D-8E4D6C2DC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00325" y="18602325"/>
            <a:ext cx="27981275" cy="96012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C5BC9F-8869-4349-B4B3-2501BB518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56C093-03EA-4898-8F25-DEEDC6EB2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238" y="10240963"/>
            <a:ext cx="14736762" cy="28967112"/>
          </a:xfrm>
          <a:prstGeom prst="rect">
            <a:avLst/>
          </a:prstGeo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79F6EB7-6BFB-42AB-91A6-0F8CDC992BF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6535400" y="10240963"/>
            <a:ext cx="14736763" cy="28967112"/>
          </a:xfrm>
          <a:prstGeom prst="rect">
            <a:avLst/>
          </a:prstGeo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8E6539-CAD5-4C3F-9598-567E6A156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CDACB44-3809-4EB8-B2CA-48F100A8E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9825038"/>
            <a:ext cx="14544675" cy="40941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A03E949-43F6-49C7-843A-06E54659834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646238" y="13919200"/>
            <a:ext cx="14544675" cy="25288875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C7DE492-2F92-4873-8540-22F02BF816A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6722725" y="9825038"/>
            <a:ext cx="14549438" cy="40941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DE9A3C2-1150-4426-960A-469D3AE6C57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6722725" y="13919200"/>
            <a:ext cx="14549438" cy="25288875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202197-AEA9-4CFA-BEC0-6254DBC9E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BB1216-D5C7-4034-944B-1C6B97576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47838"/>
            <a:ext cx="10829925" cy="7437437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B2CC0-0530-4AA7-94EF-FE456AAA7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863" y="1747838"/>
            <a:ext cx="18402300" cy="37460237"/>
          </a:xfrm>
          <a:prstGeom prst="rect">
            <a:avLst/>
          </a:prstGeo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ECF7690-F211-4B11-87A9-83DA8A6F91C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646238" y="9185275"/>
            <a:ext cx="10829925" cy="30022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EC727F-611B-4CF9-A57C-B54D1EBBB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600" y="30724475"/>
            <a:ext cx="19751675" cy="3625850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CEF6A96-AF24-455B-AB5C-18C75D813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51600" y="3921125"/>
            <a:ext cx="19751675" cy="26335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11AE8AD-0712-466F-8B52-67DB6A3021E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51600" y="34350325"/>
            <a:ext cx="19751675" cy="5151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E54949-6D1C-47F2-92B6-0CC6B745F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B0221F0-D51A-42F1-B4FB-B03C94850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10240963"/>
            <a:ext cx="29625925" cy="28967112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D339E4D-AF5D-4B74-840C-0AEF640DB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6475" y="1757363"/>
            <a:ext cx="7405688" cy="37450712"/>
          </a:xfrm>
          <a:prstGeom prst="rect">
            <a:avLst/>
          </a:prstGeom>
        </p:spPr>
        <p:txBody>
          <a:bodyPr vert="eaVert"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720D610-C0FB-4CD3-A710-7D2BC69F2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1757363"/>
            <a:ext cx="22067837" cy="37450712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50">
            <a:extLst>
              <a:ext uri="{FF2B5EF4-FFF2-40B4-BE49-F238E27FC236}">
                <a16:creationId xmlns:a16="http://schemas.microsoft.com/office/drawing/2014/main" id="{7CFF181F-B878-4CDD-96A7-B1FB385C78C0}"/>
              </a:ext>
            </a:extLst>
          </p:cNvPr>
          <p:cNvSpPr>
            <a:spLocks noGrp="1"/>
          </p:cNvSpPr>
          <p:nvPr/>
        </p:nvSpPr>
        <p:spPr>
          <a:xfrm>
            <a:off x="16518750" y="8037500"/>
            <a:ext cx="15243750" cy="341000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075" name="AutoShape 4">
            <a:extLst>
              <a:ext uri="{FF2B5EF4-FFF2-40B4-BE49-F238E27FC236}">
                <a16:creationId xmlns:a16="http://schemas.microsoft.com/office/drawing/2014/main" id="{5B992554-B456-4B76-8304-81226C1C3D26}"/>
              </a:ext>
            </a:extLst>
          </p:cNvPr>
          <p:cNvSpPr>
            <a:spLocks noGrp="1"/>
          </p:cNvSpPr>
          <p:nvPr/>
        </p:nvSpPr>
        <p:spPr>
          <a:xfrm>
            <a:off x="562500" y="8000000"/>
            <a:ext cx="15243750" cy="341000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077" name="Text Box 10">
            <a:extLst>
              <a:ext uri="{FF2B5EF4-FFF2-40B4-BE49-F238E27FC236}">
                <a16:creationId xmlns:a16="http://schemas.microsoft.com/office/drawing/2014/main" id="{7CD5EC61-78A9-49F0-9FA6-E33E4A7D835F}"/>
              </a:ext>
            </a:extLst>
          </p:cNvPr>
          <p:cNvSpPr>
            <a:spLocks noGrp="1"/>
          </p:cNvSpPr>
          <p:nvPr/>
        </p:nvSpPr>
        <p:spPr>
          <a:xfrm>
            <a:off x="1125000" y="29634375"/>
            <a:ext cx="14062500" cy="14413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>
              <a:ext uri="{FF2B5EF4-FFF2-40B4-BE49-F238E27FC236}">
                <a16:creationId xmlns:a16="http://schemas.microsoft.com/office/drawing/2014/main" id="{0A270026-7DB8-45C8-877A-37BB51DC3B57}"/>
              </a:ext>
            </a:extLst>
          </p:cNvPr>
          <p:cNvSpPr>
            <a:spLocks noGrp="1"/>
          </p:cNvSpPr>
          <p:nvPr/>
        </p:nvSpPr>
        <p:spPr>
          <a:xfrm>
            <a:off x="16968750" y="27843750"/>
            <a:ext cx="14156250" cy="14413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>
              <a:ext uri="{FF2B5EF4-FFF2-40B4-BE49-F238E27FC236}">
                <a16:creationId xmlns:a16="http://schemas.microsoft.com/office/drawing/2014/main" id="{9E8010DE-AB10-42CB-829C-E6F651C847DC}"/>
              </a:ext>
            </a:extLst>
          </p:cNvPr>
          <p:cNvSpPr>
            <a:spLocks noGrp="1"/>
          </p:cNvSpPr>
          <p:nvPr/>
        </p:nvSpPr>
        <p:spPr>
          <a:xfrm>
            <a:off x="506250" y="500000"/>
            <a:ext cx="31387500" cy="6900000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>
              <a:ext uri="{FF2B5EF4-FFF2-40B4-BE49-F238E27FC236}">
                <a16:creationId xmlns:a16="http://schemas.microsoft.com/office/drawing/2014/main" id="{21A3E190-0689-46BA-9367-A9910FBBA0BB}"/>
              </a:ext>
            </a:extLst>
          </p:cNvPr>
          <p:cNvSpPr>
            <a:spLocks noGrp="1"/>
          </p:cNvSpPr>
          <p:nvPr/>
        </p:nvSpPr>
        <p:spPr>
          <a:xfrm>
            <a:off x="1125000" y="2625000"/>
            <a:ext cx="30187500" cy="417576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>
            <a:pPr algn="ctr" defTabSz="4389438">
              <a:lnSpc>
                <a:spcPct val="103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>
              <a:ext uri="{FF2B5EF4-FFF2-40B4-BE49-F238E27FC236}">
                <a16:creationId xmlns:a16="http://schemas.microsoft.com/office/drawing/2014/main" id="{F125D471-1761-4BB1-B247-B60609FF52E3}"/>
              </a:ext>
            </a:extLst>
          </p:cNvPr>
          <p:cNvSpPr>
            <a:spLocks noGrp="1"/>
          </p:cNvSpPr>
          <p:nvPr/>
        </p:nvSpPr>
        <p:spPr>
          <a:xfrm>
            <a:off x="17156250" y="36375000"/>
            <a:ext cx="13687500" cy="111175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6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>
              <a:ext uri="{FF2B5EF4-FFF2-40B4-BE49-F238E27FC236}">
                <a16:creationId xmlns:a16="http://schemas.microsoft.com/office/drawing/2014/main" id="{DDB77CDA-7640-4676-964D-76313F04EF1E}"/>
              </a:ext>
            </a:extLst>
          </p:cNvPr>
          <p:cNvSpPr>
            <a:spLocks noGrp="1"/>
          </p:cNvSpPr>
          <p:nvPr/>
        </p:nvSpPr>
        <p:spPr>
          <a:xfrm>
            <a:off x="1125000" y="8596875"/>
            <a:ext cx="14062500" cy="14413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>
              <a:ext uri="{FF2B5EF4-FFF2-40B4-BE49-F238E27FC236}">
                <a16:creationId xmlns:a16="http://schemas.microsoft.com/office/drawing/2014/main" id="{C89FA397-2CEB-45C7-8E79-ADD3B8ABBA43}"/>
              </a:ext>
            </a:extLst>
          </p:cNvPr>
          <p:cNvSpPr>
            <a:spLocks noGrp="1"/>
          </p:cNvSpPr>
          <p:nvPr/>
        </p:nvSpPr>
        <p:spPr>
          <a:xfrm>
            <a:off x="16968750" y="8615625"/>
            <a:ext cx="14156250" cy="14413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>
              <a:ext uri="{FF2B5EF4-FFF2-40B4-BE49-F238E27FC236}">
                <a16:creationId xmlns:a16="http://schemas.microsoft.com/office/drawing/2014/main" id="{386CABCB-4624-41C5-98F0-27F2102C6F8C}"/>
              </a:ext>
            </a:extLst>
          </p:cNvPr>
          <p:cNvSpPr>
            <a:spLocks noGrp="1"/>
          </p:cNvSpPr>
          <p:nvPr/>
        </p:nvSpPr>
        <p:spPr>
          <a:xfrm>
            <a:off x="28200000" y="1846875"/>
            <a:ext cx="3281250" cy="167132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2" name="圖片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940625" y="857813"/>
            <a:ext cx="2512500" cy="843750"/>
          </a:xfrm>
          <a:prstGeom prst="rect">
            <a:avLst/>
          </a:prstGeom>
          <a:ln w="9525">
            <a:noFill/>
            <a:miter/>
          </a:ln>
        </p:spPr>
      </p:pic>
      <p:sp>
        <p:nvSpPr>
          <p:cNvPr id="3096" name="authors">
            <a:extLst>
              <a:ext uri="{FF2B5EF4-FFF2-40B4-BE49-F238E27FC236}">
                <a16:creationId xmlns:a16="http://schemas.microsoft.com/office/drawing/2014/main" id="{5C12AAE7-CF0D-42E5-8AF3-57BB74CBC696}"/>
              </a:ext>
            </a:extLst>
          </p:cNvPr>
          <p:cNvSpPr>
            <a:spLocks noGrp="1"/>
          </p:cNvSpPr>
          <p:nvPr/>
        </p:nvSpPr>
        <p:spPr>
          <a:xfrm>
            <a:off x="1500000" y="5437500"/>
            <a:ext cx="29343750" cy="67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3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>
              <a:ext uri="{FF2B5EF4-FFF2-40B4-BE49-F238E27FC236}">
                <a16:creationId xmlns:a16="http://schemas.microsoft.com/office/drawing/2014/main" id="{064E35F1-3851-4962-BD14-337B35565206}"/>
              </a:ext>
            </a:extLst>
          </p:cNvPr>
          <p:cNvSpPr>
            <a:spLocks noGrp="1"/>
          </p:cNvSpPr>
          <p:nvPr/>
        </p:nvSpPr>
        <p:spPr>
          <a:xfrm>
            <a:off x="1500000" y="6140625"/>
            <a:ext cx="29343750" cy="515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3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>
              <a:ext uri="{FF2B5EF4-FFF2-40B4-BE49-F238E27FC236}">
                <a16:creationId xmlns:a16="http://schemas.microsoft.com/office/drawing/2014/main" id="{7B862C94-DB20-40AF-B646-C03D165B691E}"/>
              </a:ext>
            </a:extLst>
          </p:cNvPr>
          <p:cNvSpPr>
            <a:spLocks noGrp="1"/>
          </p:cNvSpPr>
          <p:nvPr/>
        </p:nvSpPr>
        <p:spPr>
          <a:xfrm>
            <a:off x="1593750" y="6759375"/>
            <a:ext cx="29156250" cy="43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>
              <a:ext uri="{FF2B5EF4-FFF2-40B4-BE49-F238E27FC236}">
                <a16:creationId xmlns:a16="http://schemas.microsoft.com/office/drawing/2014/main" id="{47D1D99E-424A-41D9-B5A9-82E5EDD21939}"/>
              </a:ext>
            </a:extLst>
          </p:cNvPr>
          <p:cNvSpPr>
            <a:spLocks noGrp="1"/>
          </p:cNvSpPr>
          <p:nvPr/>
        </p:nvSpPr>
        <p:spPr>
          <a:xfrm>
            <a:off x="1171875" y="10218750"/>
            <a:ext cx="13875000" cy="32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Reliable optical inspection requires clear boundaries and stable feature positions. R152 reconstructs microscopy images on the original pixel grid and connects them to one geometric measurement pipeline.</a:t>
            </a:r>
          </a:p>
          <a:p>
            <a:endParaRPr sz="32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fixed set of learned weights processes 20× and 50× images with objective-specific optical information. Bounded correction sharpens pillar boundaries on the native grid [1, 2].</a:t>
            </a:r>
          </a:p>
        </p:txBody>
      </p:sp>
      <p:sp>
        <p:nvSpPr>
          <p:cNvPr id="3100" name="fig1_label">
            <a:extLst>
              <a:ext uri="{FF2B5EF4-FFF2-40B4-BE49-F238E27FC236}">
                <a16:creationId xmlns:a16="http://schemas.microsoft.com/office/drawing/2014/main" id="{5E749031-C7C4-4508-8353-45DBC5A5743D}"/>
              </a:ext>
            </a:extLst>
          </p:cNvPr>
          <p:cNvSpPr>
            <a:spLocks noGrp="1"/>
          </p:cNvSpPr>
          <p:nvPr/>
        </p:nvSpPr>
        <p:spPr>
          <a:xfrm>
            <a:off x="4687500" y="13659375"/>
            <a:ext cx="6750000" cy="93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3000"/>
              </a:lnSpc>
              <a:buNone/>
              <a:defRPr sz="54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#1</a:t>
            </a:r>
          </a:p>
        </p:txBody>
      </p:sp>
      <p:sp>
        <p:nvSpPr>
          <p:cNvPr id="3101" name="raw_label">
            <a:extLst>
              <a:ext uri="{FF2B5EF4-FFF2-40B4-BE49-F238E27FC236}">
                <a16:creationId xmlns:a16="http://schemas.microsoft.com/office/drawing/2014/main" id="{ED295C39-F2B9-4D24-984A-4065A5DB5751}"/>
              </a:ext>
            </a:extLst>
          </p:cNvPr>
          <p:cNvSpPr>
            <a:spLocks noGrp="1"/>
          </p:cNvSpPr>
          <p:nvPr/>
        </p:nvSpPr>
        <p:spPr>
          <a:xfrm>
            <a:off x="1546875" y="14606250"/>
            <a:ext cx="6093750" cy="60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2" name="r152_label">
            <a:extLst>
              <a:ext uri="{FF2B5EF4-FFF2-40B4-BE49-F238E27FC236}">
                <a16:creationId xmlns:a16="http://schemas.microsoft.com/office/drawing/2014/main" id="{9CA764FE-ED83-4142-AD0B-3554A110E2AF}"/>
              </a:ext>
            </a:extLst>
          </p:cNvPr>
          <p:cNvSpPr>
            <a:spLocks noGrp="1"/>
          </p:cNvSpPr>
          <p:nvPr/>
        </p:nvSpPr>
        <p:spPr>
          <a:xfrm>
            <a:off x="8812500" y="14606250"/>
            <a:ext cx="6093750" cy="60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3000"/>
              </a:lnSpc>
              <a:buNone/>
              <a:defRPr sz="40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R152</a:t>
            </a:r>
          </a:p>
        </p:txBody>
      </p:sp>
      <p:sp>
        <p:nvSpPr>
          <p:cNvPr id="3103" name="mag-20×">
            <a:extLst>
              <a:ext uri="{FF2B5EF4-FFF2-40B4-BE49-F238E27FC236}">
                <a16:creationId xmlns:a16="http://schemas.microsoft.com/office/drawing/2014/main" id="{B4B979DD-737D-4EEA-B18C-EE46256C3AA0}"/>
              </a:ext>
            </a:extLst>
          </p:cNvPr>
          <p:cNvSpPr>
            <a:spLocks noGrp="1"/>
          </p:cNvSpPr>
          <p:nvPr/>
        </p:nvSpPr>
        <p:spPr>
          <a:xfrm>
            <a:off x="1171875" y="15000000"/>
            <a:ext cx="1546875" cy="5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圖片 315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546875" y="15595618"/>
            <a:ext cx="6093750" cy="6027514"/>
          </a:xfrm>
          <a:prstGeom prst="rect">
            <a:avLst/>
          </a:prstGeom>
        </p:spPr>
      </p:pic>
      <p:sp>
        <p:nvSpPr>
          <p:cNvPr id="3105" name="scale-20×-Raw">
            <a:extLst>
              <a:ext uri="{FF2B5EF4-FFF2-40B4-BE49-F238E27FC236}">
                <a16:creationId xmlns:a16="http://schemas.microsoft.com/office/drawing/2014/main" id="{51A7F5A3-EA8E-467A-8B8B-DFB7E0E2B242}"/>
              </a:ext>
            </a:extLst>
          </p:cNvPr>
          <p:cNvSpPr>
            <a:spLocks noGrp="1"/>
          </p:cNvSpPr>
          <p:nvPr/>
        </p:nvSpPr>
        <p:spPr>
          <a:xfrm>
            <a:off x="6450792" y="21225000"/>
            <a:ext cx="767958" cy="0"/>
          </a:xfrm>
          <a:prstGeom prst="line">
            <a:avLst/>
          </a:prstGeom>
          <a:noFill/>
          <a:ln w="65625">
            <a:solidFill>
              <a:srgbClr val="FFFFFF"/>
            </a:solidFill>
          </a:ln>
        </p:spPr>
      </p:sp>
      <p:sp>
        <p:nvSpPr>
          <p:cNvPr id="3106" name="scale-label-20×-Raw">
            <a:extLst>
              <a:ext uri="{FF2B5EF4-FFF2-40B4-BE49-F238E27FC236}">
                <a16:creationId xmlns:a16="http://schemas.microsoft.com/office/drawing/2014/main" id="{9278E685-96EA-44F9-A024-5B9F0A178D38}"/>
              </a:ext>
            </a:extLst>
          </p:cNvPr>
          <p:cNvSpPr>
            <a:spLocks noGrp="1"/>
          </p:cNvSpPr>
          <p:nvPr/>
        </p:nvSpPr>
        <p:spPr>
          <a:xfrm>
            <a:off x="6263292" y="20671875"/>
            <a:ext cx="1142958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圖片 315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812500" y="15595618"/>
            <a:ext cx="6093750" cy="6027514"/>
          </a:xfrm>
          <a:prstGeom prst="rect">
            <a:avLst/>
          </a:prstGeom>
        </p:spPr>
      </p:pic>
      <p:sp>
        <p:nvSpPr>
          <p:cNvPr id="3108" name="scale-20×-R152">
            <a:extLst>
              <a:ext uri="{FF2B5EF4-FFF2-40B4-BE49-F238E27FC236}">
                <a16:creationId xmlns:a16="http://schemas.microsoft.com/office/drawing/2014/main" id="{0691D5DD-BEF6-4540-9BFB-BA0D3D6FDB19}"/>
              </a:ext>
            </a:extLst>
          </p:cNvPr>
          <p:cNvSpPr>
            <a:spLocks noGrp="1"/>
          </p:cNvSpPr>
          <p:nvPr/>
        </p:nvSpPr>
        <p:spPr>
          <a:xfrm>
            <a:off x="13716417" y="21225000"/>
            <a:ext cx="767958" cy="0"/>
          </a:xfrm>
          <a:prstGeom prst="line">
            <a:avLst/>
          </a:prstGeom>
          <a:noFill/>
          <a:ln w="65625">
            <a:solidFill>
              <a:srgbClr val="FFFFFF"/>
            </a:solidFill>
          </a:ln>
        </p:spPr>
      </p:sp>
      <p:sp>
        <p:nvSpPr>
          <p:cNvPr id="3109" name="scale-label-20×-R152">
            <a:extLst>
              <a:ext uri="{FF2B5EF4-FFF2-40B4-BE49-F238E27FC236}">
                <a16:creationId xmlns:a16="http://schemas.microsoft.com/office/drawing/2014/main" id="{2F32DDAC-A056-4DA6-99E8-822229A737B3}"/>
              </a:ext>
            </a:extLst>
          </p:cNvPr>
          <p:cNvSpPr>
            <a:spLocks noGrp="1"/>
          </p:cNvSpPr>
          <p:nvPr/>
        </p:nvSpPr>
        <p:spPr>
          <a:xfrm>
            <a:off x="13528917" y="20671875"/>
            <a:ext cx="1142958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0" name="mag-50×">
            <a:extLst>
              <a:ext uri="{FF2B5EF4-FFF2-40B4-BE49-F238E27FC236}">
                <a16:creationId xmlns:a16="http://schemas.microsoft.com/office/drawing/2014/main" id="{9834176B-E553-477B-A488-82D7A05625EF}"/>
              </a:ext>
            </a:extLst>
          </p:cNvPr>
          <p:cNvSpPr>
            <a:spLocks noGrp="1"/>
          </p:cNvSpPr>
          <p:nvPr/>
        </p:nvSpPr>
        <p:spPr>
          <a:xfrm>
            <a:off x="1171875" y="21843750"/>
            <a:ext cx="1546875" cy="5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圖片 315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46875" y="22406250"/>
            <a:ext cx="6093750" cy="6093750"/>
          </a:xfrm>
          <a:prstGeom prst="rect">
            <a:avLst/>
          </a:prstGeom>
        </p:spPr>
      </p:pic>
      <p:sp>
        <p:nvSpPr>
          <p:cNvPr id="3112" name="scale-50×-Raw">
            <a:extLst>
              <a:ext uri="{FF2B5EF4-FFF2-40B4-BE49-F238E27FC236}">
                <a16:creationId xmlns:a16="http://schemas.microsoft.com/office/drawing/2014/main" id="{28573ABB-C116-4BB5-9482-87E747D4BDD7}"/>
              </a:ext>
            </a:extLst>
          </p:cNvPr>
          <p:cNvSpPr>
            <a:spLocks noGrp="1"/>
          </p:cNvSpPr>
          <p:nvPr/>
        </p:nvSpPr>
        <p:spPr>
          <a:xfrm>
            <a:off x="6437199" y="28068750"/>
            <a:ext cx="781551" cy="0"/>
          </a:xfrm>
          <a:prstGeom prst="line">
            <a:avLst/>
          </a:prstGeom>
          <a:noFill/>
          <a:ln w="65625">
            <a:solidFill>
              <a:srgbClr val="FFFFFF"/>
            </a:solidFill>
          </a:ln>
        </p:spPr>
      </p:sp>
      <p:sp>
        <p:nvSpPr>
          <p:cNvPr id="3113" name="scale-label-50×-Raw">
            <a:extLst>
              <a:ext uri="{FF2B5EF4-FFF2-40B4-BE49-F238E27FC236}">
                <a16:creationId xmlns:a16="http://schemas.microsoft.com/office/drawing/2014/main" id="{3A74E149-8AC7-4CA4-B08F-E5A5D65BC482}"/>
              </a:ext>
            </a:extLst>
          </p:cNvPr>
          <p:cNvSpPr>
            <a:spLocks noGrp="1"/>
          </p:cNvSpPr>
          <p:nvPr/>
        </p:nvSpPr>
        <p:spPr>
          <a:xfrm>
            <a:off x="6249699" y="27515625"/>
            <a:ext cx="1156551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圖片 316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812500" y="22406250"/>
            <a:ext cx="6093750" cy="6093750"/>
          </a:xfrm>
          <a:prstGeom prst="rect">
            <a:avLst/>
          </a:prstGeom>
        </p:spPr>
      </p:pic>
      <p:sp>
        <p:nvSpPr>
          <p:cNvPr id="3115" name="scale-50×-R152">
            <a:extLst>
              <a:ext uri="{FF2B5EF4-FFF2-40B4-BE49-F238E27FC236}">
                <a16:creationId xmlns:a16="http://schemas.microsoft.com/office/drawing/2014/main" id="{9EBB5FA0-E7B6-446D-9E66-7BD77EAB02C6}"/>
              </a:ext>
            </a:extLst>
          </p:cNvPr>
          <p:cNvSpPr>
            <a:spLocks noGrp="1"/>
          </p:cNvSpPr>
          <p:nvPr/>
        </p:nvSpPr>
        <p:spPr>
          <a:xfrm>
            <a:off x="13702824" y="28068750"/>
            <a:ext cx="781551" cy="0"/>
          </a:xfrm>
          <a:prstGeom prst="line">
            <a:avLst/>
          </a:prstGeom>
          <a:noFill/>
          <a:ln w="65625">
            <a:solidFill>
              <a:srgbClr val="FFFFFF"/>
            </a:solidFill>
          </a:ln>
        </p:spPr>
      </p:sp>
      <p:sp>
        <p:nvSpPr>
          <p:cNvPr id="3116" name="scale-label-50×-R152">
            <a:extLst>
              <a:ext uri="{FF2B5EF4-FFF2-40B4-BE49-F238E27FC236}">
                <a16:creationId xmlns:a16="http://schemas.microsoft.com/office/drawing/2014/main" id="{0ECC1B16-9302-4BD0-B3B5-739382906B13}"/>
              </a:ext>
            </a:extLst>
          </p:cNvPr>
          <p:cNvSpPr>
            <a:spLocks noGrp="1"/>
          </p:cNvSpPr>
          <p:nvPr/>
        </p:nvSpPr>
        <p:spPr>
          <a:xfrm>
            <a:off x="13515324" y="27515625"/>
            <a:ext cx="1156551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7" name="fig1_caption">
            <a:extLst>
              <a:ext uri="{FF2B5EF4-FFF2-40B4-BE49-F238E27FC236}">
                <a16:creationId xmlns:a16="http://schemas.microsoft.com/office/drawing/2014/main" id="{02450E30-30FB-4372-A1B2-1FAB2D7CF16A}"/>
              </a:ext>
            </a:extLst>
          </p:cNvPr>
          <p:cNvSpPr>
            <a:spLocks noGrp="1"/>
          </p:cNvSpPr>
          <p:nvPr/>
        </p:nvSpPr>
        <p:spPr>
          <a:xfrm>
            <a:off x="1171875" y="28687500"/>
            <a:ext cx="13875000" cy="84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Representative pillar fields at 20× and 50×. R152 yields clearer boundaries on the native pixel grid. Scale bars: 2 µm.</a:t>
            </a:r>
          </a:p>
        </p:txBody>
      </p:sp>
      <p:sp>
        <p:nvSpPr>
          <p:cNvPr id="3118" name="methods_body">
            <a:extLst>
              <a:ext uri="{FF2B5EF4-FFF2-40B4-BE49-F238E27FC236}">
                <a16:creationId xmlns:a16="http://schemas.microsoft.com/office/drawing/2014/main" id="{B95C9705-9517-4FD0-9F44-F1B680478CB1}"/>
              </a:ext>
            </a:extLst>
          </p:cNvPr>
          <p:cNvSpPr>
            <a:spLocks noGrp="1"/>
          </p:cNvSpPr>
          <p:nvPr/>
        </p:nvSpPr>
        <p:spPr>
          <a:xfrm>
            <a:off x="1171875" y="31406250"/>
            <a:ext cx="13875000" cy="29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combines PSF-guided reconstruction, anti-aliased processing and bounded output correction. The optical inputs comprise 25 kernels at 20× and one calibrated kernel at 50×.</a:t>
            </a:r>
          </a:p>
          <a:p>
            <a:endParaRPr sz="30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All image methods share one LSC pipeline [3, 4]. Each pillar uses 720 radial samples and three center-refinement passes. The median horizontal shift of nine pillars defines each step.</a:t>
            </a:r>
          </a:p>
        </p:txBody>
      </p:sp>
      <p:sp>
        <p:nvSpPr>
          <p:cNvPr id="3119" name="experiment_table_label">
            <a:extLst>
              <a:ext uri="{FF2B5EF4-FFF2-40B4-BE49-F238E27FC236}">
                <a16:creationId xmlns:a16="http://schemas.microsoft.com/office/drawing/2014/main" id="{D6E0E82C-2C24-4220-832D-4F5E6F8BFCEE}"/>
              </a:ext>
            </a:extLst>
          </p:cNvPr>
          <p:cNvSpPr>
            <a:spLocks noGrp="1"/>
          </p:cNvSpPr>
          <p:nvPr/>
        </p:nvSpPr>
        <p:spPr>
          <a:xfrm>
            <a:off x="1218750" y="34593750"/>
            <a:ext cx="13781250" cy="6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#1. Locked acquisition conditions</a:t>
            </a:r>
          </a:p>
        </p:txBody>
      </p:sp>
      <p:graphicFrame>
        <p:nvGraphicFramePr>
          <p:cNvPr id="3167" name="表格 3166"/>
          <p:cNvGraphicFramePr/>
          <p:nvPr/>
        </p:nvGraphicFramePr>
        <p:xfrm>
          <a:off x="1218750" y="35343750"/>
          <a:ext cx="13781250" cy="3975000"/>
        </p:xfrm>
        <a:graphic>
          <a:graphicData uri="http://schemas.openxmlformats.org/drawingml/2006/table">
            <a:tbl>
              <a:tblPr/>
              <a:tblGrid>
                <a:gridCol w="3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5000">
                <a:tc>
                  <a:txBody>
                    <a:bodyPr/>
                    <a:lstStyle/>
                    <a:p>
                      <a:pPr algn="l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anchor="ctr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000">
                <a:tc>
                  <a:txBody>
                    <a:bodyPr/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000">
                <a:tc>
                  <a:txBody>
                    <a:bodyPr/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000">
                <a:tc>
                  <a:txBody>
                    <a:bodyPr/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000">
                <a:tc>
                  <a:txBody>
                    <a:bodyPr/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21" name="metric_definitions">
            <a:extLst>
              <a:ext uri="{FF2B5EF4-FFF2-40B4-BE49-F238E27FC236}">
                <a16:creationId xmlns:a16="http://schemas.microsoft.com/office/drawing/2014/main" id="{1B98C883-370C-40BC-BB6C-6C1DE657D312}"/>
              </a:ext>
            </a:extLst>
          </p:cNvPr>
          <p:cNvSpPr>
            <a:spLocks noGrp="1"/>
          </p:cNvSpPr>
          <p:nvPr/>
        </p:nvSpPr>
        <p:spPr>
          <a:xfrm>
            <a:off x="1218750" y="39843750"/>
            <a:ext cx="13687500" cy="173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SD: mean of four condition-level standard deviations.</a:t>
            </a:r>
          </a:p>
          <a:p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Nominal MAE: mean absolute difference from the set step.</a:t>
            </a:r>
          </a:p>
          <a:p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Within-grid SD: median of 120 nine-pillar standard deviations.</a:t>
            </a:r>
          </a:p>
        </p:txBody>
      </p:sp>
      <p:sp>
        <p:nvSpPr>
          <p:cNvPr id="3122" name="result_hero">
            <a:extLst>
              <a:ext uri="{FF2B5EF4-FFF2-40B4-BE49-F238E27FC236}">
                <a16:creationId xmlns:a16="http://schemas.microsoft.com/office/drawing/2014/main" id="{82572E91-AB82-438C-A179-7DFD7EBFAD7E}"/>
              </a:ext>
            </a:extLst>
          </p:cNvPr>
          <p:cNvSpPr>
            <a:spLocks noGrp="1"/>
          </p:cNvSpPr>
          <p:nvPr/>
        </p:nvSpPr>
        <p:spPr>
          <a:xfrm>
            <a:off x="17296875" y="10171875"/>
            <a:ext cx="7968750" cy="237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146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146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60.8%</a:t>
            </a:r>
          </a:p>
        </p:txBody>
      </p:sp>
      <p:sp>
        <p:nvSpPr>
          <p:cNvPr id="3123" name="result_scope">
            <a:extLst>
              <a:ext uri="{FF2B5EF4-FFF2-40B4-BE49-F238E27FC236}">
                <a16:creationId xmlns:a16="http://schemas.microsoft.com/office/drawing/2014/main" id="{631F1FAC-B841-4A3D-A1DB-8D2AA1D29373}"/>
              </a:ext>
            </a:extLst>
          </p:cNvPr>
          <p:cNvSpPr>
            <a:spLocks noGrp="1"/>
          </p:cNvSpPr>
          <p:nvPr/>
        </p:nvSpPr>
        <p:spPr>
          <a:xfrm>
            <a:off x="25781250" y="10687500"/>
            <a:ext cx="4921875" cy="160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120 paired steps</a:t>
            </a:r>
          </a:p>
          <a:p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 and 50×</a:t>
            </a:r>
          </a:p>
        </p:txBody>
      </p:sp>
      <p:sp>
        <p:nvSpPr>
          <p:cNvPr id="3124" name="result_hero_label">
            <a:extLst>
              <a:ext uri="{FF2B5EF4-FFF2-40B4-BE49-F238E27FC236}">
                <a16:creationId xmlns:a16="http://schemas.microsoft.com/office/drawing/2014/main" id="{739C7012-C087-4066-9F07-61E5067674E0}"/>
              </a:ext>
            </a:extLst>
          </p:cNvPr>
          <p:cNvSpPr>
            <a:spLocks noGrp="1"/>
          </p:cNvSpPr>
          <p:nvPr/>
        </p:nvSpPr>
        <p:spPr>
          <a:xfrm>
            <a:off x="17296875" y="12750000"/>
            <a:ext cx="13593750" cy="84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median within-grid SD versus Raw</a:t>
            </a:r>
          </a:p>
        </p:txBody>
      </p:sp>
      <p:sp>
        <p:nvSpPr>
          <p:cNvPr id="3125" name="results_table_label">
            <a:extLst>
              <a:ext uri="{FF2B5EF4-FFF2-40B4-BE49-F238E27FC236}">
                <a16:creationId xmlns:a16="http://schemas.microsoft.com/office/drawing/2014/main" id="{268D3974-D540-4D0E-8405-D1814A03D5A8}"/>
              </a:ext>
            </a:extLst>
          </p:cNvPr>
          <p:cNvSpPr>
            <a:spLocks noGrp="1"/>
          </p:cNvSpPr>
          <p:nvPr/>
        </p:nvSpPr>
        <p:spPr>
          <a:xfrm>
            <a:off x="17156250" y="13903125"/>
            <a:ext cx="13687500" cy="60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#2. Aggregate displacement results (nm)</a:t>
            </a:r>
          </a:p>
        </p:txBody>
      </p:sp>
      <p:graphicFrame>
        <p:nvGraphicFramePr>
          <p:cNvPr id="3173" name="表格 3172"/>
          <p:cNvGraphicFramePr/>
          <p:nvPr/>
        </p:nvGraphicFramePr>
        <p:xfrm>
          <a:off x="17156250" y="14700000"/>
          <a:ext cx="13781250" cy="3768750"/>
        </p:xfrm>
        <a:graphic>
          <a:graphicData uri="http://schemas.openxmlformats.org/drawingml/2006/table">
            <a:tbl>
              <a:tblPr/>
              <a:tblGrid>
                <a:gridCol w="290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2188">
                <a:tc>
                  <a:txBody>
                    <a:bodyPr/>
                    <a:lstStyle/>
                    <a:p>
                      <a:pPr algn="l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</a:t>
                      </a:r>
                    </a:p>
                  </a:txBody>
                  <a:tcPr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Nominal MAE</a:t>
                      </a:r>
                    </a:p>
                  </a:txBody>
                  <a:tcPr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Median</a:t>
                      </a:r>
                    </a:p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within-grid SD</a:t>
                      </a:r>
                    </a:p>
                  </a:txBody>
                  <a:tcPr anchor="ctr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2188">
                <a:tc>
                  <a:txBody>
                    <a:bodyPr/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2188">
                <a:tc>
                  <a:txBody>
                    <a:bodyPr/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2188">
                <a:tc>
                  <a:txBody>
                    <a:bodyPr/>
                    <a:lstStyle/>
                    <a:p>
                      <a:pPr algn="l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R152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27" name="fig2_label">
            <a:extLst>
              <a:ext uri="{FF2B5EF4-FFF2-40B4-BE49-F238E27FC236}">
                <a16:creationId xmlns:a16="http://schemas.microsoft.com/office/drawing/2014/main" id="{0B5C5A30-B21F-4543-AEF7-C52710CBC177}"/>
              </a:ext>
            </a:extLst>
          </p:cNvPr>
          <p:cNvSpPr>
            <a:spLocks noGrp="1"/>
          </p:cNvSpPr>
          <p:nvPr/>
        </p:nvSpPr>
        <p:spPr>
          <a:xfrm>
            <a:off x="20437500" y="18843750"/>
            <a:ext cx="7218750" cy="104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3000"/>
              </a:lnSpc>
              <a:buNone/>
              <a:defRPr sz="60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#2</a:t>
            </a:r>
          </a:p>
        </p:txBody>
      </p:sp>
      <p:graphicFrame>
        <p:nvGraphicFramePr>
          <p:cNvPr id="3175" name="Chart"/>
          <p:cNvGraphicFramePr/>
          <p:nvPr>
            <p:extLst>
              <p:ext uri="{D42A27DB-BD31-4B8C-83A1-F6EECF244321}">
                <p14:modId xmlns:p14="http://schemas.microsoft.com/office/powerpoint/2010/main" val="970589037"/>
              </p:ext>
            </p:extLst>
          </p:nvPr>
        </p:nvGraphicFramePr>
        <p:xfrm>
          <a:off x="17043751" y="20062500"/>
          <a:ext cx="14092751" cy="609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129" name="fig2_caption">
            <a:extLst>
              <a:ext uri="{FF2B5EF4-FFF2-40B4-BE49-F238E27FC236}">
                <a16:creationId xmlns:a16="http://schemas.microsoft.com/office/drawing/2014/main" id="{6498DADC-1AA5-4C72-883E-F70ACAA99113}"/>
              </a:ext>
            </a:extLst>
          </p:cNvPr>
          <p:cNvSpPr>
            <a:spLocks noGrp="1"/>
          </p:cNvSpPr>
          <p:nvPr/>
        </p:nvSpPr>
        <p:spPr>
          <a:xfrm>
            <a:off x="17156250" y="26625000"/>
            <a:ext cx="13875000" cy="98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achieves the lowest measured values for all three criteria across the four imaging conditions.</a:t>
            </a:r>
          </a:p>
        </p:txBody>
      </p:sp>
      <p:sp>
        <p:nvSpPr>
          <p:cNvPr id="3130" name="conclusions_body">
            <a:extLst>
              <a:ext uri="{FF2B5EF4-FFF2-40B4-BE49-F238E27FC236}">
                <a16:creationId xmlns:a16="http://schemas.microsoft.com/office/drawing/2014/main" id="{9636769B-A9DF-49D3-9315-943694ACDE46}"/>
              </a:ext>
            </a:extLst>
          </p:cNvPr>
          <p:cNvSpPr>
            <a:spLocks noGrp="1"/>
          </p:cNvSpPr>
          <p:nvPr/>
        </p:nvSpPr>
        <p:spPr>
          <a:xfrm>
            <a:off x="17156250" y="29625000"/>
            <a:ext cx="13781250" cy="59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reduces median within-grid variation from 10.86 nm to 4.26 nm, a 60.8% reduction relative to Raw.</a:t>
            </a:r>
          </a:p>
          <a:p>
            <a:endParaRPr sz="32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 and nominal MAE decrease by 19.5% and 23.1%, respectively. The same learned weights deliver the lowest measured values in every tested condition.</a:t>
            </a:r>
          </a:p>
          <a:p>
            <a:endParaRPr sz="32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variation reaches 0.056 pixel at 20× and 0.067 pixel at 50×. R152 combines clear pillar boundaries with stronger positional consistency across both objectives.</a:t>
            </a:r>
          </a:p>
        </p:txBody>
      </p:sp>
      <p:sp>
        <p:nvSpPr>
          <p:cNvPr id="3131" name="bibliography_body">
            <a:extLst>
              <a:ext uri="{FF2B5EF4-FFF2-40B4-BE49-F238E27FC236}">
                <a16:creationId xmlns:a16="http://schemas.microsoft.com/office/drawing/2014/main" id="{EE0E9ADC-2668-4963-B52C-E16FCD85CA98}"/>
              </a:ext>
            </a:extLst>
          </p:cNvPr>
          <p:cNvSpPr>
            <a:spLocks noGrp="1"/>
          </p:cNvSpPr>
          <p:nvPr/>
        </p:nvSpPr>
        <p:spPr>
          <a:xfrm>
            <a:off x="17156250" y="37575000"/>
            <a:ext cx="13687500" cy="376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30374207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797</Words>
  <Application>Microsoft Office PowerPoint</Application>
  <DocSecurity>0</DocSecurity>
  <PresentationFormat>自訂</PresentationFormat>
  <Paragraphs>95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Default Design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彥諠 江</cp:lastModifiedBy>
  <cp:revision>1</cp:revision>
  <dcterms:created xsi:type="dcterms:W3CDTF">2026-09-29T15:30:15Z</dcterms:created>
  <dcterms:modified xsi:type="dcterms:W3CDTF">2026-09-29T15:32:12Z</dcterms:modified>
</cp:coreProperties>
</file>