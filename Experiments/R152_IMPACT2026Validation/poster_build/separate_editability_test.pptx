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 QA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7.6737859999999998</c:v>
                </c:pt>
                <c:pt idx="1">
                  <c:v>7.4194050000000002</c:v>
                </c:pt>
                <c:pt idx="2">
                  <c:v>9.6533180000000005</c:v>
                </c:pt>
                <c:pt idx="3">
                  <c:v>9.0002569999999995</c:v>
                </c:pt>
                <c:pt idx="4">
                  <c:v>9.6654280000000004</c:v>
                </c:pt>
                <c:pt idx="5">
                  <c:v>7.659357</c:v>
                </c:pt>
                <c:pt idx="6">
                  <c:v>9.5061029999999995</c:v>
                </c:pt>
                <c:pt idx="7">
                  <c:v>9.8324870000000004</c:v>
                </c:pt>
                <c:pt idx="8">
                  <c:v>9.3184229999999992</c:v>
                </c:pt>
                <c:pt idx="9">
                  <c:v>9.9290299999999991</c:v>
                </c:pt>
                <c:pt idx="10">
                  <c:v>7.3537879999999998</c:v>
                </c:pt>
                <c:pt idx="11">
                  <c:v>9.2465030000000006</c:v>
                </c:pt>
                <c:pt idx="12">
                  <c:v>10.802784000000001</c:v>
                </c:pt>
                <c:pt idx="13">
                  <c:v>6.9523479999999998</c:v>
                </c:pt>
                <c:pt idx="14">
                  <c:v>8.9055599999999995</c:v>
                </c:pt>
                <c:pt idx="15">
                  <c:v>11.457155</c:v>
                </c:pt>
                <c:pt idx="16">
                  <c:v>10.900366999999999</c:v>
                </c:pt>
                <c:pt idx="17">
                  <c:v>11.368474000000001</c:v>
                </c:pt>
                <c:pt idx="18">
                  <c:v>10.276688999999999</c:v>
                </c:pt>
                <c:pt idx="19">
                  <c:v>9.8960100000000004</c:v>
                </c:pt>
                <c:pt idx="20">
                  <c:v>10.901541</c:v>
                </c:pt>
                <c:pt idx="21">
                  <c:v>11.101913</c:v>
                </c:pt>
                <c:pt idx="22">
                  <c:v>13.782461</c:v>
                </c:pt>
                <c:pt idx="23">
                  <c:v>12.266394999999999</c:v>
                </c:pt>
                <c:pt idx="24">
                  <c:v>12.39184</c:v>
                </c:pt>
                <c:pt idx="25">
                  <c:v>10.314117</c:v>
                </c:pt>
                <c:pt idx="26">
                  <c:v>10.644130000000001</c:v>
                </c:pt>
                <c:pt idx="27">
                  <c:v>10.597998</c:v>
                </c:pt>
                <c:pt idx="28">
                  <c:v>9.484928</c:v>
                </c:pt>
                <c:pt idx="29">
                  <c:v>13.548245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65-483A-86EA-8BB4392FEAAA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7.1148870000000004</c:v>
                </c:pt>
                <c:pt idx="1">
                  <c:v>5.7395829999999997</c:v>
                </c:pt>
                <c:pt idx="2">
                  <c:v>7.0344429999999996</c:v>
                </c:pt>
                <c:pt idx="3">
                  <c:v>6.0358520000000002</c:v>
                </c:pt>
                <c:pt idx="4">
                  <c:v>5.6112799999999998</c:v>
                </c:pt>
                <c:pt idx="5">
                  <c:v>6.1503519999999998</c:v>
                </c:pt>
                <c:pt idx="6">
                  <c:v>5.7943600000000002</c:v>
                </c:pt>
                <c:pt idx="7">
                  <c:v>5.6622490000000001</c:v>
                </c:pt>
                <c:pt idx="8">
                  <c:v>8.1385450000000006</c:v>
                </c:pt>
                <c:pt idx="9">
                  <c:v>5.9733679999999998</c:v>
                </c:pt>
                <c:pt idx="10">
                  <c:v>4.903213</c:v>
                </c:pt>
                <c:pt idx="11">
                  <c:v>6.9765920000000001</c:v>
                </c:pt>
                <c:pt idx="12">
                  <c:v>8.1444399999999995</c:v>
                </c:pt>
                <c:pt idx="13">
                  <c:v>7.2755140000000003</c:v>
                </c:pt>
                <c:pt idx="14">
                  <c:v>5.3825589999999996</c:v>
                </c:pt>
                <c:pt idx="15">
                  <c:v>7.3247780000000002</c:v>
                </c:pt>
                <c:pt idx="16">
                  <c:v>5.8595610000000002</c:v>
                </c:pt>
                <c:pt idx="17">
                  <c:v>6.6713779999999998</c:v>
                </c:pt>
                <c:pt idx="18">
                  <c:v>5.3043649999999998</c:v>
                </c:pt>
                <c:pt idx="19">
                  <c:v>10.282641999999999</c:v>
                </c:pt>
                <c:pt idx="20">
                  <c:v>8.2626220000000004</c:v>
                </c:pt>
                <c:pt idx="21">
                  <c:v>10.13655</c:v>
                </c:pt>
                <c:pt idx="22">
                  <c:v>12.664052</c:v>
                </c:pt>
                <c:pt idx="23">
                  <c:v>14.872752999999999</c:v>
                </c:pt>
                <c:pt idx="24">
                  <c:v>11.815431</c:v>
                </c:pt>
                <c:pt idx="25">
                  <c:v>15.093453999999999</c:v>
                </c:pt>
                <c:pt idx="26">
                  <c:v>9.3741710000000005</c:v>
                </c:pt>
                <c:pt idx="27">
                  <c:v>8.8089320000000004</c:v>
                </c:pt>
                <c:pt idx="28">
                  <c:v>9.2193050000000003</c:v>
                </c:pt>
                <c:pt idx="29">
                  <c:v>8.2644490000000008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65-483A-86EA-8BB4392FEAAA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3.8483459999999998</c:v>
                </c:pt>
                <c:pt idx="1">
                  <c:v>3.665054</c:v>
                </c:pt>
                <c:pt idx="2">
                  <c:v>3.6163069999999999</c:v>
                </c:pt>
                <c:pt idx="3">
                  <c:v>3.3772030000000002</c:v>
                </c:pt>
                <c:pt idx="4">
                  <c:v>3.9215</c:v>
                </c:pt>
                <c:pt idx="5">
                  <c:v>4.0369279999999996</c:v>
                </c:pt>
                <c:pt idx="6">
                  <c:v>4.0679400000000001</c:v>
                </c:pt>
                <c:pt idx="7">
                  <c:v>4.4228209999999999</c:v>
                </c:pt>
                <c:pt idx="8">
                  <c:v>4.4914459999999998</c:v>
                </c:pt>
                <c:pt idx="9">
                  <c:v>3.8821620000000001</c:v>
                </c:pt>
                <c:pt idx="10">
                  <c:v>3.5159729999999998</c:v>
                </c:pt>
                <c:pt idx="11">
                  <c:v>4.8076920000000003</c:v>
                </c:pt>
                <c:pt idx="12">
                  <c:v>3.9060090000000001</c:v>
                </c:pt>
                <c:pt idx="13">
                  <c:v>3.64357</c:v>
                </c:pt>
                <c:pt idx="14">
                  <c:v>4.2301380000000002</c:v>
                </c:pt>
                <c:pt idx="15">
                  <c:v>4.0601779999999996</c:v>
                </c:pt>
                <c:pt idx="16">
                  <c:v>5.4988780000000004</c:v>
                </c:pt>
                <c:pt idx="17">
                  <c:v>4.4090090000000002</c:v>
                </c:pt>
                <c:pt idx="18">
                  <c:v>4.5993069999999996</c:v>
                </c:pt>
                <c:pt idx="19">
                  <c:v>5.4174110000000004</c:v>
                </c:pt>
                <c:pt idx="20">
                  <c:v>5.1007119999999997</c:v>
                </c:pt>
                <c:pt idx="21">
                  <c:v>5.3830239999999998</c:v>
                </c:pt>
                <c:pt idx="22">
                  <c:v>6.9890319999999999</c:v>
                </c:pt>
                <c:pt idx="23">
                  <c:v>6.9011490000000002</c:v>
                </c:pt>
                <c:pt idx="24">
                  <c:v>6.34537</c:v>
                </c:pt>
                <c:pt idx="25">
                  <c:v>6.5107090000000003</c:v>
                </c:pt>
                <c:pt idx="26">
                  <c:v>6.2904739999999997</c:v>
                </c:pt>
                <c:pt idx="27">
                  <c:v>5.0103629999999999</c:v>
                </c:pt>
                <c:pt idx="28">
                  <c:v>5.2736910000000004</c:v>
                </c:pt>
                <c:pt idx="29">
                  <c:v>5.3915189999999997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C65-483A-86EA-8BB4392FE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Scan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autoZero"/>
        <c:crossBetween val="between"/>
        <c:majorUnit val="4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Raw QA</c:v>
          </c:tx>
          <c:spPr>
            <a:pattFill prst="pct5">
              <a:fgClr>
                <a:srgbClr val="111111"/>
              </a:fgClr>
              <a:bgClr>
                <a:srgbClr val="D8D8D8"/>
              </a:bgClr>
            </a:pattFill>
            <a:ln w="9525">
              <a:solidFill>
                <a:srgbClr val="111111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5.9380420000000003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8C-4FB8-BD08-C64A1273A053}"/>
            </c:ext>
          </c:extLst>
        </c:ser>
        <c:ser>
          <c:idx val="1"/>
          <c:order val="1"/>
          <c:tx>
            <c:v>Wiener</c:v>
          </c:tx>
          <c:spPr>
            <a:pattFill prst="upDiag">
              <a:fgClr>
                <a:srgbClr val="111111"/>
              </a:fgClr>
              <a:bgClr>
                <a:srgbClr val="AFAFAF"/>
              </a:bgClr>
            </a:pattFill>
            <a:ln w="9525">
              <a:solidFill>
                <a:srgbClr val="111111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4.7216630000000004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8C-4FB8-BD08-C64A1273A053}"/>
            </c:ext>
          </c:extLst>
        </c:ser>
        <c:ser>
          <c:idx val="2"/>
          <c:order val="2"/>
          <c:tx>
            <c:v>MOSR</c:v>
          </c:tx>
          <c:spPr>
            <a:solidFill>
              <a:srgbClr val="181818"/>
            </a:solidFill>
            <a:ln w="9525">
              <a:solidFill>
                <a:srgbClr val="111111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Data'!$E$2:$E$2</c:f>
              <c:strCache>
                <c:ptCount val="1"/>
                <c:pt idx="0">
                  <c:v>50×, 1 µm</c:v>
                </c:pt>
              </c:strCache>
            </c:strRef>
          </c:cat>
          <c:val>
            <c:numRef>
              <c:f>'Chart Data'!$F$2:$F$2</c:f>
              <c:numCache>
                <c:formatCode>0.000</c:formatCode>
                <c:ptCount val="1"/>
                <c:pt idx="0">
                  <c:v>4.5417399999999999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11111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D8C-4FB8-BD08-C64A1273A0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Public model: MOSR. Source model identity: unchanged delivered R152 checkpoint.</a:t>
            </a:r>
          </a:p>
          <a:p>
            <a:pPr>
              <a:buNone/>
            </a:pPr>
            <a:r>
              <a:t>Data: C:\Users\Rio\.codex\worktrees\impact-r152\GMM_2_Final\Experiments\R152_IMPACT2026Validation\results\separate_conditions\poster_data.json</a:t>
            </a:r>
          </a:p>
          <a:p>
            <a:pPr>
              <a:buNone/>
            </a:pPr>
            <a:r>
              <a:t>20x: September 3 thesis cohort, 30 complete scans, 30 observed adjacent steps each. The line chart shows each scan SD. Summary is pooled within-scan SD, sqrt(mean(scan SD squared)); scans contain equal counts. This is not an average across acquisition conditions.</a:t>
            </a:r>
          </a:p>
          <a:p>
            <a:pPr>
              <a:buNone/>
            </a:pPr>
            <a:r>
              <a:t>50x: July 2 original 1 micrometer cohort, 30 Raw-locked adjacent pairs. The bar chart is one sample SD per method from those 30 steps.</a:t>
            </a:r>
          </a:p>
          <a:p>
            <a:pPr>
              <a:buNone/>
            </a:pPr>
            <a:r>
              <a:t>These are separate acquisition cohorts, not a matched causal isolation of magnification. All three methods share identical inputs and the same native normal-gradient geometric LSC reader within each condition.</a:t>
            </a:r>
          </a:p>
          <a:p>
            <a:pPr>
              <a:buNone/>
            </a:pPr>
            <a:r>
              <a:t>The 0.5 micrometer 50x condition is retained in the complete audit and supplementary results; the submitted manuscript is unchanged.</a:t>
            </a:r>
          </a:p>
          <a:p>
            <a:pPr>
              <a:buNone/>
            </a:pPr>
            <a:r>
              <a:t>All measured source numbers, reconstruction checks and citations are in the independent experiment workspace. The submitted manuscript supplies references [1]-[4].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B1BD8A-8B87-445C-B85D-B013F636A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2F6E245-1662-430D-B422-B0D1CCD6D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82AE70-4B24-47AE-96F5-A1C1CD7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CCFB85-1CBC-4AC0-B80A-0EB72D11C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D18B53-D7E9-4CB7-8449-50AE11D7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45805A-98AC-4A26-9257-D49732268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56823A-A726-4DCE-BF70-6489B85F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14B8B1-EE8D-4A4B-B87E-675034749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51BAEC-35BB-43A9-B9FD-7D71D7F977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068E67-2434-4627-91A4-91CF41C5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8CA984-3C01-4194-B04F-0F7E87608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F875C5-A528-4610-8EFA-85AC18632F3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5516FB-AFDD-4AED-82F7-45D2CD92F1F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9833E9-621D-4359-BBF2-89C8F6649AE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ED62C5-5847-470D-B27E-922D4123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E1D61F-7A91-4524-A267-9CA0730CC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565524-9BD2-4FE2-91AE-5461E1C3C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7943CE-98E7-48AB-BB13-0DEA9384B8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65053-17AB-4A74-AF65-0C10E3ED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DB5444E-5582-4402-91B4-B6641ED3A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CA3482-9DA8-421B-8C37-F601724287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653133-E4D2-4B37-8B57-269B18F7C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9651E6C-0466-454A-ACA0-AD3A7E69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92980A-E99C-40EB-B82C-3EB17973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6475" y="1757363"/>
            <a:ext cx="7405688" cy="37450712"/>
          </a:xfrm>
          <a:prstGeom prst="rect">
            <a:avLst/>
          </a:prstGeo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9C965B-3FDF-4F3A-9792-330CDBE55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757363"/>
            <a:ext cx="22067837" cy="374507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50">
            <a:extLst>
              <a:ext uri="{FF2B5EF4-FFF2-40B4-BE49-F238E27FC236}">
                <a16:creationId xmlns:a16="http://schemas.microsoft.com/office/drawing/2014/main" id="{B63C0E14-AB7D-4B3E-A0CB-13FA22E214EA}"/>
              </a:ext>
            </a:extLst>
          </p:cNvPr>
          <p:cNvSpPr>
            <a:spLocks noGrp="1"/>
          </p:cNvSpPr>
          <p:nvPr/>
        </p:nvSpPr>
        <p:spPr>
          <a:xfrm>
            <a:off x="16518750" y="80375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7F155988-232E-4E37-BBC7-494DEAF154F0}"/>
              </a:ext>
            </a:extLst>
          </p:cNvPr>
          <p:cNvSpPr>
            <a:spLocks noGrp="1"/>
          </p:cNvSpPr>
          <p:nvPr/>
        </p:nvSpPr>
        <p:spPr>
          <a:xfrm>
            <a:off x="562500" y="80000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C6401201-CC30-4CCE-9AE1-14922A3259ED}"/>
              </a:ext>
            </a:extLst>
          </p:cNvPr>
          <p:cNvSpPr>
            <a:spLocks noGrp="1"/>
          </p:cNvSpPr>
          <p:nvPr/>
        </p:nvSpPr>
        <p:spPr>
          <a:xfrm>
            <a:off x="1125000" y="296343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>
              <a:ext uri="{FF2B5EF4-FFF2-40B4-BE49-F238E27FC236}">
                <a16:creationId xmlns:a16="http://schemas.microsoft.com/office/drawing/2014/main" id="{C20866B1-B188-481E-A08B-44144C195DE7}"/>
              </a:ext>
            </a:extLst>
          </p:cNvPr>
          <p:cNvSpPr>
            <a:spLocks noGrp="1"/>
          </p:cNvSpPr>
          <p:nvPr/>
        </p:nvSpPr>
        <p:spPr>
          <a:xfrm>
            <a:off x="16968750" y="33562500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>
              <a:ext uri="{FF2B5EF4-FFF2-40B4-BE49-F238E27FC236}">
                <a16:creationId xmlns:a16="http://schemas.microsoft.com/office/drawing/2014/main" id="{474FACDD-93F3-4B54-922C-7119998A7509}"/>
              </a:ext>
            </a:extLst>
          </p:cNvPr>
          <p:cNvSpPr>
            <a:spLocks noGrp="1"/>
          </p:cNvSpPr>
          <p:nvPr/>
        </p:nvSpPr>
        <p:spPr>
          <a:xfrm>
            <a:off x="506250" y="500000"/>
            <a:ext cx="31387500" cy="69000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45D8BB61-AF91-4659-94BF-F6B340C13402}"/>
              </a:ext>
            </a:extLst>
          </p:cNvPr>
          <p:cNvSpPr>
            <a:spLocks noGrp="1"/>
          </p:cNvSpPr>
          <p:nvPr/>
        </p:nvSpPr>
        <p:spPr>
          <a:xfrm>
            <a:off x="1125000" y="2625000"/>
            <a:ext cx="30187500" cy="417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>
              <a:ext uri="{FF2B5EF4-FFF2-40B4-BE49-F238E27FC236}">
                <a16:creationId xmlns:a16="http://schemas.microsoft.com/office/drawing/2014/main" id="{12E840DD-017B-4DD6-9845-0168F505FAD9}"/>
              </a:ext>
            </a:extLst>
          </p:cNvPr>
          <p:cNvSpPr>
            <a:spLocks noGrp="1"/>
          </p:cNvSpPr>
          <p:nvPr/>
        </p:nvSpPr>
        <p:spPr>
          <a:xfrm>
            <a:off x="17156250" y="37968750"/>
            <a:ext cx="13687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>
              <a:ext uri="{FF2B5EF4-FFF2-40B4-BE49-F238E27FC236}">
                <a16:creationId xmlns:a16="http://schemas.microsoft.com/office/drawing/2014/main" id="{ADE0CFA9-0833-4285-8B6E-B2C23F2CBCD7}"/>
              </a:ext>
            </a:extLst>
          </p:cNvPr>
          <p:cNvSpPr>
            <a:spLocks noGrp="1"/>
          </p:cNvSpPr>
          <p:nvPr/>
        </p:nvSpPr>
        <p:spPr>
          <a:xfrm>
            <a:off x="1125000" y="85968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>
              <a:ext uri="{FF2B5EF4-FFF2-40B4-BE49-F238E27FC236}">
                <a16:creationId xmlns:a16="http://schemas.microsoft.com/office/drawing/2014/main" id="{C1EAA944-99D9-4733-9BAC-876BD49EC5DD}"/>
              </a:ext>
            </a:extLst>
          </p:cNvPr>
          <p:cNvSpPr>
            <a:spLocks noGrp="1"/>
          </p:cNvSpPr>
          <p:nvPr/>
        </p:nvSpPr>
        <p:spPr>
          <a:xfrm>
            <a:off x="16968750" y="8615625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>
              <a:ext uri="{FF2B5EF4-FFF2-40B4-BE49-F238E27FC236}">
                <a16:creationId xmlns:a16="http://schemas.microsoft.com/office/drawing/2014/main" id="{A3EF4929-1C9E-4FC0-9065-23C0A16A82EE}"/>
              </a:ext>
            </a:extLst>
          </p:cNvPr>
          <p:cNvSpPr>
            <a:spLocks noGrp="1"/>
          </p:cNvSpPr>
          <p:nvPr/>
        </p:nvSpPr>
        <p:spPr>
          <a:xfrm>
            <a:off x="28200000" y="1846875"/>
            <a:ext cx="3281250" cy="16713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40625" y="857813"/>
            <a:ext cx="2512500" cy="843750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3096" name="authors">
            <a:extLst>
              <a:ext uri="{FF2B5EF4-FFF2-40B4-BE49-F238E27FC236}">
                <a16:creationId xmlns:a16="http://schemas.microsoft.com/office/drawing/2014/main" id="{50605DEB-2C0B-4347-9336-42BDE59D5125}"/>
              </a:ext>
            </a:extLst>
          </p:cNvPr>
          <p:cNvSpPr>
            <a:spLocks noGrp="1"/>
          </p:cNvSpPr>
          <p:nvPr/>
        </p:nvSpPr>
        <p:spPr>
          <a:xfrm>
            <a:off x="1500000" y="5437500"/>
            <a:ext cx="29343750" cy="6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>
              <a:ext uri="{FF2B5EF4-FFF2-40B4-BE49-F238E27FC236}">
                <a16:creationId xmlns:a16="http://schemas.microsoft.com/office/drawing/2014/main" id="{3A21486D-F656-44FA-A425-76567ED758A1}"/>
              </a:ext>
            </a:extLst>
          </p:cNvPr>
          <p:cNvSpPr>
            <a:spLocks noGrp="1"/>
          </p:cNvSpPr>
          <p:nvPr/>
        </p:nvSpPr>
        <p:spPr>
          <a:xfrm>
            <a:off x="1500000" y="6140625"/>
            <a:ext cx="29343750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>
              <a:ext uri="{FF2B5EF4-FFF2-40B4-BE49-F238E27FC236}">
                <a16:creationId xmlns:a16="http://schemas.microsoft.com/office/drawing/2014/main" id="{98AF1631-DAFB-4A42-A299-2ACF1F1C352F}"/>
              </a:ext>
            </a:extLst>
          </p:cNvPr>
          <p:cNvSpPr>
            <a:spLocks noGrp="1"/>
          </p:cNvSpPr>
          <p:nvPr/>
        </p:nvSpPr>
        <p:spPr>
          <a:xfrm>
            <a:off x="1593750" y="6759375"/>
            <a:ext cx="29156250" cy="4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>
              <a:ext uri="{FF2B5EF4-FFF2-40B4-BE49-F238E27FC236}">
                <a16:creationId xmlns:a16="http://schemas.microsoft.com/office/drawing/2014/main" id="{34E0F29A-06AC-4183-9BD9-8A653CD95A0D}"/>
              </a:ext>
            </a:extLst>
          </p:cNvPr>
          <p:cNvSpPr>
            <a:spLocks noGrp="1"/>
          </p:cNvSpPr>
          <p:nvPr/>
        </p:nvSpPr>
        <p:spPr>
          <a:xfrm>
            <a:off x="1171875" y="10218750"/>
            <a:ext cx="13875000" cy="426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Microscopy reconstruction supports optical inspection when clearer boundaries also produce more stable position measurements. Objective changes alter object-space sampling, optical blur and the pixel phase of motion. The variation of measured single steps provides a direct test of reconstruction for displacement inspection.</a:t>
            </a:r>
          </a:p>
          <a:p>
            <a:endParaRPr sz="30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native pixel grid. One fixed set of learned weights serves 20× and 50× objectives. This study examines each objective at a common nominal step of 1 µm, with Raw, fixed Wiener and MOSR sharing the same image pairs and circle-center calculation.</a:t>
            </a:r>
          </a:p>
        </p:txBody>
      </p:sp>
      <p:sp>
        <p:nvSpPr>
          <p:cNvPr id="3100" name="raw_label">
            <a:extLst>
              <a:ext uri="{FF2B5EF4-FFF2-40B4-BE49-F238E27FC236}">
                <a16:creationId xmlns:a16="http://schemas.microsoft.com/office/drawing/2014/main" id="{C025690C-EDC4-471A-8150-AA42EF55AAF6}"/>
              </a:ext>
            </a:extLst>
          </p:cNvPr>
          <p:cNvSpPr>
            <a:spLocks noGrp="1"/>
          </p:cNvSpPr>
          <p:nvPr/>
        </p:nvSpPr>
        <p:spPr>
          <a:xfrm>
            <a:off x="1546875" y="14606250"/>
            <a:ext cx="60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>
              <a:ext uri="{FF2B5EF4-FFF2-40B4-BE49-F238E27FC236}">
                <a16:creationId xmlns:a16="http://schemas.microsoft.com/office/drawing/2014/main" id="{B53DC164-FF24-405E-950A-1831315A2EA3}"/>
              </a:ext>
            </a:extLst>
          </p:cNvPr>
          <p:cNvSpPr>
            <a:spLocks noGrp="1"/>
          </p:cNvSpPr>
          <p:nvPr/>
        </p:nvSpPr>
        <p:spPr>
          <a:xfrm>
            <a:off x="8812500" y="14606250"/>
            <a:ext cx="60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>
              <a:ext uri="{FF2B5EF4-FFF2-40B4-BE49-F238E27FC236}">
                <a16:creationId xmlns:a16="http://schemas.microsoft.com/office/drawing/2014/main" id="{1005C8B1-66F9-451F-ABDE-5D64FE9A0C2D}"/>
              </a:ext>
            </a:extLst>
          </p:cNvPr>
          <p:cNvSpPr>
            <a:spLocks noGrp="1"/>
          </p:cNvSpPr>
          <p:nvPr/>
        </p:nvSpPr>
        <p:spPr>
          <a:xfrm>
            <a:off x="1171875" y="15000000"/>
            <a:ext cx="1546875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圖片 31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46875" y="15562500"/>
            <a:ext cx="6093750" cy="6093750"/>
          </a:xfrm>
          <a:prstGeom prst="rect">
            <a:avLst/>
          </a:prstGeom>
        </p:spPr>
      </p:pic>
      <p:sp>
        <p:nvSpPr>
          <p:cNvPr id="3104" name="scale-20x-Raw">
            <a:extLst>
              <a:ext uri="{FF2B5EF4-FFF2-40B4-BE49-F238E27FC236}">
                <a16:creationId xmlns:a16="http://schemas.microsoft.com/office/drawing/2014/main" id="{8E783CFC-C5A0-41AA-B9ED-801F2591F164}"/>
              </a:ext>
            </a:extLst>
          </p:cNvPr>
          <p:cNvSpPr>
            <a:spLocks noGrp="1"/>
          </p:cNvSpPr>
          <p:nvPr/>
        </p:nvSpPr>
        <p:spPr>
          <a:xfrm>
            <a:off x="6482790" y="21225000"/>
            <a:ext cx="735960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05" name="scale-label-20x-Raw">
            <a:extLst>
              <a:ext uri="{FF2B5EF4-FFF2-40B4-BE49-F238E27FC236}">
                <a16:creationId xmlns:a16="http://schemas.microsoft.com/office/drawing/2014/main" id="{29FA87B4-9962-4512-9602-0DB27EFCBED4}"/>
              </a:ext>
            </a:extLst>
          </p:cNvPr>
          <p:cNvSpPr>
            <a:spLocks noGrp="1"/>
          </p:cNvSpPr>
          <p:nvPr/>
        </p:nvSpPr>
        <p:spPr>
          <a:xfrm>
            <a:off x="6295290" y="20671875"/>
            <a:ext cx="1110960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圖片 315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12500" y="15562500"/>
            <a:ext cx="6093750" cy="6093750"/>
          </a:xfrm>
          <a:prstGeom prst="rect">
            <a:avLst/>
          </a:prstGeom>
        </p:spPr>
      </p:pic>
      <p:sp>
        <p:nvSpPr>
          <p:cNvPr id="3107" name="scale-20x-MOSR">
            <a:extLst>
              <a:ext uri="{FF2B5EF4-FFF2-40B4-BE49-F238E27FC236}">
                <a16:creationId xmlns:a16="http://schemas.microsoft.com/office/drawing/2014/main" id="{3B1EC6F6-0A96-4A18-BF30-7614A4047C5C}"/>
              </a:ext>
            </a:extLst>
          </p:cNvPr>
          <p:cNvSpPr>
            <a:spLocks noGrp="1"/>
          </p:cNvSpPr>
          <p:nvPr/>
        </p:nvSpPr>
        <p:spPr>
          <a:xfrm>
            <a:off x="13748415" y="21225000"/>
            <a:ext cx="735960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08" name="scale-label-20x-MOSR">
            <a:extLst>
              <a:ext uri="{FF2B5EF4-FFF2-40B4-BE49-F238E27FC236}">
                <a16:creationId xmlns:a16="http://schemas.microsoft.com/office/drawing/2014/main" id="{2DDD9ED6-9E99-4753-82F3-F45F77171BDD}"/>
              </a:ext>
            </a:extLst>
          </p:cNvPr>
          <p:cNvSpPr>
            <a:spLocks noGrp="1"/>
          </p:cNvSpPr>
          <p:nvPr/>
        </p:nvSpPr>
        <p:spPr>
          <a:xfrm>
            <a:off x="13560915" y="20671875"/>
            <a:ext cx="1110960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>
              <a:ext uri="{FF2B5EF4-FFF2-40B4-BE49-F238E27FC236}">
                <a16:creationId xmlns:a16="http://schemas.microsoft.com/office/drawing/2014/main" id="{70A81AEF-8BE3-4643-891F-3E51C7943722}"/>
              </a:ext>
            </a:extLst>
          </p:cNvPr>
          <p:cNvSpPr>
            <a:spLocks noGrp="1"/>
          </p:cNvSpPr>
          <p:nvPr/>
        </p:nvSpPr>
        <p:spPr>
          <a:xfrm>
            <a:off x="1171875" y="21843750"/>
            <a:ext cx="1546875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圖片 316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46875" y="22419672"/>
            <a:ext cx="6093750" cy="6066905"/>
          </a:xfrm>
          <a:prstGeom prst="rect">
            <a:avLst/>
          </a:prstGeom>
        </p:spPr>
      </p:pic>
      <p:sp>
        <p:nvSpPr>
          <p:cNvPr id="3111" name="scale-50x-Raw">
            <a:extLst>
              <a:ext uri="{FF2B5EF4-FFF2-40B4-BE49-F238E27FC236}">
                <a16:creationId xmlns:a16="http://schemas.microsoft.com/office/drawing/2014/main" id="{ACD97A9D-9997-446F-A7B3-DF71DD70C8DB}"/>
              </a:ext>
            </a:extLst>
          </p:cNvPr>
          <p:cNvSpPr>
            <a:spLocks noGrp="1"/>
          </p:cNvSpPr>
          <p:nvPr/>
        </p:nvSpPr>
        <p:spPr>
          <a:xfrm>
            <a:off x="6440642" y="28068750"/>
            <a:ext cx="778108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12" name="scale-label-50x-Raw">
            <a:extLst>
              <a:ext uri="{FF2B5EF4-FFF2-40B4-BE49-F238E27FC236}">
                <a16:creationId xmlns:a16="http://schemas.microsoft.com/office/drawing/2014/main" id="{29001BD6-8638-4A5F-8121-D8564D1AA7F9}"/>
              </a:ext>
            </a:extLst>
          </p:cNvPr>
          <p:cNvSpPr>
            <a:spLocks noGrp="1"/>
          </p:cNvSpPr>
          <p:nvPr/>
        </p:nvSpPr>
        <p:spPr>
          <a:xfrm>
            <a:off x="6253142" y="27515625"/>
            <a:ext cx="1153108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圖片 316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812500" y="22419672"/>
            <a:ext cx="6093750" cy="6066905"/>
          </a:xfrm>
          <a:prstGeom prst="rect">
            <a:avLst/>
          </a:prstGeom>
        </p:spPr>
      </p:pic>
      <p:sp>
        <p:nvSpPr>
          <p:cNvPr id="3114" name="scale-50x-MOSR">
            <a:extLst>
              <a:ext uri="{FF2B5EF4-FFF2-40B4-BE49-F238E27FC236}">
                <a16:creationId xmlns:a16="http://schemas.microsoft.com/office/drawing/2014/main" id="{43064E18-FCA0-43E4-A969-0F54AFE63A7D}"/>
              </a:ext>
            </a:extLst>
          </p:cNvPr>
          <p:cNvSpPr>
            <a:spLocks noGrp="1"/>
          </p:cNvSpPr>
          <p:nvPr/>
        </p:nvSpPr>
        <p:spPr>
          <a:xfrm>
            <a:off x="13706267" y="28068750"/>
            <a:ext cx="778108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15" name="scale-label-50x-MOSR">
            <a:extLst>
              <a:ext uri="{FF2B5EF4-FFF2-40B4-BE49-F238E27FC236}">
                <a16:creationId xmlns:a16="http://schemas.microsoft.com/office/drawing/2014/main" id="{CE3002D6-8A86-4D3E-94D5-A1FB63C27F2F}"/>
              </a:ext>
            </a:extLst>
          </p:cNvPr>
          <p:cNvSpPr>
            <a:spLocks noGrp="1"/>
          </p:cNvSpPr>
          <p:nvPr/>
        </p:nvSpPr>
        <p:spPr>
          <a:xfrm>
            <a:off x="13518767" y="27515625"/>
            <a:ext cx="1153108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>
              <a:ext uri="{FF2B5EF4-FFF2-40B4-BE49-F238E27FC236}">
                <a16:creationId xmlns:a16="http://schemas.microsoft.com/office/drawing/2014/main" id="{688DA120-FB67-4A70-BD51-25E843EEB411}"/>
              </a:ext>
            </a:extLst>
          </p:cNvPr>
          <p:cNvSpPr>
            <a:spLocks noGrp="1"/>
          </p:cNvSpPr>
          <p:nvPr/>
        </p:nvSpPr>
        <p:spPr>
          <a:xfrm>
            <a:off x="1171875" y="28687500"/>
            <a:ext cx="13875000" cy="8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20× and 50×, 1 µm datasets. Each comparison uses the same field and grayscale range. Scale bars: 2 µm.</a:t>
            </a:r>
          </a:p>
        </p:txBody>
      </p:sp>
      <p:sp>
        <p:nvSpPr>
          <p:cNvPr id="3117" name="methods_body">
            <a:extLst>
              <a:ext uri="{FF2B5EF4-FFF2-40B4-BE49-F238E27FC236}">
                <a16:creationId xmlns:a16="http://schemas.microsoft.com/office/drawing/2014/main" id="{D4BEDDD2-5052-444D-8EAB-F74D1CB68EED}"/>
              </a:ext>
            </a:extLst>
          </p:cNvPr>
          <p:cNvSpPr>
            <a:spLocks noGrp="1"/>
          </p:cNvSpPr>
          <p:nvPr/>
        </p:nvSpPr>
        <p:spPr>
          <a:xfrm>
            <a:off x="1171875" y="31078125"/>
            <a:ext cx="13875000" cy="50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 guidance. The optical inputs comprise 25 measured kernels at 20× and one calibrated kernel at 50×. Fixed Wiener uses a regularization value of 0.0565.</a:t>
            </a:r>
          </a:p>
          <a:p>
            <a:endParaRPr sz="28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maximum-gradient boundary points. Geometric least-squares circle fitting [4] uses 64 points at 20× and 96 at 50×. Gradient peaks provide subpixel boundary positions.</a:t>
            </a:r>
          </a:p>
          <a:p>
            <a:endParaRPr sz="28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The median of nine pillar-center changes defines each step along the acquisition motion direction. The 20× dataset contains 30 complete scans of 30 steps. The 50× dataset contains 30 locked adjacent-frame pairs.</a:t>
            </a:r>
          </a:p>
        </p:txBody>
      </p:sp>
      <p:sp>
        <p:nvSpPr>
          <p:cNvPr id="3118" name="table1_caption">
            <a:extLst>
              <a:ext uri="{FF2B5EF4-FFF2-40B4-BE49-F238E27FC236}">
                <a16:creationId xmlns:a16="http://schemas.microsoft.com/office/drawing/2014/main" id="{E54FE400-B584-4AE4-947A-E603B646F35F}"/>
              </a:ext>
            </a:extLst>
          </p:cNvPr>
          <p:cNvSpPr>
            <a:spLocks noGrp="1"/>
          </p:cNvSpPr>
          <p:nvPr/>
        </p:nvSpPr>
        <p:spPr>
          <a:xfrm>
            <a:off x="1218750" y="36328125"/>
            <a:ext cx="1378125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表格 3170"/>
          <p:cNvGraphicFramePr/>
          <p:nvPr>
            <p:extLst>
              <p:ext uri="{D42A27DB-BD31-4B8C-83A1-F6EECF244321}">
                <p14:modId xmlns:p14="http://schemas.microsoft.com/office/powerpoint/2010/main" val="2199787212"/>
              </p:ext>
            </p:extLst>
          </p:nvPr>
        </p:nvGraphicFramePr>
        <p:xfrm>
          <a:off x="1218750" y="37125000"/>
          <a:ext cx="13781250" cy="2250000"/>
        </p:xfrm>
        <a:graphic>
          <a:graphicData uri="http://schemas.openxmlformats.org/drawingml/2006/table">
            <a:tbl>
              <a:tblPr/>
              <a:tblGrid>
                <a:gridCol w="281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pPr algn="l"/>
                      <a:r>
                        <a:rPr lang="en-US"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 QA</a:t>
                      </a:r>
                      <a:endParaRPr sz="2700" b="1">
                        <a:solidFill>
                          <a:srgbClr val="11111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scans × 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pairs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20" name="statistics_definition">
            <a:extLst>
              <a:ext uri="{FF2B5EF4-FFF2-40B4-BE49-F238E27FC236}">
                <a16:creationId xmlns:a16="http://schemas.microsoft.com/office/drawing/2014/main" id="{054321CA-5A49-4FD2-BBDE-86025790948D}"/>
              </a:ext>
            </a:extLst>
          </p:cNvPr>
          <p:cNvSpPr>
            <a:spLocks noGrp="1"/>
          </p:cNvSpPr>
          <p:nvPr/>
        </p:nvSpPr>
        <p:spPr>
          <a:xfrm>
            <a:off x="1218750" y="39843750"/>
            <a:ext cx="13781250" cy="18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scan or locked set yields the sample SD of 30 steps (denominator 29). At 20×, all 30 scan SDs are shown; the within-scan summary is the square root of their mean squared SD. The 50× result is reported separately. Both use image-measured displacement.</a:t>
            </a:r>
          </a:p>
        </p:txBody>
      </p:sp>
      <p:sp>
        <p:nvSpPr>
          <p:cNvPr id="3121" name="results_intro">
            <a:extLst>
              <a:ext uri="{FF2B5EF4-FFF2-40B4-BE49-F238E27FC236}">
                <a16:creationId xmlns:a16="http://schemas.microsoft.com/office/drawing/2014/main" id="{2FF58088-5336-4705-8AD9-6DB63A79D7B7}"/>
              </a:ext>
            </a:extLst>
          </p:cNvPr>
          <p:cNvSpPr>
            <a:spLocks noGrp="1"/>
          </p:cNvSpPr>
          <p:nvPr/>
        </p:nvSpPr>
        <p:spPr>
          <a:xfrm>
            <a:off x="17156250" y="10218750"/>
            <a:ext cx="13781250" cy="131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>
              <a:ext uri="{FF2B5EF4-FFF2-40B4-BE49-F238E27FC236}">
                <a16:creationId xmlns:a16="http://schemas.microsoft.com/office/drawing/2014/main" id="{6D8AC10F-718E-42E8-AB4C-4557CE85BFFF}"/>
              </a:ext>
            </a:extLst>
          </p:cNvPr>
          <p:cNvSpPr>
            <a:spLocks noGrp="1"/>
          </p:cNvSpPr>
          <p:nvPr/>
        </p:nvSpPr>
        <p:spPr>
          <a:xfrm>
            <a:off x="17250000" y="11718750"/>
            <a:ext cx="13687500" cy="7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repeated scans</a:t>
            </a:r>
          </a:p>
        </p:txBody>
      </p:sp>
      <p:sp>
        <p:nvSpPr>
          <p:cNvPr id="3123" name="20x_gain">
            <a:extLst>
              <a:ext uri="{FF2B5EF4-FFF2-40B4-BE49-F238E27FC236}">
                <a16:creationId xmlns:a16="http://schemas.microsoft.com/office/drawing/2014/main" id="{823E48EE-799B-48B7-8924-A1D1504F95A6}"/>
              </a:ext>
            </a:extLst>
          </p:cNvPr>
          <p:cNvSpPr>
            <a:spLocks noGrp="1"/>
          </p:cNvSpPr>
          <p:nvPr/>
        </p:nvSpPr>
        <p:spPr>
          <a:xfrm>
            <a:off x="17296875" y="12750000"/>
            <a:ext cx="7265625" cy="154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52.3%</a:t>
            </a:r>
          </a:p>
        </p:txBody>
      </p:sp>
      <p:sp>
        <p:nvSpPr>
          <p:cNvPr id="3124" name="20x_values">
            <a:extLst>
              <a:ext uri="{FF2B5EF4-FFF2-40B4-BE49-F238E27FC236}">
                <a16:creationId xmlns:a16="http://schemas.microsoft.com/office/drawing/2014/main" id="{525AF869-C463-4693-8DB7-ED6E07781B2A}"/>
              </a:ext>
            </a:extLst>
          </p:cNvPr>
          <p:cNvSpPr>
            <a:spLocks noGrp="1"/>
          </p:cNvSpPr>
          <p:nvPr/>
        </p:nvSpPr>
        <p:spPr>
          <a:xfrm>
            <a:off x="24843750" y="12937500"/>
            <a:ext cx="600000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10.200 nm  Raw</a:t>
            </a:r>
          </a:p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4.865 nm  MOSR</a:t>
            </a:r>
          </a:p>
        </p:txBody>
      </p:sp>
      <p:sp>
        <p:nvSpPr>
          <p:cNvPr id="3125" name="20x_gain_label">
            <a:extLst>
              <a:ext uri="{FF2B5EF4-FFF2-40B4-BE49-F238E27FC236}">
                <a16:creationId xmlns:a16="http://schemas.microsoft.com/office/drawing/2014/main" id="{D5C1B54F-4A60-4638-B6BF-B8CD94B63C86}"/>
              </a:ext>
            </a:extLst>
          </p:cNvPr>
          <p:cNvSpPr>
            <a:spLocks noGrp="1"/>
          </p:cNvSpPr>
          <p:nvPr/>
        </p:nvSpPr>
        <p:spPr>
          <a:xfrm>
            <a:off x="17296875" y="14203125"/>
            <a:ext cx="13593750" cy="65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pooled within-scan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="17062500" y="15093750"/>
          <a:ext cx="14156250" cy="562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27" name="fig2_caption">
            <a:extLst>
              <a:ext uri="{FF2B5EF4-FFF2-40B4-BE49-F238E27FC236}">
                <a16:creationId xmlns:a16="http://schemas.microsoft.com/office/drawing/2014/main" id="{CF9F8483-C55D-4D56-9259-802BFB7A73DC}"/>
              </a:ext>
            </a:extLst>
          </p:cNvPr>
          <p:cNvSpPr>
            <a:spLocks noGrp="1"/>
          </p:cNvSpPr>
          <p:nvPr/>
        </p:nvSpPr>
        <p:spPr>
          <a:xfrm>
            <a:off x="17156250" y="20906250"/>
            <a:ext cx="13781250" cy="10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Each point is the SD of 30 measured steps in one 20× scan. The 30 scans retain their individual results for all three methods.</a:t>
            </a:r>
          </a:p>
        </p:txBody>
      </p:sp>
      <p:sp>
        <p:nvSpPr>
          <p:cNvPr id="3128" name="20x_interpretation">
            <a:extLst>
              <a:ext uri="{FF2B5EF4-FFF2-40B4-BE49-F238E27FC236}">
                <a16:creationId xmlns:a16="http://schemas.microsoft.com/office/drawing/2014/main" id="{7BA33014-424B-4099-A86A-8C89BF8D4700}"/>
              </a:ext>
            </a:extLst>
          </p:cNvPr>
          <p:cNvSpPr>
            <a:spLocks noGrp="1"/>
          </p:cNvSpPr>
          <p:nvPr/>
        </p:nvSpPr>
        <p:spPr>
          <a:xfrm>
            <a:off x="17156250" y="22218750"/>
            <a:ext cx="13781250" cy="140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Step SD in all 30 scans, with per-scan reductions of 36.9–64.6% relative to Raw. The within-scan summary is 8.431 nm for fixed Wiener and 4.865 nm for MOSR.</a:t>
            </a:r>
          </a:p>
        </p:txBody>
      </p:sp>
      <p:sp>
        <p:nvSpPr>
          <p:cNvPr id="3129" name="50x_heading">
            <a:extLst>
              <a:ext uri="{FF2B5EF4-FFF2-40B4-BE49-F238E27FC236}">
                <a16:creationId xmlns:a16="http://schemas.microsoft.com/office/drawing/2014/main" id="{5D0D7D08-22E9-46B4-A345-53CD7C1CCEC0}"/>
              </a:ext>
            </a:extLst>
          </p:cNvPr>
          <p:cNvSpPr>
            <a:spLocks noGrp="1"/>
          </p:cNvSpPr>
          <p:nvPr/>
        </p:nvSpPr>
        <p:spPr>
          <a:xfrm>
            <a:off x="17250000" y="23906250"/>
            <a:ext cx="13687500" cy="7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locked pairs</a:t>
            </a:r>
          </a:p>
        </p:txBody>
      </p:sp>
      <p:sp>
        <p:nvSpPr>
          <p:cNvPr id="3130" name="50x_gain">
            <a:extLst>
              <a:ext uri="{FF2B5EF4-FFF2-40B4-BE49-F238E27FC236}">
                <a16:creationId xmlns:a16="http://schemas.microsoft.com/office/drawing/2014/main" id="{DE67DC9A-C6D8-40C5-9E44-9C7AB5ED5851}"/>
              </a:ext>
            </a:extLst>
          </p:cNvPr>
          <p:cNvSpPr>
            <a:spLocks noGrp="1"/>
          </p:cNvSpPr>
          <p:nvPr/>
        </p:nvSpPr>
        <p:spPr>
          <a:xfrm>
            <a:off x="17296875" y="24843750"/>
            <a:ext cx="7265625" cy="15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>
              <a:ext uri="{FF2B5EF4-FFF2-40B4-BE49-F238E27FC236}">
                <a16:creationId xmlns:a16="http://schemas.microsoft.com/office/drawing/2014/main" id="{49D96630-CD33-43F5-9374-9D3C01412B7B}"/>
              </a:ext>
            </a:extLst>
          </p:cNvPr>
          <p:cNvSpPr>
            <a:spLocks noGrp="1"/>
          </p:cNvSpPr>
          <p:nvPr/>
        </p:nvSpPr>
        <p:spPr>
          <a:xfrm>
            <a:off x="24843750" y="25031250"/>
            <a:ext cx="600000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>
              <a:ext uri="{FF2B5EF4-FFF2-40B4-BE49-F238E27FC236}">
                <a16:creationId xmlns:a16="http://schemas.microsoft.com/office/drawing/2014/main" id="{9411935B-3FA1-4B0E-8DEB-511271F5586D}"/>
              </a:ext>
            </a:extLst>
          </p:cNvPr>
          <p:cNvSpPr>
            <a:spLocks noGrp="1"/>
          </p:cNvSpPr>
          <p:nvPr/>
        </p:nvSpPr>
        <p:spPr>
          <a:xfrm>
            <a:off x="17296875" y="26250000"/>
            <a:ext cx="135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="17062500" y="27000000"/>
          <a:ext cx="14156250" cy="445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134" name="fig3_caption">
            <a:extLst>
              <a:ext uri="{FF2B5EF4-FFF2-40B4-BE49-F238E27FC236}">
                <a16:creationId xmlns:a16="http://schemas.microsoft.com/office/drawing/2014/main" id="{574235A6-C44E-4DD8-9665-8A113014DBA9}"/>
              </a:ext>
            </a:extLst>
          </p:cNvPr>
          <p:cNvSpPr>
            <a:spLocks noGrp="1"/>
          </p:cNvSpPr>
          <p:nvPr/>
        </p:nvSpPr>
        <p:spPr>
          <a:xfrm>
            <a:off x="17156250" y="31734375"/>
            <a:ext cx="13781250" cy="130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SD of the 30 locked 1 µm displacements at 50×. The same calibrated optical input supports Wiener and MOSR; the circle-center calculation is shared by all methods.</a:t>
            </a:r>
          </a:p>
        </p:txBody>
      </p:sp>
      <p:sp>
        <p:nvSpPr>
          <p:cNvPr id="3135" name="conclusions_body">
            <a:extLst>
              <a:ext uri="{FF2B5EF4-FFF2-40B4-BE49-F238E27FC236}">
                <a16:creationId xmlns:a16="http://schemas.microsoft.com/office/drawing/2014/main" id="{620F503A-8B29-40D8-9B26-0B132389C7F4}"/>
              </a:ext>
            </a:extLst>
          </p:cNvPr>
          <p:cNvSpPr>
            <a:spLocks noGrp="1"/>
          </p:cNvSpPr>
          <p:nvPr/>
        </p:nvSpPr>
        <p:spPr>
          <a:xfrm>
            <a:off x="17156250" y="35156250"/>
            <a:ext cx="13781250" cy="246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MOSR lowers pooled within-scan step variation by 52.3% and improves all 30 repeated scans. At 50×, Step SD falls by 23.5% for the fixed 1 µm condition.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displacement variation support cross-magnification optical inspection.</a:t>
            </a:r>
          </a:p>
        </p:txBody>
      </p:sp>
      <p:sp>
        <p:nvSpPr>
          <p:cNvPr id="3136" name="bibliography_body">
            <a:extLst>
              <a:ext uri="{FF2B5EF4-FFF2-40B4-BE49-F238E27FC236}">
                <a16:creationId xmlns:a16="http://schemas.microsoft.com/office/drawing/2014/main" id="{FCA9DB74-69AC-4A44-B01E-3D0DFBB4EAD4}"/>
              </a:ext>
            </a:extLst>
          </p:cNvPr>
          <p:cNvSpPr>
            <a:spLocks noGrp="1"/>
          </p:cNvSpPr>
          <p:nvPr/>
        </p:nvSpPr>
        <p:spPr>
          <a:xfrm>
            <a:off x="17156250" y="39093750"/>
            <a:ext cx="13687500" cy="26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54484227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Microsoft Office PowerPoint</Application>
  <DocSecurity>0</DocSecurity>
  <PresentationFormat>自訂</PresentationFormat>
  <Paragraphs>73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彥諠 江</cp:lastModifiedBy>
  <cp:revision>1</cp:revision>
  <dcterms:created xsi:type="dcterms:W3CDTF">2026-09-29T17:26:15Z</dcterms:created>
  <dcterms:modified xsi:type="dcterms:W3CDTF">2026-09-29T17:28:15Z</dcterms:modified>
</cp:coreProperties>
</file>