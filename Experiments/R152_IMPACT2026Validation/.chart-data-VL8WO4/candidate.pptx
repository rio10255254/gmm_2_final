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1ad90dc2be4d29" /><Relationship Type="http://schemas.openxmlformats.org/officeDocument/2006/relationships/extended-properties" Target="/docProps/app.xml" Id="Ra6fe2185398a43a0" /><Relationship Type="http://schemas.openxmlformats.org/officeDocument/2006/relationships/officeDocument" Target="/ppt/presentation.xml" Id="R97e7b25f97b04e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c8b7438c5e4a59"/>
  </p:sldMasterIdLst>
  <p:notesMasterIdLst>
    <p:notesMasterId xmlns:r="http://schemas.openxmlformats.org/officeDocument/2006/relationships" r:id="R7b7126e1fb554146"/>
  </p:notesMasterIdLst>
  <p:sldIdLst>
    <p:sldId xmlns:r="http://schemas.openxmlformats.org/officeDocument/2006/relationships" id="256" r:id="R2e33a62602eb4e7e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a5865103924e3a" /><Relationship Type="http://schemas.openxmlformats.org/officeDocument/2006/relationships/slideMaster" Target="/ppt/slideMasters/slideMaster1.xml" Id="R90c8b7438c5e4a59" /><Relationship Type="http://schemas.openxmlformats.org/officeDocument/2006/relationships/notesMaster" Target="/ppt/notesMasters/notesMaster1.xml" Id="R7b7126e1fb554146" /><Relationship Type="http://schemas.openxmlformats.org/officeDocument/2006/relationships/presProps" Target="/ppt/presProps.xml" Id="R151f1ea0099348ca" /><Relationship Type="http://schemas.openxmlformats.org/officeDocument/2006/relationships/viewProps" Target="/ppt/viewProps.xml" Id="R040ab6b915b34c0f" /><Relationship Type="http://schemas.openxmlformats.org/officeDocument/2006/relationships/tableStyles" Target="/ppt/tableStyles.xml" Id="Rdb29a7f2c685419c" /><Relationship Type="http://schemas.openxmlformats.org/officeDocument/2006/relationships/slide" Target="/ppt/slides/slide1.xml" Id="R2e33a62602eb4e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ad2aef63924e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0320c255ec480b" /><Relationship Type="http://schemas.openxmlformats.org/officeDocument/2006/relationships/notesMaster" Target="/ppt/notesMasters/notesMaster1.xml" Id="Rea7df6393c3c48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model: MOSR. Source model identity: unchanged delivered R152 checkpoint.</a:t>
            </a:r>
            <a:endParaRPr/>
          </a:p>
          <a:p xmlns:a="http://schemas.openxmlformats.org/drawingml/2006/main">
            <a:pPr>
              <a:buNone/>
            </a:pPr>
            <a:r>
              <a:t>Data: C:\Users\Rio\.codex\worktrees\impact-r152\GMM_2_Final\Experiments\R152_IMPACT2026Validation\results\separate_conditions\poster_data.json</a:t>
            </a:r>
            <a:endParaRPr/>
          </a:p>
          <a:p xmlns:a="http://schemas.openxmlformats.org/drawingml/2006/main">
            <a:pPr>
              <a:buNone/>
            </a:pPr>
            <a:r>
              <a:t>20x: September 3 thesis cohort, 30 complete scans, 30 observed adjacent steps each. The line chart shows each scan SD. Summary is pooled within-scan SD, sqrt(mean(scan SD squared)); scans contain equal counts. This is not an average across acquisition conditions.</a:t>
            </a:r>
            <a:endParaRPr/>
          </a:p>
          <a:p xmlns:a="http://schemas.openxmlformats.org/drawingml/2006/main">
            <a:pPr>
              <a:buNone/>
            </a:pPr>
            <a:r>
              <a:t>50x: July 2 original 1 micrometer cohort, 30 Raw-locked adjacent pairs. The bar chart is one sample SD per method from those 30 steps.</a:t>
            </a:r>
            <a:endParaRPr/>
          </a:p>
          <a:p xmlns:a="http://schemas.openxmlformats.org/drawingml/2006/main">
            <a:pPr>
              <a:buNone/>
            </a:pPr>
            <a:r>
              <a:t>These are separate acquisition cohorts, not a matched causal isolation of magnification. All three methods share identical inputs and the same native normal-gradient geometric LSC reader within each condition.</a:t>
            </a:r>
            <a:endParaRPr/>
          </a:p>
          <a:p xmlns:a="http://schemas.openxmlformats.org/drawingml/2006/main">
            <a:pPr>
              <a:buNone/>
            </a:pPr>
            <a:r>
              <a:t>The 0.5 micrometer 50x condition is retained in the complete audit and supplementary results; the submitted manuscript is unchanged.</a:t>
            </a:r>
            <a:endParaRPr/>
          </a:p>
          <a:p xmlns:a="http://schemas.openxmlformats.org/drawingml/2006/main">
            <a:pPr>
              <a:buNone/>
            </a:pPr>
            <a:r>
              <a:t>All measured source numbers, reconstruction checks and citations are in the independent experiment workspace. The submitted manuscript supplies references [1]-[4].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22a189abf4d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32c054a5e48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6c9c985a44e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18c8a38ac46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58f6f56b944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64cfa195a436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04c5e4db849c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fe8c1f8a3413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3c0eba4e6406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502547f984f5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68268e8694a9a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843F1FF-9234-4561-8E47-9E31A6278C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783E8ABE-F452-4FBB-BFD2-47CBC978C9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223A167-ED44-48DF-8DCC-FB28CB8ACC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A978C4D0-181A-4E68-A82C-ACC10A305A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C1EA875-548A-4B80-B51E-D290E515A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06F6994-64E8-4178-9D46-1E238B2CE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990F800-C471-434D-9ABF-F56AE66088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882E031E-062E-48D8-8384-B31F88878A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FE3FF30A-8ED4-40FD-85F2-8269FC04F0B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711C10D-1B06-4C7B-AAED-B35858184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181015CA-06D4-4521-95D8-DD64D9D733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B1FF6708-A663-4960-BAD2-7AEFDA0308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2E11150D-78B1-411F-A121-F19BFAACE8B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CB847AF1-F319-4D61-9FCA-3237B9626AA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8C2EFC4-AF8A-410E-9D49-655B972B53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CFF88B8-9CFB-4488-A9C7-CAA94E254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9185356-5BF3-4A2C-83CC-4D9CD07A38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35E4D096-000C-46D6-979A-C862F8EBA8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A89660B-C047-404D-B043-CF807573D7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8F68C5ED-9BE4-4515-8535-10EA94CEAD6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5471C979-048C-4767-9C20-B38301488F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F737542-0E96-4281-ACDB-A225730297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0655F705-44A3-49A5-B6FA-3191D436BF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D8B59511-5BB5-4A8D-8357-575EA3443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755020B-2524-4E9F-90DD-0CAB6B275B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78f0b7efdb4dae" /><Relationship Type="http://schemas.openxmlformats.org/officeDocument/2006/relationships/slideLayout" Target="/ppt/slideLayouts/slideLayout1.xml" Id="R3b4f88d9face4dbd" /><Relationship Type="http://schemas.openxmlformats.org/officeDocument/2006/relationships/slideLayout" Target="/ppt/slideLayouts/slideLayout2.xml" Id="Rb83c6496f9244d24" /><Relationship Type="http://schemas.openxmlformats.org/officeDocument/2006/relationships/slideLayout" Target="/ppt/slideLayouts/slideLayout3.xml" Id="R8691ac0401a84af2" /><Relationship Type="http://schemas.openxmlformats.org/officeDocument/2006/relationships/slideLayout" Target="/ppt/slideLayouts/slideLayout4.xml" Id="Rbccbd1a1754f46af" /><Relationship Type="http://schemas.openxmlformats.org/officeDocument/2006/relationships/slideLayout" Target="/ppt/slideLayouts/slideLayout5.xml" Id="Rca0664c97b1149c3" /><Relationship Type="http://schemas.openxmlformats.org/officeDocument/2006/relationships/slideLayout" Target="/ppt/slideLayouts/slideLayout6.xml" Id="R2aadc6b2e5c64b44" /><Relationship Type="http://schemas.openxmlformats.org/officeDocument/2006/relationships/slideLayout" Target="/ppt/slideLayouts/slideLayout7.xml" Id="R1f4d9c71488d49be" /><Relationship Type="http://schemas.openxmlformats.org/officeDocument/2006/relationships/slideLayout" Target="/ppt/slideLayouts/slideLayout8.xml" Id="R44b2639749774226" /><Relationship Type="http://schemas.openxmlformats.org/officeDocument/2006/relationships/slideLayout" Target="/ppt/slideLayouts/slideLayout9.xml" Id="R357c974de7454590" /><Relationship Type="http://schemas.openxmlformats.org/officeDocument/2006/relationships/slideLayout" Target="/ppt/slideLayouts/slideLayout10.xml" Id="Rd27efcb7e023452d" /><Relationship Type="http://schemas.openxmlformats.org/officeDocument/2006/relationships/slideLayout" Target="/ppt/slideLayouts/slideLayout11.xml" Id="R0cdbf91f08024df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4f88d9face4dbd"/>
    <p:sldLayoutId xmlns:r="http://schemas.openxmlformats.org/officeDocument/2006/relationships" id="2147483650" r:id="Rb83c6496f9244d24"/>
    <p:sldLayoutId xmlns:r="http://schemas.openxmlformats.org/officeDocument/2006/relationships" id="2147483651" r:id="R8691ac0401a84af2"/>
    <p:sldLayoutId xmlns:r="http://schemas.openxmlformats.org/officeDocument/2006/relationships" id="2147483652" r:id="Rbccbd1a1754f46af"/>
    <p:sldLayoutId xmlns:r="http://schemas.openxmlformats.org/officeDocument/2006/relationships" id="2147483653" r:id="Rca0664c97b1149c3"/>
    <p:sldLayoutId xmlns:r="http://schemas.openxmlformats.org/officeDocument/2006/relationships" id="2147483654" r:id="R2aadc6b2e5c64b44"/>
    <p:sldLayoutId xmlns:r="http://schemas.openxmlformats.org/officeDocument/2006/relationships" id="2147483655" r:id="R1f4d9c71488d49be"/>
    <p:sldLayoutId xmlns:r="http://schemas.openxmlformats.org/officeDocument/2006/relationships" id="2147483656" r:id="R44b2639749774226"/>
    <p:sldLayoutId xmlns:r="http://schemas.openxmlformats.org/officeDocument/2006/relationships" id="2147483657" r:id="R357c974de7454590"/>
    <p:sldLayoutId xmlns:r="http://schemas.openxmlformats.org/officeDocument/2006/relationships" id="2147483658" r:id="Rd27efcb7e023452d"/>
    <p:sldLayoutId xmlns:r="http://schemas.openxmlformats.org/officeDocument/2006/relationships" id="2147483659" r:id="R0cdbf91f08024dfd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4793175e94ece" /><Relationship Type="http://schemas.openxmlformats.org/officeDocument/2006/relationships/image" Target="/ppt/media/image.jpeg" Id="Rfbdeee29267343eb" /><Relationship Type="http://schemas.openxmlformats.org/officeDocument/2006/relationships/image" Target="/ppt/media/image.png" Id="R788c655951d448f6" /><Relationship Type="http://schemas.openxmlformats.org/officeDocument/2006/relationships/image" Target="/ppt/media/image2.png" Id="R5225a3acac8e47ea" /><Relationship Type="http://schemas.openxmlformats.org/officeDocument/2006/relationships/image" Target="/ppt/media/image3.png" Id="Rb8e68197adc24dae" /><Relationship Type="http://schemas.openxmlformats.org/officeDocument/2006/relationships/image" Target="/ppt/media/image4.png" Id="R49544a19502d4c0b" /><Relationship Type="http://schemas.openxmlformats.org/officeDocument/2006/relationships/chart" Target="/ppt/slides/charts/chart1.xml" Id="R54e92610acee4cb6" /><Relationship Type="http://schemas.openxmlformats.org/officeDocument/2006/relationships/chart" Target="/ppt/slides/charts/chart2.xml" Id="R60d709d2d5774949" /><Relationship Type="http://schemas.openxmlformats.org/officeDocument/2006/relationships/notesSlide" Target="/ppt/notesSlides/notesSlide1.xml" Id="R291195495b75442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888888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a:solidFill xmlns:a="http://schemas.openxmlformats.org/drawingml/2006/main">
                <a:srgbClr val="999999"/>
              </a:solidFill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7.673786</c:v>
                </c:pt>
                <c:pt idx="1">
                  <c:v>7.419405</c:v>
                </c:pt>
                <c:pt idx="2">
                  <c:v>9.653318</c:v>
                </c:pt>
                <c:pt idx="3">
                  <c:v>9.000257</c:v>
                </c:pt>
                <c:pt idx="4">
                  <c:v>9.665428</c:v>
                </c:pt>
                <c:pt idx="5">
                  <c:v>7.659357</c:v>
                </c:pt>
                <c:pt idx="6">
                  <c:v>9.506103</c:v>
                </c:pt>
                <c:pt idx="7">
                  <c:v>9.832487</c:v>
                </c:pt>
                <c:pt idx="8">
                  <c:v>9.318423</c:v>
                </c:pt>
                <c:pt idx="9">
                  <c:v>9.92903</c:v>
                </c:pt>
                <c:pt idx="10">
                  <c:v>7.353788</c:v>
                </c:pt>
                <c:pt idx="11">
                  <c:v>9.246503</c:v>
                </c:pt>
                <c:pt idx="12">
                  <c:v>10.802784</c:v>
                </c:pt>
                <c:pt idx="13">
                  <c:v>6.952348</c:v>
                </c:pt>
                <c:pt idx="14">
                  <c:v>8.90556</c:v>
                </c:pt>
                <c:pt idx="15">
                  <c:v>11.457155</c:v>
                </c:pt>
                <c:pt idx="16">
                  <c:v>10.900367</c:v>
                </c:pt>
                <c:pt idx="17">
                  <c:v>11.368474</c:v>
                </c:pt>
                <c:pt idx="18">
                  <c:v>10.276689</c:v>
                </c:pt>
                <c:pt idx="19">
                  <c:v>9.89601</c:v>
                </c:pt>
                <c:pt idx="20">
                  <c:v>10.901541</c:v>
                </c:pt>
                <c:pt idx="21">
                  <c:v>11.101913</c:v>
                </c:pt>
                <c:pt idx="22">
                  <c:v>13.782461</c:v>
                </c:pt>
                <c:pt idx="23">
                  <c:v>12.266395</c:v>
                </c:pt>
                <c:pt idx="24">
                  <c:v>12.39184</c:v>
                </c:pt>
                <c:pt idx="25">
                  <c:v>10.314117</c:v>
                </c:pt>
                <c:pt idx="26">
                  <c:v>10.64413</c:v>
                </c:pt>
                <c:pt idx="27">
                  <c:v>10.597998</c:v>
                </c:pt>
                <c:pt idx="28">
                  <c:v>9.484928</c:v>
                </c:pt>
                <c:pt idx="29">
                  <c:v>13.548245</c:v>
                </c:pt>
              </c:numCache>
            </c:numRef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a:solidFill xmlns:a="http://schemas.openxmlformats.org/drawingml/2006/main">
                <a:srgbClr val="555555"/>
              </a:solidFill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7.114887</c:v>
                </c:pt>
                <c:pt idx="1">
                  <c:v>5.739583</c:v>
                </c:pt>
                <c:pt idx="2">
                  <c:v>7.034443</c:v>
                </c:pt>
                <c:pt idx="3">
                  <c:v>6.035852</c:v>
                </c:pt>
                <c:pt idx="4">
                  <c:v>5.61128</c:v>
                </c:pt>
                <c:pt idx="5">
                  <c:v>6.150352</c:v>
                </c:pt>
                <c:pt idx="6">
                  <c:v>5.79436</c:v>
                </c:pt>
                <c:pt idx="7">
                  <c:v>5.662249</c:v>
                </c:pt>
                <c:pt idx="8">
                  <c:v>8.138545</c:v>
                </c:pt>
                <c:pt idx="9">
                  <c:v>5.973368</c:v>
                </c:pt>
                <c:pt idx="10">
                  <c:v>4.903213</c:v>
                </c:pt>
                <c:pt idx="11">
                  <c:v>6.976592</c:v>
                </c:pt>
                <c:pt idx="12">
                  <c:v>8.14444</c:v>
                </c:pt>
                <c:pt idx="13">
                  <c:v>7.275514</c:v>
                </c:pt>
                <c:pt idx="14">
                  <c:v>5.382559</c:v>
                </c:pt>
                <c:pt idx="15">
                  <c:v>7.324778</c:v>
                </c:pt>
                <c:pt idx="16">
                  <c:v>5.859561</c:v>
                </c:pt>
                <c:pt idx="17">
                  <c:v>6.671378</c:v>
                </c:pt>
                <c:pt idx="18">
                  <c:v>5.304365</c:v>
                </c:pt>
                <c:pt idx="19">
                  <c:v>10.282642</c:v>
                </c:pt>
                <c:pt idx="20">
                  <c:v>8.262622</c:v>
                </c:pt>
                <c:pt idx="21">
                  <c:v>10.13655</c:v>
                </c:pt>
                <c:pt idx="22">
                  <c:v>12.664052</c:v>
                </c:pt>
                <c:pt idx="23">
                  <c:v>14.872753</c:v>
                </c:pt>
                <c:pt idx="24">
                  <c:v>11.815431</c:v>
                </c:pt>
                <c:pt idx="25">
                  <c:v>15.093454</c:v>
                </c:pt>
                <c:pt idx="26">
                  <c:v>9.374171</c:v>
                </c:pt>
                <c:pt idx="27">
                  <c:v>8.808932</c:v>
                </c:pt>
                <c:pt idx="28">
                  <c:v>9.219305</c:v>
                </c:pt>
                <c:pt idx="29">
                  <c:v>8.264449</c:v>
                </c:pt>
              </c:numCache>
            </c:numRef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11111"/>
              </a:solidFill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3.848346</c:v>
                </c:pt>
                <c:pt idx="1">
                  <c:v>3.665054</c:v>
                </c:pt>
                <c:pt idx="2">
                  <c:v>3.616307</c:v>
                </c:pt>
                <c:pt idx="3">
                  <c:v>3.377203</c:v>
                </c:pt>
                <c:pt idx="4">
                  <c:v>3.9215</c:v>
                </c:pt>
                <c:pt idx="5">
                  <c:v>4.036928</c:v>
                </c:pt>
                <c:pt idx="6">
                  <c:v>4.06794</c:v>
                </c:pt>
                <c:pt idx="7">
                  <c:v>4.422821</c:v>
                </c:pt>
                <c:pt idx="8">
                  <c:v>4.491446</c:v>
                </c:pt>
                <c:pt idx="9">
                  <c:v>3.882162</c:v>
                </c:pt>
                <c:pt idx="10">
                  <c:v>3.515973</c:v>
                </c:pt>
                <c:pt idx="11">
                  <c:v>4.807692</c:v>
                </c:pt>
                <c:pt idx="12">
                  <c:v>3.906009</c:v>
                </c:pt>
                <c:pt idx="13">
                  <c:v>3.64357</c:v>
                </c:pt>
                <c:pt idx="14">
                  <c:v>4.230138</c:v>
                </c:pt>
                <c:pt idx="15">
                  <c:v>4.060178</c:v>
                </c:pt>
                <c:pt idx="16">
                  <c:v>5.498878</c:v>
                </c:pt>
                <c:pt idx="17">
                  <c:v>4.409009</c:v>
                </c:pt>
                <c:pt idx="18">
                  <c:v>4.599307</c:v>
                </c:pt>
                <c:pt idx="19">
                  <c:v>5.417411</c:v>
                </c:pt>
                <c:pt idx="20">
                  <c:v>5.100712</c:v>
                </c:pt>
                <c:pt idx="21">
                  <c:v>5.383024</c:v>
                </c:pt>
                <c:pt idx="22">
                  <c:v>6.989032</c:v>
                </c:pt>
                <c:pt idx="23">
                  <c:v>6.901149</c:v>
                </c:pt>
                <c:pt idx="24">
                  <c:v>6.34537</c:v>
                </c:pt>
                <c:pt idx="25">
                  <c:v>6.510709</c:v>
                </c:pt>
                <c:pt idx="26">
                  <c:v>6.290474</c:v>
                </c:pt>
                <c:pt idx="27">
                  <c:v>5.010363</c:v>
                </c:pt>
                <c:pt idx="28">
                  <c:v>5.273691</c:v>
                </c:pt>
                <c:pt idx="29">
                  <c:v>5.391519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Scan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pattFill xmlns:a="http://schemas.openxmlformats.org/drawingml/2006/main" prst="pct5">
              <a:fgClr>
                <a:srgbClr val="111111"/>
              </a:fgClr>
              <a:bgClr>
                <a:srgbClr val="D8D8D8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Data'!$A$2:$A$2</c:f>
              <c:strCache>
                <c:ptCount val="1"/>
                <c:pt idx="0">
                  <c:v>50×, 1 µm</c:v>
                </c:pt>
              </c:strCache>
            </c:strRef>
          </c:cat>
          <c:val>
            <c:numRef>
              <c:f>'Chart Data'!$B$2:$B$2</c:f>
              <c:numCache>
                <c:formatCode>0.000</c:formatCode>
                <c:ptCount val="1"/>
                <c:pt idx="0">
                  <c:v>5.938042</c:v>
                </c:pt>
              </c:numCache>
            </c:numRef>
          </c:val>
        </c:ser>
        <c:ser>
          <c:idx val="1"/>
          <c:order val="1"/>
          <c:tx>
            <c:v>Wiener</c:v>
          </c:tx>
          <c:spPr>
            <a:pattFill xmlns:a="http://schemas.openxmlformats.org/drawingml/2006/main" prst="upDiag">
              <a:fgClr>
                <a:srgbClr val="111111"/>
              </a:fgClr>
              <a:bgClr>
                <a:srgbClr val="AFAFAF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Data'!$C$2:$C$2</c:f>
              <c:strCache>
                <c:ptCount val="1"/>
                <c:pt idx="0">
                  <c:v>50×, 1 µm</c:v>
                </c:pt>
              </c:strCache>
            </c:strRef>
          </c:cat>
          <c:val>
            <c:numRef>
              <c:f>'Chart Data'!$D$2:$D$2</c:f>
              <c:numCache>
                <c:formatCode>0.000</c:formatCode>
                <c:ptCount val="1"/>
                <c:pt idx="0">
                  <c:v>4.721663</c:v>
                </c:pt>
              </c:numCache>
            </c:numRef>
          </c:val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81818"/>
            </a:solid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Data'!$E$2:$E$2</c:f>
              <c:strCache>
                <c:ptCount val="1"/>
                <c:pt idx="0">
                  <c:v>50×, 1 µm</c:v>
                </c:pt>
              </c:strCache>
            </c:strRef>
          </c:cat>
          <c:val>
            <c:numRef>
              <c:f>'Chart Data'!$F$2:$F$2</c:f>
              <c:numCache>
                <c:formatCode>0.000</c:formatCode>
                <c:ptCount val="1"/>
                <c:pt idx="0">
                  <c:v>4.54174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A5655351-FB1A-43EA-B7C1-2C7010C9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725F750-35BD-4D7C-8647-5CCE7BAC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31060528-FC45-4942-B61D-1AECEE15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49DC020D-82A2-4720-9D18-52E40AC4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35625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7A345236-B7BA-4F72-9D84-9A6971E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8A5F19B3-9A85-4FB3-AE76-F9F50A4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9DDF057B-78EE-416A-86D3-8A390EEA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96875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A35F5F3F-710C-4BA2-9944-62A04542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4EC65B38-1F11-495D-BDC4-421DB52D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9D9F1812-72C9-4A20-821E-04E25FC5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7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eee29267343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9F7E04BB-C23A-46AD-BA82-28FF746B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1D98B9AD-A9DE-4A7F-A700-EB1F6EA1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3242A0D7-9650-412D-9789-F6CC464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817D7D49-EABC-4B75-BC03-90DFCE38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4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Microscopy reconstruction supports optical inspection when clearer boundaries also produce more stable position measurements. Objective changes alter object-space sampling, optical blur and the pixel phase of motion. The variation of measured single steps provides a direct test of reconstruction for displacement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native pixel grid. One fixed set of learned weights serves 20× and 50× objectives. This study examines each objective at a common nominal step of 1 µm, with Raw, fixed Wiener and MOSR sharing the same image pairs and circle-center calculation.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CDB3F4C8-BF73-448B-BB88-8A8BA590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3FA8EC5B-61F2-4B6F-A085-5DCE8A5E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x">
            <a:extLst xmlns:a="http://schemas.openxmlformats.org/drawingml/2006/main">
              <a:ext uri="{FF2B5EF4-FFF2-40B4-BE49-F238E27FC236}">
                <a16:creationId xmlns:a16="http://schemas.microsoft.com/office/drawing/2014/main" id="{7DE64FCE-BAF5-4299-8A5C-946734AB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c655951d448f6"/>
          <a:stretch xmlns:a="http://schemas.openxmlformats.org/drawingml/2006/main"/>
        </p:blipFill>
        <p:spPr>
          <a:xfrm xmlns:a="http://schemas.openxmlformats.org/drawingml/2006/main">
            <a:off x="1546875" y="1556250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04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F98AF811-7576-4569-A567-BCB49BA5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790" y="21225000"/>
            <a:ext cx="73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3B6A7B96-AAE4-4168-9779-576C4D7D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290" y="20671875"/>
            <a:ext cx="111096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5a3acac8e47ea"/>
          <a:stretch xmlns:a="http://schemas.openxmlformats.org/drawingml/2006/main"/>
        </p:blipFill>
        <p:spPr>
          <a:xfrm xmlns:a="http://schemas.openxmlformats.org/drawingml/2006/main">
            <a:off x="8812500" y="1556250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07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70CCABDA-DF43-4961-BCD3-93642643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8415" y="21225000"/>
            <a:ext cx="73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A272987E-569B-4EE5-B8E4-97064DDE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915" y="20671875"/>
            <a:ext cx="111096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x">
            <a:extLst xmlns:a="http://schemas.openxmlformats.org/drawingml/2006/main">
              <a:ext uri="{FF2B5EF4-FFF2-40B4-BE49-F238E27FC236}">
                <a16:creationId xmlns:a16="http://schemas.microsoft.com/office/drawing/2014/main" id="{9828EB5C-9F3B-4735-9672-C0785E38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68197adc24dae"/>
          <a:stretch xmlns:a="http://schemas.openxmlformats.org/drawingml/2006/main"/>
        </p:blipFill>
        <p:spPr>
          <a:xfrm xmlns:a="http://schemas.openxmlformats.org/drawingml/2006/main">
            <a:off x="1546875" y="22419672"/>
            <a:ext cx="6093750" cy="6066905"/>
          </a:xfrm>
          <a:prstGeom xmlns:a="http://schemas.openxmlformats.org/drawingml/2006/main" prst="rect">
            <a:avLst/>
          </a:prstGeom>
        </p:spPr>
      </p:pic>
      <p:sp>
        <p:nvSpPr>
          <p:cNvPr id="3111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205A6BA2-73C8-4680-89C5-08499CBD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642" y="28068750"/>
            <a:ext cx="778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B5E7EB92-D4DD-4C10-8FF7-EE2EA260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42" y="27515625"/>
            <a:ext cx="115310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44a19502d4c0b"/>
          <a:stretch xmlns:a="http://schemas.openxmlformats.org/drawingml/2006/main"/>
        </p:blipFill>
        <p:spPr>
          <a:xfrm xmlns:a="http://schemas.openxmlformats.org/drawingml/2006/main">
            <a:off x="8812500" y="22419672"/>
            <a:ext cx="6093750" cy="6066905"/>
          </a:xfrm>
          <a:prstGeom xmlns:a="http://schemas.openxmlformats.org/drawingml/2006/main" prst="rect">
            <a:avLst/>
          </a:prstGeom>
        </p:spPr>
      </p:pic>
      <p:sp>
        <p:nvSpPr>
          <p:cNvPr id="3114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008BF7C2-50CA-457C-BC93-EBC48F30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267" y="28068750"/>
            <a:ext cx="778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050128CF-0112-422C-849C-966592AD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8767" y="27515625"/>
            <a:ext cx="115310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A20D1832-5F24-4435-B8E4-F47BB053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Raw and MOSR images from the 20× and 50×, 1 µm datasets. Each comparison uses the same field and grayscale range.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8E01329B-40E3-47C8-B3A8-C3D32BC0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078125"/>
            <a:ext cx="13875000" cy="50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 guidance. The optical inputs comprise 25 measured kernels at 20× and one calibrated kernel at 50×. Fixed Wiener uses a regularization value of 0.0565.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maximum-gradient boundary points. Geometric least-squares circle fitting [4] uses 64 points at 20× and 96 at 50×. Every pillar starts from the same fixed calculation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The median of nine pillar-center changes defines each step along the acquisition motion direction. The 20× dataset contains 30 complete scans of 30 steps. The 50× dataset contains 30 locked adjacent-frame pairs.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7559A3D5-9351-4F9E-8C44-3FBC82C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3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SEPARATE ACQUISITION CONDITIONS</a:t>
            </a:r>
          </a:p>
        </p:txBody>
      </p:sp>
      <p:graphicFrame>
        <p:nvGraphicFramePr>
          <p:cNvPr id="3171" name=""/>
          <p:cNvGraphicFramePr/>
          <p:nvPr/>
        </p:nvGraphicFramePr>
        <p:xfrm>
          <a:off xmlns:a="http://schemas.openxmlformats.org/drawingml/2006/main" x="1218750" y="37125000"/>
          <a:ext xmlns:a="http://schemas.openxmlformats.org/drawingml/2006/main" cx="13781250" cy="225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2500"/>
                <a:gridCol w="2906250"/>
                <a:gridCol w="4781250"/>
                <a:gridCol w="3281250"/>
              </a:tblGrid>
              <a:tr h="750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Measured 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scans × 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0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DF32079F-4641-48FA-A43A-90CA0B6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781250" cy="18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scan or locked set yields the sample SD of 30 steps (denominator 29). At 20×, all 30 scan SDs are shown; the within-scan summary is the square root of their mean squared SD. The 50× result is reported separately. Both use image-measured displacement.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9FE80484-64A8-4417-B052-421E9BA4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31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1 µm step, MOSR lowers displacement variation at both objectives. Results are calculated within each acquisition condition.</a:t>
            </a:r>
          </a:p>
        </p:txBody>
      </p:sp>
      <p:sp>
        <p:nvSpPr>
          <p:cNvPr id="3122" name="20x_heading">
            <a:extLst xmlns:a="http://schemas.openxmlformats.org/drawingml/2006/main">
              <a:ext uri="{FF2B5EF4-FFF2-40B4-BE49-F238E27FC236}">
                <a16:creationId xmlns:a16="http://schemas.microsoft.com/office/drawing/2014/main" id="{C4F757C6-D85D-415F-BFC1-E5F981D3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7187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repeated scans</a:t>
            </a:r>
          </a:p>
        </p:txBody>
      </p:sp>
      <p:sp>
        <p:nvSpPr>
          <p:cNvPr id="3123" name="20x_gain">
            <a:extLst xmlns:a="http://schemas.openxmlformats.org/drawingml/2006/main">
              <a:ext uri="{FF2B5EF4-FFF2-40B4-BE49-F238E27FC236}">
                <a16:creationId xmlns:a16="http://schemas.microsoft.com/office/drawing/2014/main" id="{5639FB34-5EDC-43CF-A653-9C276033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7265625" cy="154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52.3%</a:t>
            </a:r>
          </a:p>
        </p:txBody>
      </p:sp>
      <p:sp>
        <p:nvSpPr>
          <p:cNvPr id="3124" name="20x_values">
            <a:extLst xmlns:a="http://schemas.openxmlformats.org/drawingml/2006/main">
              <a:ext uri="{FF2B5EF4-FFF2-40B4-BE49-F238E27FC236}">
                <a16:creationId xmlns:a16="http://schemas.microsoft.com/office/drawing/2014/main" id="{37C17FA3-CEAD-4961-8257-6464F355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1293750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10.200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4.865 nm  MOSR</a:t>
            </a:r>
          </a:p>
        </p:txBody>
      </p:sp>
      <p:sp>
        <p:nvSpPr>
          <p:cNvPr id="3125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30196738-5237-452B-BF06-B7CB78F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203125"/>
            <a:ext cx="13593750" cy="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pooled within-scan Step SD</a:t>
            </a:r>
          </a:p>
        </p:txBody>
      </p:sp>
      <p:graphicFrame>
        <p:nvGraphicFramePr>
          <p:cNvPr id="3178" name="Chart"/>
          <p:cNvGraphicFramePr/>
          <p:nvPr/>
        </p:nvGraphicFramePr>
        <p:xfrm>
          <a:off xmlns:a="http://schemas.openxmlformats.org/drawingml/2006/main" x="17062500" y="15093750"/>
          <a:ext xmlns:a="http://schemas.openxmlformats.org/drawingml/2006/main" cx="14156250" cy="562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e92610acee4cb6"/>
          </a:graphicData>
        </a:graphic>
      </p:graphicFrame>
      <p:sp>
        <p:nvSpPr>
          <p:cNvPr id="3127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74A5FA23-164F-4EBD-99FE-0AB6E38F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0906250"/>
            <a:ext cx="13781250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Each point is the SD of 30 measured steps in one 20× scan. The 30 scans retain their individual results for all three methods.</a:t>
            </a:r>
          </a:p>
        </p:txBody>
      </p:sp>
      <p:sp>
        <p:nvSpPr>
          <p:cNvPr id="3128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74B3F229-64BA-4000-AC01-25796151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reduces Step SD in all 30 scans, with per-scan reductions of 36.9–64.6% relative to Raw. The within-scan summary is 8.431 nm for fixed Wiener and 4.865 nm for MOSR.</a:t>
            </a:r>
          </a:p>
        </p:txBody>
      </p:sp>
      <p:sp>
        <p:nvSpPr>
          <p:cNvPr id="3129" name="50x_heading">
            <a:extLst xmlns:a="http://schemas.openxmlformats.org/drawingml/2006/main">
              <a:ext uri="{FF2B5EF4-FFF2-40B4-BE49-F238E27FC236}">
                <a16:creationId xmlns:a16="http://schemas.microsoft.com/office/drawing/2014/main" id="{EA60E057-F0BC-4673-80FE-389FF295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9062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locked pairs</a:t>
            </a:r>
          </a:p>
        </p:txBody>
      </p:sp>
      <p:sp>
        <p:nvSpPr>
          <p:cNvPr id="3130" name="50x_gain">
            <a:extLst xmlns:a="http://schemas.openxmlformats.org/drawingml/2006/main">
              <a:ext uri="{FF2B5EF4-FFF2-40B4-BE49-F238E27FC236}">
                <a16:creationId xmlns:a16="http://schemas.microsoft.com/office/drawing/2014/main" id="{D3D27CF8-5222-404B-8B67-C9203CF7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843750"/>
            <a:ext cx="7265625" cy="1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131" name="50x_values">
            <a:extLst xmlns:a="http://schemas.openxmlformats.org/drawingml/2006/main">
              <a:ext uri="{FF2B5EF4-FFF2-40B4-BE49-F238E27FC236}">
                <a16:creationId xmlns:a16="http://schemas.microsoft.com/office/drawing/2014/main" id="{2A7CC5F5-71C2-4708-933F-E53DB663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2503125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5.938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  MOSR</a:t>
            </a:r>
          </a:p>
        </p:txBody>
      </p:sp>
      <p:sp>
        <p:nvSpPr>
          <p:cNvPr id="3132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09901556-477E-47E9-B0EF-C52BF4DF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250000"/>
            <a:ext cx="135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85" name="Chart"/>
          <p:cNvGraphicFramePr/>
          <p:nvPr/>
        </p:nvGraphicFramePr>
        <p:xfrm>
          <a:off xmlns:a="http://schemas.openxmlformats.org/drawingml/2006/main" x="17062500" y="27000000"/>
          <a:ext xmlns:a="http://schemas.openxmlformats.org/drawingml/2006/main" cx="14156250" cy="445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d709d2d5774949"/>
          </a:graphicData>
        </a:graphic>
      </p:graphicFrame>
      <p:sp>
        <p:nvSpPr>
          <p:cNvPr id="3134" name="fig3_caption">
            <a:extLst xmlns:a="http://schemas.openxmlformats.org/drawingml/2006/main">
              <a:ext uri="{FF2B5EF4-FFF2-40B4-BE49-F238E27FC236}">
                <a16:creationId xmlns:a16="http://schemas.microsoft.com/office/drawing/2014/main" id="{A623983E-1322-4F51-AE85-3BB365F1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734375"/>
            <a:ext cx="13781250" cy="13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SD of the 30 locked 1 µm displacements at 50×. The same calibrated optical input supports Wiener and MOSR; the circle-center calculation is shared by all methods.</a:t>
            </a:r>
          </a:p>
        </p:txBody>
      </p:sp>
      <p:sp>
        <p:nvSpPr>
          <p:cNvPr id="3135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6C009205-0237-457C-8619-ACA9C645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156250"/>
            <a:ext cx="13781250" cy="246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MOSR lowers pooled within-scan step variation by 52.3% and improves all 30 repeated scans. At 50×, Step SD falls by 23.5% for the fixed 1 µm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reconstruction model supports both objectives with their calibrated optical inputs. Clearer boundaries and reduced displacement variation support MOSR for cross-magnification optical inspection.</a:t>
            </a:r>
          </a:p>
        </p:txBody>
      </p:sp>
      <p:sp>
        <p:nvSpPr>
          <p:cNvPr id="3136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F30D5674-6585-43AA-AD5F-2E677448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9375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844670817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2026-09-29T17:24:41.3370000Z</dcterms:created>
  <dcterms:modified xsi:type="dcterms:W3CDTF">2026-09-29T17:24:41.3380000Z</dcterms:modified>
</coreProperties>
</file>