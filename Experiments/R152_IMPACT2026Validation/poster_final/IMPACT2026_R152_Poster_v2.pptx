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f2f0b5d2374186" /><Relationship Type="http://schemas.openxmlformats.org/officeDocument/2006/relationships/extended-properties" Target="/docProps/app.xml" Id="R708eecfa6c8a4f85" /><Relationship Type="http://schemas.openxmlformats.org/officeDocument/2006/relationships/officeDocument" Target="/ppt/presentation.xml" Id="Re6a0b0b7f9544e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83b07db9ec4d3e"/>
  </p:sldMasterIdLst>
  <p:notesMasterIdLst>
    <p:notesMasterId xmlns:r="http://schemas.openxmlformats.org/officeDocument/2006/relationships" r:id="R7c25fdf290a043a7"/>
  </p:notesMasterIdLst>
  <p:sldIdLst>
    <p:sldId xmlns:r="http://schemas.openxmlformats.org/officeDocument/2006/relationships" id="256" r:id="Rfe7b9d282cc74f86"/>
  </p:sldIdLst>
  <p:sldSz cx="32400000" cy="4320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b5f4845ed84cec" /><Relationship Type="http://schemas.openxmlformats.org/officeDocument/2006/relationships/slideMaster" Target="/ppt/slideMasters/slideMaster1.xml" Id="R0583b07db9ec4d3e" /><Relationship Type="http://schemas.openxmlformats.org/officeDocument/2006/relationships/notesMaster" Target="/ppt/notesMasters/notesMaster1.xml" Id="R7c25fdf290a043a7" /><Relationship Type="http://schemas.openxmlformats.org/officeDocument/2006/relationships/presProps" Target="/ppt/presProps.xml" Id="R6d1c5551839f4ee5" /><Relationship Type="http://schemas.openxmlformats.org/officeDocument/2006/relationships/viewProps" Target="/ppt/viewProps.xml" Id="Rdf35ceedbcdd4e4e" /><Relationship Type="http://schemas.openxmlformats.org/officeDocument/2006/relationships/tableStyles" Target="/ppt/tableStyles.xml" Id="Rbe9c0a2f3bc646c7" /><Relationship Type="http://schemas.openxmlformats.org/officeDocument/2006/relationships/slide" Target="/ppt/slides/slide1.xml" Id="Rfe7b9d282cc74f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d919c32a6d41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787f230c16483c" /><Relationship Type="http://schemas.openxmlformats.org/officeDocument/2006/relationships/notesMaster" Target="/ppt/notesMasters/notesMaster1.xml" Id="Rbef7e172f1f045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Template: C:/Users/Rio/OneDrive/學業/碩班/論文/投稿/IMPACT2026/4. Poster_Sample_2026 (2).pptx</a:t>
            </a:r>
            <a:endParaRPr/>
          </a:p>
          <a:p xmlns:a="http://schemas.openxmlformats.org/drawingml/2006/main">
            <a:pPr>
              <a:buNone/>
            </a:pPr>
            <a:r>
              <a:t>Title, authors and affiliation: submitted two-page IMPACT manuscript in sources/submitted_paper.pdf.</a:t>
            </a:r>
            <a:endParaRPr/>
          </a:p>
          <a:p xmlns:a="http://schemas.openxmlformats.org/drawingml/2006/main">
            <a:pPr>
              <a:buNone/>
            </a:pPr>
            <a:r>
              <a:t>Numerical source: C:\Users\Rio\.codex\worktrees\impact-r152\GMM_2_Final\Experiments\R152_IMPACT2026Validation\results\localization_improvement\improved_summary.csv</a:t>
            </a:r>
            <a:endParaRPr/>
          </a:p>
          <a:p xmlns:a="http://schemas.openxmlformats.org/drawingml/2006/main">
            <a:pPr>
              <a:buNone/>
            </a:pPr>
            <a:r>
              <a:t>Pair-level source: C:\Users\Rio\.codex\worktrees\impact-r152\GMM_2_Final\Experiments\R152_IMPACT2026Validation\results\localization_improvement\improved_pairs.csv</a:t>
            </a:r>
            <a:endParaRPr/>
          </a:p>
          <a:p xmlns:a="http://schemas.openxmlformats.org/drawingml/2006/main">
            <a:pPr>
              <a:buNone/>
            </a:pPr>
            <a:r>
              <a:t>Images: inspection/images/2_0000_Raw.png, 2_0000_R152.png, 0_0000_Raw.png, 0_0000_R152.png. These are the first locked 0.5 µm frames at each objective with common 0–1 display mapping.</a:t>
            </a:r>
            <a:endParaRPr/>
          </a:p>
          <a:p xmlns:a="http://schemas.openxmlformats.org/drawingml/2006/main">
            <a:pPr>
              <a:buNone/>
            </a:pPr>
            <a:r>
              <a:t>Current poster readout: radial 720-direction geometric LSC with three refinement passes. The model and raw data are fixed.</a:t>
            </a:r>
            <a:endParaRPr/>
          </a:p>
          <a:p xmlns:a="http://schemas.openxmlformats.org/drawingml/2006/main">
            <a:pPr>
              <a:buNone/>
            </a:pPr>
            <a:r>
              <a:t>R152 learned checkpoint SHA-256: 17bf7c63f070520a5ef8d4428010340686f465bf1fa03ef8225c0a2eadad4a61.</a:t>
            </a:r>
            <a:endParaRPr/>
          </a:p>
          <a:p xmlns:a="http://schemas.openxmlformats.org/drawingml/2006/main">
            <a:pPr>
              <a:buNone/>
            </a:pPr>
            <a:r>
              <a:t>50x optics: original calibrated single PSF, installed through the optional input adapter. 20x optics: native R152 25-kernel bank.</a:t>
            </a:r>
            <a:endParaRPr/>
          </a:p>
          <a:p xmlns:a="http://schemas.openxmlformats.org/drawingml/2006/main">
            <a:pPr>
              <a:buNone/>
            </a:pPr>
            <a:r>
              <a:t>Percent reductions use unrounded aggregate values. All four condition-level values support the stated lowest-value comparison among Raw, Wiener and R152.</a:t>
            </a:r>
            <a:endParaRPr/>
          </a:p>
          <a:p xmlns:a="http://schemas.openxmlformats.org/drawingml/2006/main">
            <a:pPr>
              <a:buNone/>
            </a:pPr>
            <a:r>
              <a:t>Bibliography metadata follows references [3], [4], [6], [8] of the supplied manuscript.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85cea514fa403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e849bf4bfb416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9553496ac74cc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14c598fffc434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1615d536ad4d5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829df48ca44ec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989fdb3d944d3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f11d7b73b14bb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0f580cc481494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3d9e059d3f4d7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743a0db6154483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72B3DEB0-BB87-4CCF-BEBD-1700450FF06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68563" y="13635038"/>
            <a:ext cx="27981275" cy="940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4C944B70-139B-4707-83F7-4A8C2161D6E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37125" y="24871363"/>
            <a:ext cx="23044150" cy="1121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按一下以編輯母片副標題樣式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9B1FA82-916F-4977-A205-E2891CAA2D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1108305B-B4E1-45B4-8C1A-7EB3F97A1C6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5E98E0B5-E27D-41AE-94EE-7645DB09F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00325" y="28203525"/>
            <a:ext cx="27981275" cy="8718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4610E403-DD1F-4284-961B-25F9B97073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00325" y="18602325"/>
            <a:ext cx="27981275" cy="960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45E8BF4-7093-4670-B83B-1299F6C3A8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86985764-5D3B-4679-A0EB-FD8220389B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14736762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4D93DCA0-62DC-4C69-9F88-C9A789CF408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535400" y="10240963"/>
            <a:ext cx="14736763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50A174BA-3C3E-4BBF-8DE8-1C885D8FCA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11BA2D6D-CEBD-47B8-91FA-E742A95794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9825038"/>
            <a:ext cx="14544675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49215C5F-5601-495D-AA48-EBF44527452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46238" y="13919200"/>
            <a:ext cx="14544675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97A18781-4C48-4C58-B927-C0489661467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6722725" y="9825038"/>
            <a:ext cx="14549438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D5AC3E79-9BCF-412B-BBFC-BA214CBBA57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6722725" y="13919200"/>
            <a:ext cx="14549438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5B42CEC9-AB43-49D8-AC06-7F58863DA7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B0C2FBEE-18D0-48AF-AB37-F9A8550D68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47838"/>
            <a:ext cx="10829925" cy="7437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433B504F-111E-4273-AEE2-D67A3097BD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69863" y="1747838"/>
            <a:ext cx="18402300" cy="374602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EBBE29A0-0219-4277-A20E-BED9575779A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46238" y="9185275"/>
            <a:ext cx="10829925" cy="3002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A1E3FCF-4D17-4327-954D-7AE01AF44E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51600" y="30724475"/>
            <a:ext cx="19751675" cy="362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52A966AE-D45A-4AAA-8243-087BB185873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451600" y="3921125"/>
            <a:ext cx="19751675" cy="26335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6548ABBD-B181-47C1-91EC-376CE4336B6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51600" y="34350325"/>
            <a:ext cx="19751675" cy="5151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0E622407-28A7-401D-B1B9-293537217D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B3B22D3-3930-4BC3-821F-D8F65DE8FE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B7D9442A-CF91-4E7F-85CB-CF731F1331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66475" y="1757363"/>
            <a:ext cx="7405688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ABF565D8-7449-419A-96CB-260B8684A5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757363"/>
            <a:ext cx="22067837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a63b070c194310" /><Relationship Type="http://schemas.openxmlformats.org/officeDocument/2006/relationships/slideLayout" Target="/ppt/slideLayouts/slideLayout1.xml" Id="R2520997c10d845d0" /><Relationship Type="http://schemas.openxmlformats.org/officeDocument/2006/relationships/slideLayout" Target="/ppt/slideLayouts/slideLayout2.xml" Id="R40b6826b689f4d90" /><Relationship Type="http://schemas.openxmlformats.org/officeDocument/2006/relationships/slideLayout" Target="/ppt/slideLayouts/slideLayout3.xml" Id="Refd85ff7433a4906" /><Relationship Type="http://schemas.openxmlformats.org/officeDocument/2006/relationships/slideLayout" Target="/ppt/slideLayouts/slideLayout4.xml" Id="R9719d3830cad4538" /><Relationship Type="http://schemas.openxmlformats.org/officeDocument/2006/relationships/slideLayout" Target="/ppt/slideLayouts/slideLayout5.xml" Id="R570f295d1bd14b00" /><Relationship Type="http://schemas.openxmlformats.org/officeDocument/2006/relationships/slideLayout" Target="/ppt/slideLayouts/slideLayout6.xml" Id="Rc2c4fca984834fc2" /><Relationship Type="http://schemas.openxmlformats.org/officeDocument/2006/relationships/slideLayout" Target="/ppt/slideLayouts/slideLayout7.xml" Id="R2c2c208186f84852" /><Relationship Type="http://schemas.openxmlformats.org/officeDocument/2006/relationships/slideLayout" Target="/ppt/slideLayouts/slideLayout8.xml" Id="R8411396e4eb54f0d" /><Relationship Type="http://schemas.openxmlformats.org/officeDocument/2006/relationships/slideLayout" Target="/ppt/slideLayouts/slideLayout9.xml" Id="Re6de9a69ad46404f" /><Relationship Type="http://schemas.openxmlformats.org/officeDocument/2006/relationships/slideLayout" Target="/ppt/slideLayouts/slideLayout10.xml" Id="R9368ee6d77024f5f" /><Relationship Type="http://schemas.openxmlformats.org/officeDocument/2006/relationships/slideLayout" Target="/ppt/slideLayouts/slideLayout11.xml" Id="R2e0eb93a40204e2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20997c10d845d0"/>
    <p:sldLayoutId xmlns:r="http://schemas.openxmlformats.org/officeDocument/2006/relationships" id="2147483650" r:id="R40b6826b689f4d90"/>
    <p:sldLayoutId xmlns:r="http://schemas.openxmlformats.org/officeDocument/2006/relationships" id="2147483651" r:id="Refd85ff7433a4906"/>
    <p:sldLayoutId xmlns:r="http://schemas.openxmlformats.org/officeDocument/2006/relationships" id="2147483652" r:id="R9719d3830cad4538"/>
    <p:sldLayoutId xmlns:r="http://schemas.openxmlformats.org/officeDocument/2006/relationships" id="2147483653" r:id="R570f295d1bd14b00"/>
    <p:sldLayoutId xmlns:r="http://schemas.openxmlformats.org/officeDocument/2006/relationships" id="2147483654" r:id="Rc2c4fca984834fc2"/>
    <p:sldLayoutId xmlns:r="http://schemas.openxmlformats.org/officeDocument/2006/relationships" id="2147483655" r:id="R2c2c208186f84852"/>
    <p:sldLayoutId xmlns:r="http://schemas.openxmlformats.org/officeDocument/2006/relationships" id="2147483656" r:id="R8411396e4eb54f0d"/>
    <p:sldLayoutId xmlns:r="http://schemas.openxmlformats.org/officeDocument/2006/relationships" id="2147483657" r:id="Re6de9a69ad46404f"/>
    <p:sldLayoutId xmlns:r="http://schemas.openxmlformats.org/officeDocument/2006/relationships" id="2147483658" r:id="R9368ee6d77024f5f"/>
    <p:sldLayoutId xmlns:r="http://schemas.openxmlformats.org/officeDocument/2006/relationships" id="2147483659" r:id="R2e0eb93a40204e21"/>
  </p:sldLayoutIdLst>
  <p:txStyles>
    <p:titleStyle>
      <a:lvl1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0e9cb0ff74786" /><Relationship Type="http://schemas.openxmlformats.org/officeDocument/2006/relationships/image" Target="/ppt/media/image.jpeg" Id="R2c35adfc2fa9412d" /><Relationship Type="http://schemas.openxmlformats.org/officeDocument/2006/relationships/image" Target="/ppt/media/image.png" Id="Rfd2d939cea3440f7" /><Relationship Type="http://schemas.openxmlformats.org/officeDocument/2006/relationships/image" Target="/ppt/media/image2.png" Id="Rd81d197dac464e77" /><Relationship Type="http://schemas.openxmlformats.org/officeDocument/2006/relationships/image" Target="/ppt/media/image3.png" Id="Rca738d7c3d0a420c" /><Relationship Type="http://schemas.openxmlformats.org/officeDocument/2006/relationships/image" Target="/ppt/media/image4.png" Id="R3c57f6d73c1847ea" /><Relationship Type="http://schemas.openxmlformats.org/officeDocument/2006/relationships/chart" Target="/ppt/slides/charts/chart1.xml" Id="R658d38b9080c4f09" /><Relationship Type="http://schemas.openxmlformats.org/officeDocument/2006/relationships/notesSlide" Target="/ppt/notesSlides/notesSlide1.xml" Id="R68a706293eb1427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A8ADB3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Step SD</c:v>
              </c:pt>
              <c:pt idx="1">
                <c:v>Nominal MAE</c:v>
              </c:pt>
              <c:pt idx="2">
                <c:v>Within-grid SD</c:v>
              </c:pt>
            </c:strLit>
          </c:cat>
          <c:val>
            <c:numLit>
              <c:formatCode>0.00</c:formatCode>
              <c:ptCount val="3"/>
              <c:pt idx="0">
                <c:v>8.839480542653641</c:v>
              </c:pt>
              <c:pt idx="1">
                <c:v>7.23307881380063</c:v>
              </c:pt>
              <c:pt idx="2">
                <c:v>10.86254755373104</c:v>
              </c:pt>
            </c:numLit>
          </c:val>
        </c:ser>
        <c:ser>
          <c:idx val="1"/>
          <c:order val="1"/>
          <c:tx>
            <c:v>Wiener</c:v>
          </c:tx>
          <c:spPr>
            <a:solidFill xmlns:a="http://schemas.openxmlformats.org/drawingml/2006/main">
              <a:srgbClr val="7896B5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Step SD</c:v>
              </c:pt>
              <c:pt idx="1">
                <c:v>Nominal MAE</c:v>
              </c:pt>
              <c:pt idx="2">
                <c:v>Within-grid SD</c:v>
              </c:pt>
            </c:strLit>
          </c:cat>
          <c:val>
            <c:numLit>
              <c:formatCode>0.00</c:formatCode>
              <c:ptCount val="3"/>
              <c:pt idx="0">
                <c:v>7.895025438834128</c:v>
              </c:pt>
              <c:pt idx="1">
                <c:v>6.541877735202178</c:v>
              </c:pt>
              <c:pt idx="2">
                <c:v>6.451894325191165</c:v>
              </c:pt>
            </c:numLit>
          </c:val>
        </c:ser>
        <c:ser>
          <c:idx val="2"/>
          <c:order val="2"/>
          <c:tx>
            <c:v>R152</c:v>
          </c:tx>
          <c:spPr>
            <a:solidFill xmlns:a="http://schemas.openxmlformats.org/drawingml/2006/main">
              <a:srgbClr val="003064"/>
            </a:solidFill>
            <a:ln xmlns:a="http://schemas.openxmlformats.org/drawingml/2006/main" w="0">
              <a:noFill/>
            </a:ln>
          </c:spPr>
          <c:cat>
            <c:strLit>
              <c:ptCount val="3"/>
              <c:pt idx="0">
                <c:v>Step SD</c:v>
              </c:pt>
              <c:pt idx="1">
                <c:v>Nominal MAE</c:v>
              </c:pt>
              <c:pt idx="2">
                <c:v>Within-grid SD</c:v>
              </c:pt>
            </c:strLit>
          </c:cat>
          <c:val>
            <c:numLit>
              <c:formatCode>0.00</c:formatCode>
              <c:ptCount val="3"/>
              <c:pt idx="0">
                <c:v>7.113327865895262</c:v>
              </c:pt>
              <c:pt idx="1">
                <c:v>5.558788300800903</c:v>
              </c:pt>
              <c:pt idx="2">
                <c:v>4.258167912774406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 b="1">
                  <a:solidFill>
                    <a:srgbClr val="111111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14288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400">
                    <a:solidFill>
                      <a:srgbClr val="111111"/>
                    </a:solidFill>
                    <a:latin typeface="Arial"/>
                    <a:ea typeface="Arial"/>
                    <a:cs typeface="Arial"/>
                  </a:rPr>
                  <a:t>nm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400">
                  <a:solidFill>
                    <a:srgbClr val="111111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14288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325">
              <a:solidFill>
                <a:srgbClr val="111111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4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D443FA21-4FE3-46A9-9D9F-19D22228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8750" y="80375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94F8565-C299-4612-B2A2-6D9B4963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00" y="8000000"/>
            <a:ext cx="15243750" cy="3410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7" name="Text Box 10">
            <a:extLst xmlns:a="http://schemas.openxmlformats.org/drawingml/2006/main">
              <a:ext uri="{FF2B5EF4-FFF2-40B4-BE49-F238E27FC236}">
                <a16:creationId xmlns:a16="http://schemas.microsoft.com/office/drawing/2014/main" id="{F969C93B-0D9A-43E1-9F05-710DE0D6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9634375"/>
            <a:ext cx="1406250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 xmlns:a="http://schemas.openxmlformats.org/drawingml/2006/main">
              <a:ext uri="{FF2B5EF4-FFF2-40B4-BE49-F238E27FC236}">
                <a16:creationId xmlns:a16="http://schemas.microsoft.com/office/drawing/2014/main" id="{4C1913F2-10E2-4C9B-83B6-2408E233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27843750"/>
            <a:ext cx="1415625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D61E438-56B5-41F4-936C-6502DC7D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50" y="500000"/>
            <a:ext cx="31387500" cy="6900000"/>
          </a:xfrm>
          <a:prstGeom xmlns:a="http://schemas.openxmlformats.org/drawingml/2006/main" prst="roundRect">
            <a:avLst>
              <a:gd name="adj" fmla="val 10870"/>
            </a:avLst>
          </a:prstGeom>
          <a:gradFill xmlns:a="http://schemas.openxmlformats.org/drawingml/2006/main"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 xmlns:a="http://schemas.openxmlformats.org/drawingml/2006/main">
              <a:ext uri="{FF2B5EF4-FFF2-40B4-BE49-F238E27FC236}">
                <a16:creationId xmlns:a16="http://schemas.microsoft.com/office/drawing/2014/main" id="{1966A1D0-E593-49FF-928D-349A515F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625000"/>
            <a:ext cx="30187500" cy="417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 xmlns:a="http://schemas.openxmlformats.org/drawingml/2006/main">
            <a:pPr algn="ctr" defTabSz="4389438">
              <a:lnSpc>
                <a:spcPct val="103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 xmlns:a="http://schemas.openxmlformats.org/drawingml/2006/main">
              <a:ext uri="{FF2B5EF4-FFF2-40B4-BE49-F238E27FC236}">
                <a16:creationId xmlns:a16="http://schemas.microsoft.com/office/drawing/2014/main" id="{A7A09CAF-0547-4656-A8E0-283A48C1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6375000"/>
            <a:ext cx="13687500" cy="1111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6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 xmlns:a="http://schemas.openxmlformats.org/drawingml/2006/main">
              <a:ext uri="{FF2B5EF4-FFF2-40B4-BE49-F238E27FC236}">
                <a16:creationId xmlns:a16="http://schemas.microsoft.com/office/drawing/2014/main" id="{E906060E-38E7-4E43-B6CD-2D83532C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8596875"/>
            <a:ext cx="1406250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 xmlns:a="http://schemas.openxmlformats.org/drawingml/2006/main">
              <a:ext uri="{FF2B5EF4-FFF2-40B4-BE49-F238E27FC236}">
                <a16:creationId xmlns:a16="http://schemas.microsoft.com/office/drawing/2014/main" id="{803C4489-3DCA-428B-B6D1-334A9F7D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8615625"/>
            <a:ext cx="14156250" cy="1441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8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 xmlns:a="http://schemas.openxmlformats.org/drawingml/2006/main">
              <a:ext uri="{FF2B5EF4-FFF2-40B4-BE49-F238E27FC236}">
                <a16:creationId xmlns:a16="http://schemas.microsoft.com/office/drawing/2014/main" id="{F91F71A5-56BD-40B8-A7B6-10AD1B0D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0000" y="1846875"/>
            <a:ext cx="3281250" cy="16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3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</a:t>
            </a:r>
          </a:p>
        </p:txBody>
      </p:sp>
      <p:pic>
        <p:nvPicPr>
          <p:cNvPr id="3142" name="圖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35adfc2fa9412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40625" y="857813"/>
            <a:ext cx="2512500" cy="84375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096" name="authors">
            <a:extLst xmlns:a="http://schemas.openxmlformats.org/drawingml/2006/main">
              <a:ext uri="{FF2B5EF4-FFF2-40B4-BE49-F238E27FC236}">
                <a16:creationId xmlns:a16="http://schemas.microsoft.com/office/drawing/2014/main" id="{09BC6876-EE0D-4D09-BF67-2C6D4963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5437500"/>
            <a:ext cx="29343750" cy="6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097" name="affiliation">
            <a:extLst xmlns:a="http://schemas.openxmlformats.org/drawingml/2006/main">
              <a:ext uri="{FF2B5EF4-FFF2-40B4-BE49-F238E27FC236}">
                <a16:creationId xmlns:a16="http://schemas.microsoft.com/office/drawing/2014/main" id="{F116C5DB-16CE-482C-942D-AD5F3EF4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6140625"/>
            <a:ext cx="29343750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098" name="contact">
            <a:extLst xmlns:a="http://schemas.openxmlformats.org/drawingml/2006/main">
              <a:ext uri="{FF2B5EF4-FFF2-40B4-BE49-F238E27FC236}">
                <a16:creationId xmlns:a16="http://schemas.microsoft.com/office/drawing/2014/main" id="{6BEAB605-DB73-41B1-8C4C-0E709C40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750" y="6759375"/>
            <a:ext cx="29156250" cy="4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099" name="intro_body">
            <a:extLst xmlns:a="http://schemas.openxmlformats.org/drawingml/2006/main">
              <a:ext uri="{FF2B5EF4-FFF2-40B4-BE49-F238E27FC236}">
                <a16:creationId xmlns:a16="http://schemas.microsoft.com/office/drawing/2014/main" id="{90135108-7406-4967-A48F-A068A01C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0218750"/>
            <a:ext cx="13875000" cy="32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Reliable optical inspection requires clear boundaries and stable feature positions. R152 reconstructs microscopy images on the original pixel grid and connects them to one geometric measurement pipeline.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 fixed set of learned weights processes 20× and 50× images with objective-specific optical information. Bounded correction sharpens pillar boundaries on the native grid [1, 2].</a:t>
            </a:r>
          </a:p>
        </p:txBody>
      </p:sp>
      <p:sp>
        <p:nvSpPr>
          <p:cNvPr id="3100" name="fig1_label">
            <a:extLst xmlns:a="http://schemas.openxmlformats.org/drawingml/2006/main">
              <a:ext uri="{FF2B5EF4-FFF2-40B4-BE49-F238E27FC236}">
                <a16:creationId xmlns:a16="http://schemas.microsoft.com/office/drawing/2014/main" id="{3A7C4516-1D60-4F90-ACE2-C32B9366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7500" y="13659375"/>
            <a:ext cx="6750000" cy="93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5400" b="1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400" b="1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Figure #1</a:t>
            </a:r>
          </a:p>
        </p:txBody>
      </p:sp>
      <p:sp>
        <p:nvSpPr>
          <p:cNvPr id="3101" name="raw_label">
            <a:extLst xmlns:a="http://schemas.openxmlformats.org/drawingml/2006/main">
              <a:ext uri="{FF2B5EF4-FFF2-40B4-BE49-F238E27FC236}">
                <a16:creationId xmlns:a16="http://schemas.microsoft.com/office/drawing/2014/main" id="{D13BB409-19FC-402F-B08D-7CFBAE87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75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02" name="r152_label">
            <a:extLst xmlns:a="http://schemas.openxmlformats.org/drawingml/2006/main">
              <a:ext uri="{FF2B5EF4-FFF2-40B4-BE49-F238E27FC236}">
                <a16:creationId xmlns:a16="http://schemas.microsoft.com/office/drawing/2014/main" id="{0034EC8F-977C-4834-B5AF-27FDCE9A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500" y="14606250"/>
            <a:ext cx="609375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003064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003064"/>
                </a:solidFill>
                <a:latin typeface="Arial"/>
                <a:ea typeface="Arial"/>
                <a:cs typeface="Arial"/>
              </a:rPr>
              <a:t>R152</a:t>
            </a:r>
          </a:p>
        </p:txBody>
      </p:sp>
      <p:sp>
        <p:nvSpPr>
          <p:cNvPr id="3103" name="mag-20×">
            <a:extLst xmlns:a="http://schemas.openxmlformats.org/drawingml/2006/main">
              <a:ext uri="{FF2B5EF4-FFF2-40B4-BE49-F238E27FC236}">
                <a16:creationId xmlns:a16="http://schemas.microsoft.com/office/drawing/2014/main" id="{DC15B786-4B20-4DB2-88D6-5B350DF8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528125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d939cea3440f7"/>
          <a:stretch xmlns:a="http://schemas.openxmlformats.org/drawingml/2006/main"/>
        </p:blipFill>
        <p:spPr>
          <a:xfrm xmlns:a="http://schemas.openxmlformats.org/drawingml/2006/main">
            <a:off x="1546875" y="15595618"/>
            <a:ext cx="6093750" cy="6027514"/>
          </a:xfrm>
          <a:prstGeom xmlns:a="http://schemas.openxmlformats.org/drawingml/2006/main" prst="rect">
            <a:avLst/>
          </a:prstGeom>
        </p:spPr>
      </p:pic>
      <p:sp>
        <p:nvSpPr>
          <p:cNvPr id="3105" name="scale-20×-Raw">
            <a:extLst xmlns:a="http://schemas.openxmlformats.org/drawingml/2006/main">
              <a:ext uri="{FF2B5EF4-FFF2-40B4-BE49-F238E27FC236}">
                <a16:creationId xmlns:a16="http://schemas.microsoft.com/office/drawing/2014/main" id="{16F46272-5945-49F5-8905-F42AECC4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0792" y="21225000"/>
            <a:ext cx="767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06" name="scale-label-20×-Raw">
            <a:extLst xmlns:a="http://schemas.openxmlformats.org/drawingml/2006/main">
              <a:ext uri="{FF2B5EF4-FFF2-40B4-BE49-F238E27FC236}">
                <a16:creationId xmlns:a16="http://schemas.microsoft.com/office/drawing/2014/main" id="{1AC89854-D981-427A-ABE6-A6C3676C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292" y="20671875"/>
            <a:ext cx="114295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d197dac464e77"/>
          <a:stretch xmlns:a="http://schemas.openxmlformats.org/drawingml/2006/main"/>
        </p:blipFill>
        <p:spPr>
          <a:xfrm xmlns:a="http://schemas.openxmlformats.org/drawingml/2006/main">
            <a:off x="8812500" y="15595618"/>
            <a:ext cx="6093750" cy="6027514"/>
          </a:xfrm>
          <a:prstGeom xmlns:a="http://schemas.openxmlformats.org/drawingml/2006/main" prst="rect">
            <a:avLst/>
          </a:prstGeom>
        </p:spPr>
      </p:pic>
      <p:sp>
        <p:nvSpPr>
          <p:cNvPr id="3108" name="scale-20×-R152">
            <a:extLst xmlns:a="http://schemas.openxmlformats.org/drawingml/2006/main">
              <a:ext uri="{FF2B5EF4-FFF2-40B4-BE49-F238E27FC236}">
                <a16:creationId xmlns:a16="http://schemas.microsoft.com/office/drawing/2014/main" id="{320F39D5-7CEC-4764-82B4-8AB050FA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417" y="21225000"/>
            <a:ext cx="767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09" name="scale-label-20×-R152">
            <a:extLst xmlns:a="http://schemas.openxmlformats.org/drawingml/2006/main">
              <a:ext uri="{FF2B5EF4-FFF2-40B4-BE49-F238E27FC236}">
                <a16:creationId xmlns:a16="http://schemas.microsoft.com/office/drawing/2014/main" id="{C5F830EB-FD38-43D1-8C16-FC98FC85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8917" y="20671875"/>
            <a:ext cx="1142958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0" name="mag-50×">
            <a:extLst xmlns:a="http://schemas.openxmlformats.org/drawingml/2006/main">
              <a:ext uri="{FF2B5EF4-FFF2-40B4-BE49-F238E27FC236}">
                <a16:creationId xmlns:a16="http://schemas.microsoft.com/office/drawing/2014/main" id="{40480A90-5B4C-4E00-A257-0DB11CD9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2125000"/>
            <a:ext cx="1546875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38d7c3d0a420c"/>
          <a:stretch xmlns:a="http://schemas.openxmlformats.org/drawingml/2006/main"/>
        </p:blipFill>
        <p:spPr>
          <a:xfrm xmlns:a="http://schemas.openxmlformats.org/drawingml/2006/main">
            <a:off x="1546875" y="2240625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12" name="scale-50×-Raw">
            <a:extLst xmlns:a="http://schemas.openxmlformats.org/drawingml/2006/main">
              <a:ext uri="{FF2B5EF4-FFF2-40B4-BE49-F238E27FC236}">
                <a16:creationId xmlns:a16="http://schemas.microsoft.com/office/drawing/2014/main" id="{A145D17B-4991-41DD-B2EE-7115E505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199" y="28068750"/>
            <a:ext cx="781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13" name="scale-label-50×-Raw">
            <a:extLst xmlns:a="http://schemas.openxmlformats.org/drawingml/2006/main">
              <a:ext uri="{FF2B5EF4-FFF2-40B4-BE49-F238E27FC236}">
                <a16:creationId xmlns:a16="http://schemas.microsoft.com/office/drawing/2014/main" id="{8E31437F-D71D-4265-90BA-9752008E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699" y="27515625"/>
            <a:ext cx="1156551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7f6d73c1847ea"/>
          <a:stretch xmlns:a="http://schemas.openxmlformats.org/drawingml/2006/main"/>
        </p:blipFill>
        <p:spPr>
          <a:xfrm xmlns:a="http://schemas.openxmlformats.org/drawingml/2006/main">
            <a:off x="8812500" y="22406250"/>
            <a:ext cx="6093750" cy="6093750"/>
          </a:xfrm>
          <a:prstGeom xmlns:a="http://schemas.openxmlformats.org/drawingml/2006/main" prst="rect">
            <a:avLst/>
          </a:prstGeom>
        </p:spPr>
      </p:pic>
      <p:sp>
        <p:nvSpPr>
          <p:cNvPr id="3115" name="scale-50×-R152">
            <a:extLst xmlns:a="http://schemas.openxmlformats.org/drawingml/2006/main">
              <a:ext uri="{FF2B5EF4-FFF2-40B4-BE49-F238E27FC236}">
                <a16:creationId xmlns:a16="http://schemas.microsoft.com/office/drawing/2014/main" id="{10C042BA-A484-489D-9EEB-16485E6C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2824" y="28068750"/>
            <a:ext cx="7815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625">
            <a:solidFill>
              <a:srgbClr val="FFFFFF"/>
            </a:solidFill>
          </a:ln>
        </p:spPr>
      </p:sp>
      <p:sp>
        <p:nvSpPr>
          <p:cNvPr id="3116" name="scale-label-50×-R152">
            <a:extLst xmlns:a="http://schemas.openxmlformats.org/drawingml/2006/main">
              <a:ext uri="{FF2B5EF4-FFF2-40B4-BE49-F238E27FC236}">
                <a16:creationId xmlns:a16="http://schemas.microsoft.com/office/drawing/2014/main" id="{9C5BED63-C916-45C6-82DE-6627A611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5324" y="27515625"/>
            <a:ext cx="1156551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17" name="fig1_caption">
            <a:extLst xmlns:a="http://schemas.openxmlformats.org/drawingml/2006/main">
              <a:ext uri="{FF2B5EF4-FFF2-40B4-BE49-F238E27FC236}">
                <a16:creationId xmlns:a16="http://schemas.microsoft.com/office/drawing/2014/main" id="{DF6941CC-0225-4718-90A0-3712F1B5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8687500"/>
            <a:ext cx="13875000" cy="8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Representative pillar fields at 20× and 50×. R152 yields clearer boundaries on the native pixel grid. Scale bars: 2 µm.</a:t>
            </a:r>
          </a:p>
        </p:txBody>
      </p:sp>
      <p:sp>
        <p:nvSpPr>
          <p:cNvPr id="3118" name="methods_body">
            <a:extLst xmlns:a="http://schemas.openxmlformats.org/drawingml/2006/main">
              <a:ext uri="{FF2B5EF4-FFF2-40B4-BE49-F238E27FC236}">
                <a16:creationId xmlns:a16="http://schemas.microsoft.com/office/drawing/2014/main" id="{0DDDB29B-0797-470D-9339-CD94D201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1406250"/>
            <a:ext cx="13875000" cy="29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R152 combines PSF-guided reconstruction, anti-aliased processing and bounded output correction. The optical inputs comprise 25 kernels at 20× and one calibrated kernel at 50×.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All image methods share one LSC pipeline [3, 4]. Each pillar uses 720 radial samples and three center-refinement passes. The median horizontal shift of nine pillars defines each step.</a:t>
            </a:r>
          </a:p>
        </p:txBody>
      </p:sp>
      <p:sp>
        <p:nvSpPr>
          <p:cNvPr id="3119" name="experiment_table_label">
            <a:extLst xmlns:a="http://schemas.openxmlformats.org/drawingml/2006/main">
              <a:ext uri="{FF2B5EF4-FFF2-40B4-BE49-F238E27FC236}">
                <a16:creationId xmlns:a16="http://schemas.microsoft.com/office/drawing/2014/main" id="{3DAB68A4-1828-4DA4-99D1-DE0A7D4C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4593750"/>
            <a:ext cx="13781250" cy="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#1. Locked acquisition conditions</a:t>
            </a:r>
          </a:p>
        </p:txBody>
      </p:sp>
      <p:graphicFrame>
        <p:nvGraphicFramePr>
          <p:cNvPr id="3167" name=""/>
          <p:cNvGraphicFramePr/>
          <p:nvPr/>
        </p:nvGraphicFramePr>
        <p:xfrm>
          <a:off xmlns:a="http://schemas.openxmlformats.org/drawingml/2006/main" x="1218750" y="35343750"/>
          <a:ext xmlns:a="http://schemas.openxmlformats.org/drawingml/2006/main" cx="13781250" cy="397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50000"/>
                <a:gridCol w="3375000"/>
                <a:gridCol w="2812500"/>
                <a:gridCol w="3843750"/>
              </a:tblGrid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(µm)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Pairs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5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9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1" name="metric_definitions">
            <a:extLst xmlns:a="http://schemas.openxmlformats.org/drawingml/2006/main">
              <a:ext uri="{FF2B5EF4-FFF2-40B4-BE49-F238E27FC236}">
                <a16:creationId xmlns:a16="http://schemas.microsoft.com/office/drawing/2014/main" id="{984FE4F3-5ABD-4A2E-B596-78877370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9843750"/>
            <a:ext cx="13687500" cy="173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SD: mean of four condition-level standard deviations.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Nominal MAE: mean absolute difference from the set step.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Within-grid SD: median of 120 nine-pillar standard deviations.</a:t>
            </a:r>
          </a:p>
        </p:txBody>
      </p:sp>
      <p:sp>
        <p:nvSpPr>
          <p:cNvPr id="3122" name="result_hero">
            <a:extLst xmlns:a="http://schemas.openxmlformats.org/drawingml/2006/main">
              <a:ext uri="{FF2B5EF4-FFF2-40B4-BE49-F238E27FC236}">
                <a16:creationId xmlns:a16="http://schemas.microsoft.com/office/drawing/2014/main" id="{746C7788-F290-427D-8D75-CFF2BF07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0171875"/>
            <a:ext cx="7968750" cy="23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4600" b="1" i="0">
                <a:solidFill>
                  <a:srgbClr val="003064"/>
                </a:solidFill>
                <a:latin typeface="Arial"/>
                <a:ea typeface="Arial"/>
                <a:cs typeface="Arial"/>
              </a:defRPr>
            </a:pPr>
            <a:r>
              <a:rPr sz="14600" b="1" i="0">
                <a:solidFill>
                  <a:srgbClr val="003064"/>
                </a:solidFill>
                <a:latin typeface="Arial"/>
                <a:ea typeface="Arial"/>
                <a:cs typeface="Arial"/>
              </a:rPr>
              <a:t>60.8%</a:t>
            </a:r>
          </a:p>
        </p:txBody>
      </p:sp>
      <p:sp>
        <p:nvSpPr>
          <p:cNvPr id="3123" name="result_scope">
            <a:extLst xmlns:a="http://schemas.openxmlformats.org/drawingml/2006/main">
              <a:ext uri="{FF2B5EF4-FFF2-40B4-BE49-F238E27FC236}">
                <a16:creationId xmlns:a16="http://schemas.microsoft.com/office/drawing/2014/main" id="{775A853A-2C53-4A1F-8BC2-94842F9A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1250" y="10687500"/>
            <a:ext cx="4921875" cy="160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120 paired steps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4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 and 50×</a:t>
            </a:r>
          </a:p>
        </p:txBody>
      </p:sp>
      <p:sp>
        <p:nvSpPr>
          <p:cNvPr id="3124" name="result_hero_label">
            <a:extLst xmlns:a="http://schemas.openxmlformats.org/drawingml/2006/main">
              <a:ext uri="{FF2B5EF4-FFF2-40B4-BE49-F238E27FC236}">
                <a16:creationId xmlns:a16="http://schemas.microsoft.com/office/drawing/2014/main" id="{C2F429CC-6FC6-4F81-9BBA-9A606650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2750000"/>
            <a:ext cx="13593750" cy="8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Lower median within-grid SD versus Raw</a:t>
            </a:r>
          </a:p>
        </p:txBody>
      </p:sp>
      <p:sp>
        <p:nvSpPr>
          <p:cNvPr id="3125" name="results_table_label">
            <a:extLst xmlns:a="http://schemas.openxmlformats.org/drawingml/2006/main">
              <a:ext uri="{FF2B5EF4-FFF2-40B4-BE49-F238E27FC236}">
                <a16:creationId xmlns:a16="http://schemas.microsoft.com/office/drawing/2014/main" id="{0E00CA08-39BD-4204-B909-EA8690DD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13903125"/>
            <a:ext cx="13687500" cy="60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#2. Aggregate displacement results (nm)</a:t>
            </a:r>
          </a:p>
        </p:txBody>
      </p:sp>
      <p:graphicFrame>
        <p:nvGraphicFramePr>
          <p:cNvPr id="3173" name=""/>
          <p:cNvGraphicFramePr/>
          <p:nvPr/>
        </p:nvGraphicFramePr>
        <p:xfrm>
          <a:off xmlns:a="http://schemas.openxmlformats.org/drawingml/2006/main" x="17156250" y="14700000"/>
          <a:ext xmlns:a="http://schemas.openxmlformats.org/drawingml/2006/main" cx="13781250" cy="376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6250"/>
                <a:gridCol w="3187500"/>
                <a:gridCol w="3562500"/>
                <a:gridCol w="4125000"/>
              </a:tblGrid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Method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SD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Nominal MAE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Median</a:t>
                      </a:r>
                    </a:p>
                    <a:p>
                      <a:pPr algn="ctr"/>
                      <a:r>
                        <a:rPr sz="28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within-grid SD</a:t>
                      </a:r>
                    </a:p>
                  </a:txBody>
                  <a:tcPr marL="91440" marR="91440" marT="45720" marB="45720" anchor="ctr">
                    <a:solidFill>
                      <a:srgbClr val="E8EFF8"/>
                    </a:solidFill>
                  </a:tcPr>
                </a:tc>
              </a:tr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8.84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Wiener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6.54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6.45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42188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R152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7.11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800" b="1">
                          <a:solidFill>
                            <a:srgbClr val="003064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4.26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7" name="fig2_label">
            <a:extLst xmlns:a="http://schemas.openxmlformats.org/drawingml/2006/main">
              <a:ext uri="{FF2B5EF4-FFF2-40B4-BE49-F238E27FC236}">
                <a16:creationId xmlns:a16="http://schemas.microsoft.com/office/drawing/2014/main" id="{5DBFBC91-53B9-428A-8E3B-F87A52DC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7500" y="18843750"/>
            <a:ext cx="7218750" cy="104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6000" b="1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0" b="1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Figure #2</a:t>
            </a:r>
          </a:p>
        </p:txBody>
      </p:sp>
      <p:graphicFrame>
        <p:nvGraphicFramePr>
          <p:cNvPr id="3175" name="Chart"/>
          <p:cNvGraphicFramePr/>
          <p:nvPr/>
        </p:nvGraphicFramePr>
        <p:xfrm>
          <a:off xmlns:a="http://schemas.openxmlformats.org/drawingml/2006/main" x="17043750" y="20062500"/>
          <a:ext xmlns:a="http://schemas.openxmlformats.org/drawingml/2006/main" cx="14156250" cy="609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8d38b9080c4f09"/>
          </a:graphicData>
        </a:graphic>
      </p:graphicFrame>
      <p:sp>
        <p:nvSpPr>
          <p:cNvPr id="3129" name="fig2_caption">
            <a:extLst xmlns:a="http://schemas.openxmlformats.org/drawingml/2006/main">
              <a:ext uri="{FF2B5EF4-FFF2-40B4-BE49-F238E27FC236}">
                <a16:creationId xmlns:a16="http://schemas.microsoft.com/office/drawing/2014/main" id="{C591B4CB-3A48-4A11-BAD9-A7F44C42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6625000"/>
            <a:ext cx="13875000" cy="98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R152 achieves the lowest measured values for all three criteria across the four imaging conditions.</a:t>
            </a:r>
          </a:p>
        </p:txBody>
      </p:sp>
      <p:sp>
        <p:nvSpPr>
          <p:cNvPr id="3130" name="conclusions_body">
            <a:extLst xmlns:a="http://schemas.openxmlformats.org/drawingml/2006/main">
              <a:ext uri="{FF2B5EF4-FFF2-40B4-BE49-F238E27FC236}">
                <a16:creationId xmlns:a16="http://schemas.microsoft.com/office/drawing/2014/main" id="{7F9CAD8F-D272-4C89-A090-E04CB025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9625000"/>
            <a:ext cx="13781250" cy="59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R152 reduces median within-grid variation from 10.86 nm to 4.26 nm, a 60.8% reduction relative to Raw.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SD and nominal MAE decrease by 19.5% and 23.1%, respectively. The same learned weights deliver the lowest measured values in every tested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Step variation reaches 0.056 pixel at 20× and 0.067 pixel at 50×. R152 combines clear pillar boundaries with stronger positional consistency across both objectives.</a:t>
            </a:r>
          </a:p>
        </p:txBody>
      </p:sp>
      <p:sp>
        <p:nvSpPr>
          <p:cNvPr id="3131" name="bibliography_body">
            <a:extLst xmlns:a="http://schemas.openxmlformats.org/drawingml/2006/main">
              <a:ext uri="{FF2B5EF4-FFF2-40B4-BE49-F238E27FC236}">
                <a16:creationId xmlns:a16="http://schemas.microsoft.com/office/drawing/2014/main" id="{C058CB04-947E-4297-90BB-14ACF100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7575000"/>
            <a:ext cx="13687500" cy="376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2041052041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2026-09-29T15:27:07.2100000Z</dcterms:created>
  <dcterms:modified xsi:type="dcterms:W3CDTF">2026-09-29T15:27:07.2100000Z</dcterms:modified>
</coreProperties>
</file>