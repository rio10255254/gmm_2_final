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788e07a5a454f2f" /><Relationship Type="http://schemas.openxmlformats.org/officeDocument/2006/relationships/extended-properties" Target="/docProps/app.xml" Id="R5c3dc57deddc4720" /><Relationship Type="http://schemas.openxmlformats.org/officeDocument/2006/relationships/officeDocument" Target="/ppt/presentation.xml" Id="Re0ef266c00be4d8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11d2bc75fc4cdf"/>
  </p:sldMasterIdLst>
  <p:notesMasterIdLst>
    <p:notesMasterId xmlns:r="http://schemas.openxmlformats.org/officeDocument/2006/relationships" r:id="Rc223f00bfc6340c0"/>
  </p:notesMasterIdLst>
  <p:sldIdLst>
    <p:sldId xmlns:r="http://schemas.openxmlformats.org/officeDocument/2006/relationships" id="256" r:id="R9f7994c2e5e14080"/>
  </p:sldIdLst>
  <p:sldSz cx="32400000" cy="4320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f2f23e3dafe4ace" /><Relationship Type="http://schemas.openxmlformats.org/officeDocument/2006/relationships/slideMaster" Target="/ppt/slideMasters/slideMaster1.xml" Id="R4011d2bc75fc4cdf" /><Relationship Type="http://schemas.openxmlformats.org/officeDocument/2006/relationships/notesMaster" Target="/ppt/notesMasters/notesMaster1.xml" Id="Rc223f00bfc6340c0" /><Relationship Type="http://schemas.openxmlformats.org/officeDocument/2006/relationships/presProps" Target="/ppt/presProps.xml" Id="R95f3f11fed794062" /><Relationship Type="http://schemas.openxmlformats.org/officeDocument/2006/relationships/viewProps" Target="/ppt/viewProps.xml" Id="Rba92286471724046" /><Relationship Type="http://schemas.openxmlformats.org/officeDocument/2006/relationships/tableStyles" Target="/ppt/tableStyles.xml" Id="R8376934ca02e449a" /><Relationship Type="http://schemas.openxmlformats.org/officeDocument/2006/relationships/slide" Target="/ppt/slides/slide1.xml" Id="R9f7994c2e5e140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3fe959dbdf641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4ab33becf54fda" /><Relationship Type="http://schemas.openxmlformats.org/officeDocument/2006/relationships/notesMaster" Target="/ppt/notesMasters/notesMaster1.xml" Id="R249dadb87e844fa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IMPACT2026 TW0243. Public model name: MOSR. This poster presents an updated evaluation at a nominal 1 micrometer step. The 20x condition uses one complete 31-frame evaluation scan; the 50x condition uses its fixed prior list of 30 adjacent-frame pairs. Conditions are reported separately. All methods use the same image pairs, identities, scale and center-estimation procedure within each condition. Fig. 2 is a functional overview, not an isolated-component efficacy result. Fig. 3 uses measured boundary points and a fitted center from the displayed 20x MOSR field. The curves contain all 30 observed displacements per condition and method, minus nominal 1000 nm for display; no per-method centering, detrending or smoothing is applied. Sources for method context: Ronneberger et al., MICCAI 2015; Zhang, ICML 2019; Chan and Vese, IEEE TIP 2001; Chernov and Lesort, JMIV 2005.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2e65082f6e444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828d52691c40b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6e3ff8807b406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a387bc112b47b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5d2e4a65ee4cd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9d0a3ded23493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e23b43a9114d0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379467063443b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1e4caa956e429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6133f40b5b4fc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ef8037ed9a48e7" /></Relationships>
</file>

<file path=ppt/slideLayouts/slideLayout1.xml><?xml version="1.0" encoding="utf-8"?>
<p:sldLayout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2E408086-EAF8-45E3-BFD7-1AB6D6FD8FE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468563" y="13635038"/>
            <a:ext cx="27981275" cy="9407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副標題 2">
            <a:extLst xmlns:a="http://schemas.openxmlformats.org/drawingml/2006/main">
              <a:ext uri="{FF2B5EF4-FFF2-40B4-BE49-F238E27FC236}">
                <a16:creationId xmlns:a16="http://schemas.microsoft.com/office/drawing/2014/main" id="{CA7F62CB-05FD-429E-BFC5-3716A22CDBB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937125" y="24871363"/>
            <a:ext cx="23044150" cy="11217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 xmlns:a="http://schemas.openxmlformats.org/drawingml/2006/main">
            <a:r>
              <a:t>按一下以編輯母片副標題樣式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46538775-CE93-4CFD-A89F-B9A735C079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EAD36F17-30DC-4254-9A3F-A4929F66799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646238" y="10240963"/>
            <a:ext cx="29625925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F2AE3B74-81F9-45C8-9749-4CFA838838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00325" y="28203525"/>
            <a:ext cx="27981275" cy="8718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D6079327-ED5D-46E8-B8B2-6A8BCCCF17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600325" y="18602325"/>
            <a:ext cx="27981275" cy="960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3521E912-E809-478E-8095-3AA955C7AC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578AC39D-F121-445F-AE6B-6020EA38370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646238" y="10240963"/>
            <a:ext cx="14736762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C26CE016-F93C-4A44-96D7-E72AA12C7D4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6535400" y="10240963"/>
            <a:ext cx="14736763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7C90C65F-B82E-44C7-98C9-8E5A0C8F81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CC6749D6-A534-492E-B708-DD056CCEF6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46238" y="9825038"/>
            <a:ext cx="14544675" cy="40941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0C493732-4F33-4CFA-81F1-1077F2A8135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646238" y="13919200"/>
            <a:ext cx="14544675" cy="25288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5" name="文字版面配置區 4">
            <a:extLst xmlns:a="http://schemas.openxmlformats.org/drawingml/2006/main">
              <a:ext uri="{FF2B5EF4-FFF2-40B4-BE49-F238E27FC236}">
                <a16:creationId xmlns:a16="http://schemas.microsoft.com/office/drawing/2014/main" id="{9486FCC7-792A-41F7-8B25-7B6012F6D5B6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16722725" y="9825038"/>
            <a:ext cx="14549438" cy="40941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6" name="內容版面配置區 5">
            <a:extLst xmlns:a="http://schemas.openxmlformats.org/drawingml/2006/main">
              <a:ext uri="{FF2B5EF4-FFF2-40B4-BE49-F238E27FC236}">
                <a16:creationId xmlns:a16="http://schemas.microsoft.com/office/drawing/2014/main" id="{0C8D23BA-462C-4263-8F48-88B089EDB61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16722725" y="13919200"/>
            <a:ext cx="14549438" cy="25288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F3DC36E8-6CBF-4E29-8F14-63EC1EB86F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8.xml><?xml version="1.0" encoding="utf-8"?>
<p:sldLayout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DA238C99-66E7-479B-A0CC-1D3ED0C73E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47838"/>
            <a:ext cx="10829925" cy="74374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272B08A7-6C1F-40E3-8C9E-46223F4EB19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869863" y="1747838"/>
            <a:ext cx="18402300" cy="374602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文字版面配置區 3">
            <a:extLst xmlns:a="http://schemas.openxmlformats.org/drawingml/2006/main">
              <a:ext uri="{FF2B5EF4-FFF2-40B4-BE49-F238E27FC236}">
                <a16:creationId xmlns:a16="http://schemas.microsoft.com/office/drawing/2014/main" id="{F2517DE1-1760-4924-A9F4-64B552AA6DC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646238" y="9185275"/>
            <a:ext cx="10829925" cy="30022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E18D1863-6C0A-40C2-A14A-BF4C93D8AB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51600" y="30724475"/>
            <a:ext cx="19751675" cy="3625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圖片版面配置區 2">
            <a:extLst xmlns:a="http://schemas.openxmlformats.org/drawingml/2006/main">
              <a:ext uri="{FF2B5EF4-FFF2-40B4-BE49-F238E27FC236}">
                <a16:creationId xmlns:a16="http://schemas.microsoft.com/office/drawing/2014/main" id="{1D389902-14A9-4AD1-87BF-B2027036AE95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6451600" y="3921125"/>
            <a:ext cx="19751675" cy="263350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文字版面配置區 3">
            <a:extLst xmlns:a="http://schemas.openxmlformats.org/drawingml/2006/main">
              <a:ext uri="{FF2B5EF4-FFF2-40B4-BE49-F238E27FC236}">
                <a16:creationId xmlns:a16="http://schemas.microsoft.com/office/drawing/2014/main" id="{44419BC6-B893-4438-9C43-BADD196E98F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51600" y="34350325"/>
            <a:ext cx="19751675" cy="5151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C412B3E9-4D32-4965-9767-9FF817B16A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直排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C87F8207-4E0B-4620-9C54-963DDFBC33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46238" y="10240963"/>
            <a:ext cx="29625925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直排標題 1">
            <a:extLst xmlns:a="http://schemas.openxmlformats.org/drawingml/2006/main">
              <a:ext uri="{FF2B5EF4-FFF2-40B4-BE49-F238E27FC236}">
                <a16:creationId xmlns:a16="http://schemas.microsoft.com/office/drawing/2014/main" id="{744C1F82-D0C0-418C-B6EA-C7687DA764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66475" y="1757363"/>
            <a:ext cx="7405688" cy="374507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直排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FC8073D7-A873-4610-B104-6AF994A7A36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46238" y="1757363"/>
            <a:ext cx="22067837" cy="374507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897573f79e04fc4" /><Relationship Type="http://schemas.openxmlformats.org/officeDocument/2006/relationships/slideLayout" Target="/ppt/slideLayouts/slideLayout1.xml" Id="R196aecf818024b07" /><Relationship Type="http://schemas.openxmlformats.org/officeDocument/2006/relationships/slideLayout" Target="/ppt/slideLayouts/slideLayout2.xml" Id="R0c82f8e95d044d4b" /><Relationship Type="http://schemas.openxmlformats.org/officeDocument/2006/relationships/slideLayout" Target="/ppt/slideLayouts/slideLayout3.xml" Id="R2ed5e112ac9d41b8" /><Relationship Type="http://schemas.openxmlformats.org/officeDocument/2006/relationships/slideLayout" Target="/ppt/slideLayouts/slideLayout4.xml" Id="R15fe38156438499d" /><Relationship Type="http://schemas.openxmlformats.org/officeDocument/2006/relationships/slideLayout" Target="/ppt/slideLayouts/slideLayout5.xml" Id="R6c7523cc325143b2" /><Relationship Type="http://schemas.openxmlformats.org/officeDocument/2006/relationships/slideLayout" Target="/ppt/slideLayouts/slideLayout6.xml" Id="Rcff92af3dc024127" /><Relationship Type="http://schemas.openxmlformats.org/officeDocument/2006/relationships/slideLayout" Target="/ppt/slideLayouts/slideLayout7.xml" Id="Rd8bd6f3f05264442" /><Relationship Type="http://schemas.openxmlformats.org/officeDocument/2006/relationships/slideLayout" Target="/ppt/slideLayouts/slideLayout8.xml" Id="R595d213f55a84e44" /><Relationship Type="http://schemas.openxmlformats.org/officeDocument/2006/relationships/slideLayout" Target="/ppt/slideLayouts/slideLayout9.xml" Id="R8343c9cde52b4108" /><Relationship Type="http://schemas.openxmlformats.org/officeDocument/2006/relationships/slideLayout" Target="/ppt/slideLayouts/slideLayout10.xml" Id="Rb8944213614047bc" /><Relationship Type="http://schemas.openxmlformats.org/officeDocument/2006/relationships/slideLayout" Target="/ppt/slideLayouts/slideLayout11.xml" Id="R97a7f473fdd44014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96aecf818024b07"/>
    <p:sldLayoutId xmlns:r="http://schemas.openxmlformats.org/officeDocument/2006/relationships" id="2147483650" r:id="R0c82f8e95d044d4b"/>
    <p:sldLayoutId xmlns:r="http://schemas.openxmlformats.org/officeDocument/2006/relationships" id="2147483651" r:id="R2ed5e112ac9d41b8"/>
    <p:sldLayoutId xmlns:r="http://schemas.openxmlformats.org/officeDocument/2006/relationships" id="2147483652" r:id="R15fe38156438499d"/>
    <p:sldLayoutId xmlns:r="http://schemas.openxmlformats.org/officeDocument/2006/relationships" id="2147483653" r:id="R6c7523cc325143b2"/>
    <p:sldLayoutId xmlns:r="http://schemas.openxmlformats.org/officeDocument/2006/relationships" id="2147483654" r:id="Rcff92af3dc024127"/>
    <p:sldLayoutId xmlns:r="http://schemas.openxmlformats.org/officeDocument/2006/relationships" id="2147483655" r:id="Rd8bd6f3f05264442"/>
    <p:sldLayoutId xmlns:r="http://schemas.openxmlformats.org/officeDocument/2006/relationships" id="2147483656" r:id="R595d213f55a84e44"/>
    <p:sldLayoutId xmlns:r="http://schemas.openxmlformats.org/officeDocument/2006/relationships" id="2147483657" r:id="R8343c9cde52b4108"/>
    <p:sldLayoutId xmlns:r="http://schemas.openxmlformats.org/officeDocument/2006/relationships" id="2147483658" r:id="Rb8944213614047bc"/>
    <p:sldLayoutId xmlns:r="http://schemas.openxmlformats.org/officeDocument/2006/relationships" id="2147483659" r:id="R97a7f473fdd44014"/>
  </p:sldLayoutIdLst>
  <p:txStyles>
    <p:titleStyle>
      <a:lvl1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+mj-lt"/>
          <a:ea typeface="+mj-lt"/>
          <a:cs typeface="+mj-lt"/>
        </a:defRPr>
      </a:lvl1pPr>
      <a:lvl2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2pPr>
      <a:lvl3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3pPr>
      <a:lvl4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4pPr>
      <a:lvl5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5pPr>
      <a:lvl6pPr xmlns:a="http://schemas.openxmlformats.org/drawingml/2006/main" marL="4572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6pPr>
      <a:lvl7pPr xmlns:a="http://schemas.openxmlformats.org/drawingml/2006/main" marL="9144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7pPr>
      <a:lvl8pPr xmlns:a="http://schemas.openxmlformats.org/drawingml/2006/main" marL="13716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8pPr>
      <a:lvl9pPr xmlns:a="http://schemas.openxmlformats.org/drawingml/2006/main" marL="18288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L="1646238" indent="-1646238" algn="l" defTabSz="4389438">
        <a:spcBef>
          <a:spcPct val="20000"/>
        </a:spcBef>
        <a:spcAft>
          <a:spcPct val="0"/>
        </a:spcAft>
        <a:buChar char="•"/>
        <a:defRPr sz="15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565525" indent="-1371600" algn="l" defTabSz="4389438">
        <a:spcBef>
          <a:spcPct val="20000"/>
        </a:spcBef>
        <a:spcAft>
          <a:spcPct val="0"/>
        </a:spcAft>
        <a:buChar char="–"/>
        <a:defRPr sz="13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486400" indent="-1096963" algn="l" defTabSz="4389438">
        <a:spcBef>
          <a:spcPct val="20000"/>
        </a:spcBef>
        <a:spcAft>
          <a:spcPct val="0"/>
        </a:spcAft>
        <a:buChar char="•"/>
        <a:defRPr sz="115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7680325" indent="-1096963" algn="l" defTabSz="4389438">
        <a:spcBef>
          <a:spcPct val="20000"/>
        </a:spcBef>
        <a:spcAft>
          <a:spcPct val="0"/>
        </a:spcAft>
        <a:buChar char="–"/>
        <a:defRPr sz="96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98758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03330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07902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112474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117046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3e44ede0ee4aa9" /><Relationship Type="http://schemas.openxmlformats.org/officeDocument/2006/relationships/image" Target="/ppt/media/image.jpeg" Id="R4002c8392a314684" /><Relationship Type="http://schemas.openxmlformats.org/officeDocument/2006/relationships/image" Target="/ppt/media/image.png" Id="R15a25b94dcd54ef2" /><Relationship Type="http://schemas.openxmlformats.org/officeDocument/2006/relationships/image" Target="/ppt/media/image2.png" Id="R00bedace7de94ff9" /><Relationship Type="http://schemas.openxmlformats.org/officeDocument/2006/relationships/image" Target="/ppt/media/image3.png" Id="R750511afa2b14e22" /><Relationship Type="http://schemas.openxmlformats.org/officeDocument/2006/relationships/image" Target="/ppt/media/image4.png" Id="R5c0c8f3b687945c3" /><Relationship Type="http://schemas.openxmlformats.org/officeDocument/2006/relationships/image" Target="/ppt/media/image5.png" Id="R107731e490f24b29" /><Relationship Type="http://schemas.openxmlformats.org/officeDocument/2006/relationships/chart" Target="/ppt/slides/charts/chart1.xml" Id="Rc24733b149d8475b" /><Relationship Type="http://schemas.openxmlformats.org/officeDocument/2006/relationships/chart" Target="/ppt/slides/charts/chart2.xml" Id="R7294f8e896da4326" /><Relationship Type="http://schemas.openxmlformats.org/officeDocument/2006/relationships/notesSlide" Target="/ppt/notesSlides/notesSlide1.xml" Id="Rf33563b2dbb14231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Raw</c:v>
          </c:tx>
          <c:spPr>
            <a:solidFill xmlns:a="http://schemas.openxmlformats.org/drawingml/2006/main">
              <a:srgbClr val="999999"/>
            </a:solidFill>
            <a:ln xmlns:a="http://schemas.openxmlformats.org/drawingml/2006/main" w="22860">
              <a:solidFill>
                <a:srgbClr val="999999"/>
              </a:solidFill>
              <a:prstDash val="solid"/>
            </a:ln>
          </c:spPr>
          <c:marker>
            <c:symbol val="triangle"/>
            <c:size val="5"/>
            <c:spPr>
              <ns0:solidFill xmlns:ns0="http://schemas.openxmlformats.org/drawingml/2006/main">
                <ns0:srgbClr val="999999"/>
              </ns0:solidFill>
              <ns1:ln xmlns:ns1="http://schemas.openxmlformats.org/drawingml/2006/main" w="9525">
                <ns1:solidFill>
                  <ns1:srgbClr val="999999"/>
                </ns1:solidFill>
              </ns1:ln>
            </c:spPr>
          </c:marker>
          <c:cat>
            <c:numRef>
              <c:f>'Chart Data'!$A$2:$A$31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'Chart Data'!$B$2:$B$31</c:f>
              <c:numCache>
                <c:formatCode>0.000</c:formatCode>
                <c:ptCount val="30"/>
                <c:pt idx="0">
                  <c:v>-5.500603</c:v>
                </c:pt>
                <c:pt idx="1">
                  <c:v>-5.908449</c:v>
                </c:pt>
                <c:pt idx="2">
                  <c:v>2.69955</c:v>
                </c:pt>
                <c:pt idx="3">
                  <c:v>4.106944</c:v>
                </c:pt>
                <c:pt idx="4">
                  <c:v>8.655457</c:v>
                </c:pt>
                <c:pt idx="5">
                  <c:v>2.396533</c:v>
                </c:pt>
                <c:pt idx="6">
                  <c:v>-8.565548</c:v>
                </c:pt>
                <c:pt idx="7">
                  <c:v>0.508422</c:v>
                </c:pt>
                <c:pt idx="8">
                  <c:v>12.650861</c:v>
                </c:pt>
                <c:pt idx="9">
                  <c:v>-5.735517</c:v>
                </c:pt>
                <c:pt idx="10">
                  <c:v>11.784784</c:v>
                </c:pt>
                <c:pt idx="11">
                  <c:v>-26.069287</c:v>
                </c:pt>
                <c:pt idx="12">
                  <c:v>5.606411</c:v>
                </c:pt>
                <c:pt idx="13">
                  <c:v>10.025318</c:v>
                </c:pt>
                <c:pt idx="14">
                  <c:v>-11.478591</c:v>
                </c:pt>
                <c:pt idx="15">
                  <c:v>20.234999</c:v>
                </c:pt>
                <c:pt idx="16">
                  <c:v>-8.759684</c:v>
                </c:pt>
                <c:pt idx="17">
                  <c:v>-4.175094</c:v>
                </c:pt>
                <c:pt idx="18">
                  <c:v>10.560885</c:v>
                </c:pt>
                <c:pt idx="19">
                  <c:v>-5.878099</c:v>
                </c:pt>
                <c:pt idx="20">
                  <c:v>4.019884</c:v>
                </c:pt>
                <c:pt idx="21">
                  <c:v>3.772859</c:v>
                </c:pt>
                <c:pt idx="22">
                  <c:v>4.2599</c:v>
                </c:pt>
                <c:pt idx="23">
                  <c:v>0.617848</c:v>
                </c:pt>
                <c:pt idx="24">
                  <c:v>7.136656</c:v>
                </c:pt>
                <c:pt idx="25">
                  <c:v>0.218938</c:v>
                </c:pt>
                <c:pt idx="26">
                  <c:v>9.489033</c:v>
                </c:pt>
                <c:pt idx="27">
                  <c:v>11.02197</c:v>
                </c:pt>
                <c:pt idx="28">
                  <c:v>-10.847007</c:v>
                </c:pt>
                <c:pt idx="29">
                  <c:v>9.775089</c:v>
                </c:pt>
              </c:numCache>
            </c:numRef>
          </c:val>
          <c:smooth val="0"/>
        </c:ser>
        <c:ser>
          <c:idx val="1"/>
          <c:order val="1"/>
          <c:tx>
            <c:v>Wiener</c:v>
          </c:tx>
          <c:spPr>
            <a:solidFill xmlns:a="http://schemas.openxmlformats.org/drawingml/2006/main">
              <a:srgbClr val="555555"/>
            </a:solidFill>
            <a:ln xmlns:a="http://schemas.openxmlformats.org/drawingml/2006/main" w="22860">
              <a:solidFill>
                <a:srgbClr val="555555"/>
              </a:solidFill>
              <a:prstDash val="dash"/>
            </a:ln>
          </c:spPr>
          <c:marker>
            <c:symbol val="square"/>
            <c:size val="5"/>
            <c:spPr>
              <ns2:solidFill xmlns:ns2="http://schemas.openxmlformats.org/drawingml/2006/main">
                <ns2:srgbClr val="555555"/>
              </ns2:solidFill>
              <ns3:ln xmlns:ns3="http://schemas.openxmlformats.org/drawingml/2006/main" w="9525">
                <ns3:solidFill>
                  <ns3:srgbClr val="555555"/>
                </ns3:solidFill>
              </ns3:ln>
            </c:spPr>
          </c:marker>
          <c:cat>
            <c:numRef>
              <c:f>'Chart Data'!$C$2:$C$31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'Chart Data'!$D$2:$D$31</c:f>
              <c:numCache>
                <c:formatCode>0.000</c:formatCode>
                <c:ptCount val="30"/>
                <c:pt idx="0">
                  <c:v>1.216177</c:v>
                </c:pt>
                <c:pt idx="1">
                  <c:v>2.717153</c:v>
                </c:pt>
                <c:pt idx="2">
                  <c:v>-5.017586</c:v>
                </c:pt>
                <c:pt idx="3">
                  <c:v>-4.797491</c:v>
                </c:pt>
                <c:pt idx="4">
                  <c:v>-6.494276</c:v>
                </c:pt>
                <c:pt idx="5">
                  <c:v>8.034867</c:v>
                </c:pt>
                <c:pt idx="6">
                  <c:v>2.334531</c:v>
                </c:pt>
                <c:pt idx="7">
                  <c:v>-0.051228</c:v>
                </c:pt>
                <c:pt idx="8">
                  <c:v>-4.941241</c:v>
                </c:pt>
                <c:pt idx="9">
                  <c:v>-2.722</c:v>
                </c:pt>
                <c:pt idx="10">
                  <c:v>5.586717</c:v>
                </c:pt>
                <c:pt idx="11">
                  <c:v>6.563323</c:v>
                </c:pt>
                <c:pt idx="12">
                  <c:v>2.912163</c:v>
                </c:pt>
                <c:pt idx="13">
                  <c:v>2.068432</c:v>
                </c:pt>
                <c:pt idx="14">
                  <c:v>-1.430616</c:v>
                </c:pt>
                <c:pt idx="15">
                  <c:v>2.43275</c:v>
                </c:pt>
                <c:pt idx="16">
                  <c:v>17.393</c:v>
                </c:pt>
                <c:pt idx="17">
                  <c:v>9.439032</c:v>
                </c:pt>
                <c:pt idx="18">
                  <c:v>7.841508</c:v>
                </c:pt>
                <c:pt idx="19">
                  <c:v>-1.531477</c:v>
                </c:pt>
                <c:pt idx="20">
                  <c:v>2.702926</c:v>
                </c:pt>
                <c:pt idx="21">
                  <c:v>-0.045107</c:v>
                </c:pt>
                <c:pt idx="22">
                  <c:v>12.382601</c:v>
                </c:pt>
                <c:pt idx="23">
                  <c:v>-0.034985</c:v>
                </c:pt>
                <c:pt idx="24">
                  <c:v>0.03399</c:v>
                </c:pt>
                <c:pt idx="25">
                  <c:v>-3.439241</c:v>
                </c:pt>
                <c:pt idx="26">
                  <c:v>11.283227</c:v>
                </c:pt>
                <c:pt idx="27">
                  <c:v>-2.529997</c:v>
                </c:pt>
                <c:pt idx="28">
                  <c:v>1.623318</c:v>
                </c:pt>
                <c:pt idx="29">
                  <c:v>-5.178834</c:v>
                </c:pt>
              </c:numCache>
            </c:numRef>
          </c:val>
          <c:smooth val="0"/>
        </c:ser>
        <c:ser>
          <c:idx val="2"/>
          <c:order val="2"/>
          <c:tx>
            <c:v>MOSR</c:v>
          </c:tx>
          <c:spPr>
            <a:solidFill xmlns:a="http://schemas.openxmlformats.org/drawingml/2006/main">
              <a:srgbClr val="111111"/>
            </a:solidFill>
            <a:ln xmlns:a="http://schemas.openxmlformats.org/drawingml/2006/main" w="33338">
              <a:solidFill>
                <a:srgbClr val="111111"/>
              </a:solidFill>
              <a:prstDash val="solid"/>
            </a:ln>
          </c:spPr>
          <c:marker>
            <c:symbol val="circle"/>
            <c:size val="6"/>
            <c:spPr>
              <ns4:solidFill xmlns:ns4="http://schemas.openxmlformats.org/drawingml/2006/main">
                <ns4:srgbClr val="111111"/>
              </ns4:solidFill>
              <ns5:ln xmlns:ns5="http://schemas.openxmlformats.org/drawingml/2006/main" w="9525">
                <ns5:solidFill>
                  <ns5:srgbClr val="111111"/>
                </ns5:solidFill>
              </ns5:ln>
            </c:spPr>
          </c:marker>
          <c:cat>
            <c:numRef>
              <c:f>'Chart Data'!$E$2:$E$31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'Chart Data'!$F$2:$F$31</c:f>
              <c:numCache>
                <c:formatCode>0.000</c:formatCode>
                <c:ptCount val="30"/>
                <c:pt idx="0">
                  <c:v>-3.227868</c:v>
                </c:pt>
                <c:pt idx="1">
                  <c:v>2.710964</c:v>
                </c:pt>
                <c:pt idx="2">
                  <c:v>-2.745939</c:v>
                </c:pt>
                <c:pt idx="3">
                  <c:v>-10.368061</c:v>
                </c:pt>
                <c:pt idx="4">
                  <c:v>-3.924594</c:v>
                </c:pt>
                <c:pt idx="5">
                  <c:v>9.661482</c:v>
                </c:pt>
                <c:pt idx="6">
                  <c:v>-1.869753</c:v>
                </c:pt>
                <c:pt idx="7">
                  <c:v>-3.653498</c:v>
                </c:pt>
                <c:pt idx="8">
                  <c:v>2.079089</c:v>
                </c:pt>
                <c:pt idx="9">
                  <c:v>1.76388</c:v>
                </c:pt>
                <c:pt idx="10">
                  <c:v>-0.209511</c:v>
                </c:pt>
                <c:pt idx="11">
                  <c:v>6.087434</c:v>
                </c:pt>
                <c:pt idx="12">
                  <c:v>0.209496</c:v>
                </c:pt>
                <c:pt idx="13">
                  <c:v>2.521649</c:v>
                </c:pt>
                <c:pt idx="14">
                  <c:v>4.634937</c:v>
                </c:pt>
                <c:pt idx="15">
                  <c:v>5.615431</c:v>
                </c:pt>
                <c:pt idx="16">
                  <c:v>0.258603</c:v>
                </c:pt>
                <c:pt idx="17">
                  <c:v>1.537293</c:v>
                </c:pt>
                <c:pt idx="18">
                  <c:v>1.837462</c:v>
                </c:pt>
                <c:pt idx="19">
                  <c:v>1.170726</c:v>
                </c:pt>
                <c:pt idx="20">
                  <c:v>1.593509</c:v>
                </c:pt>
                <c:pt idx="21">
                  <c:v>1.493215</c:v>
                </c:pt>
                <c:pt idx="22">
                  <c:v>5.060378</c:v>
                </c:pt>
                <c:pt idx="23">
                  <c:v>-2.324919</c:v>
                </c:pt>
                <c:pt idx="24">
                  <c:v>8.597368</c:v>
                </c:pt>
                <c:pt idx="25">
                  <c:v>4.286585</c:v>
                </c:pt>
                <c:pt idx="26">
                  <c:v>0.363105</c:v>
                </c:pt>
                <c:pt idx="27">
                  <c:v>5.261717</c:v>
                </c:pt>
                <c:pt idx="28">
                  <c:v>4.081247</c:v>
                </c:pt>
                <c:pt idx="29">
                  <c:v>1.123131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75" b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Step number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11111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  <c:tickLblPos val="low"/>
      </c:catAx>
      <c:valAx>
        <c:axId val="48672768"/>
        <c:scaling>
          <c:orientation val="minMax"/>
          <c:max val="30"/>
          <c:min val="-30"/>
        </c:scaling>
        <c:delete val="0"/>
        <c:axPos val="l"/>
        <c:majorGridlines>
          <c:spPr>
            <a:ln xmlns:a="http://schemas.openxmlformats.org/drawingml/2006/main" w="7620">
              <a:solidFill>
                <a:srgbClr val="D6D6D6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2100" b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Measured step − 1 µm (nm)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00" b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" sourceLinked="0"/>
        <c:majorTickMark val="none"/>
        <c:minorTickMark val="none"/>
        <c:spPr>
          <a:ln xmlns:a="http://schemas.openxmlformats.org/drawingml/2006/main" w="11430">
            <a:solidFill>
              <a:srgbClr val="11111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10"/>
        <c:crosses val="mi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175" b="0">
              <a:solidFill>
                <a:srgbClr val="111111"/>
              </a:solidFill>
              <a:latin typeface="Times New Roman"/>
              <a:ea typeface="Times New Roman"/>
              <a:cs typeface="Times New Roman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Raw</c:v>
          </c:tx>
          <c:spPr>
            <a:solidFill xmlns:a="http://schemas.openxmlformats.org/drawingml/2006/main">
              <a:srgbClr val="999999"/>
            </a:solidFill>
            <a:ln xmlns:a="http://schemas.openxmlformats.org/drawingml/2006/main" w="22860">
              <a:solidFill>
                <a:srgbClr val="999999"/>
              </a:solidFill>
              <a:prstDash val="solid"/>
            </a:ln>
          </c:spPr>
          <c:marker>
            <c:symbol val="triangle"/>
            <c:size val="5"/>
            <c:spPr>
              <ns0:solidFill xmlns:ns0="http://schemas.openxmlformats.org/drawingml/2006/main">
                <ns0:srgbClr val="999999"/>
              </ns0:solidFill>
              <ns1:ln xmlns:ns1="http://schemas.openxmlformats.org/drawingml/2006/main" w="9525">
                <ns1:solidFill>
                  <ns1:srgbClr val="999999"/>
                </ns1:solidFill>
              </ns1:ln>
            </c:spPr>
          </c:marker>
          <c:cat>
            <c:numRef>
              <c:f>'Chart Data'!$A$2:$A$31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'Chart Data'!$B$2:$B$31</c:f>
              <c:numCache>
                <c:formatCode>0.000</c:formatCode>
                <c:ptCount val="30"/>
                <c:pt idx="0">
                  <c:v>2.686368</c:v>
                </c:pt>
                <c:pt idx="1">
                  <c:v>9.182534</c:v>
                </c:pt>
                <c:pt idx="2">
                  <c:v>2.138453</c:v>
                </c:pt>
                <c:pt idx="3">
                  <c:v>19.038464</c:v>
                </c:pt>
                <c:pt idx="4">
                  <c:v>7.55241</c:v>
                </c:pt>
                <c:pt idx="5">
                  <c:v>8.292485</c:v>
                </c:pt>
                <c:pt idx="6">
                  <c:v>1.938353</c:v>
                </c:pt>
                <c:pt idx="7">
                  <c:v>0.169756</c:v>
                </c:pt>
                <c:pt idx="8">
                  <c:v>12.516923</c:v>
                </c:pt>
                <c:pt idx="9">
                  <c:v>-7.524604</c:v>
                </c:pt>
                <c:pt idx="10">
                  <c:v>7.555743</c:v>
                </c:pt>
                <c:pt idx="11">
                  <c:v>-6.01632</c:v>
                </c:pt>
                <c:pt idx="12">
                  <c:v>2.937759</c:v>
                </c:pt>
                <c:pt idx="13">
                  <c:v>4.849974</c:v>
                </c:pt>
                <c:pt idx="14">
                  <c:v>-1.991931</c:v>
                </c:pt>
                <c:pt idx="15">
                  <c:v>7.006504</c:v>
                </c:pt>
                <c:pt idx="16">
                  <c:v>10.385565</c:v>
                </c:pt>
                <c:pt idx="17">
                  <c:v>4.370432</c:v>
                </c:pt>
                <c:pt idx="18">
                  <c:v>-4.605217</c:v>
                </c:pt>
                <c:pt idx="19">
                  <c:v>1.729503</c:v>
                </c:pt>
                <c:pt idx="20">
                  <c:v>6.639988</c:v>
                </c:pt>
                <c:pt idx="21">
                  <c:v>2.952791</c:v>
                </c:pt>
                <c:pt idx="22">
                  <c:v>1.565323</c:v>
                </c:pt>
                <c:pt idx="23">
                  <c:v>-1.842113</c:v>
                </c:pt>
                <c:pt idx="24">
                  <c:v>11.002118</c:v>
                </c:pt>
                <c:pt idx="25">
                  <c:v>7.265897</c:v>
                </c:pt>
                <c:pt idx="26">
                  <c:v>-3.046962</c:v>
                </c:pt>
                <c:pt idx="27">
                  <c:v>12.251693</c:v>
                </c:pt>
                <c:pt idx="28">
                  <c:v>1.922943</c:v>
                </c:pt>
                <c:pt idx="29">
                  <c:v>4.484335</c:v>
                </c:pt>
              </c:numCache>
            </c:numRef>
          </c:val>
          <c:smooth val="0"/>
        </c:ser>
        <c:ser>
          <c:idx val="1"/>
          <c:order val="1"/>
          <c:tx>
            <c:v>Wiener</c:v>
          </c:tx>
          <c:spPr>
            <a:solidFill xmlns:a="http://schemas.openxmlformats.org/drawingml/2006/main">
              <a:srgbClr val="555555"/>
            </a:solidFill>
            <a:ln xmlns:a="http://schemas.openxmlformats.org/drawingml/2006/main" w="22860">
              <a:solidFill>
                <a:srgbClr val="555555"/>
              </a:solidFill>
              <a:prstDash val="dash"/>
            </a:ln>
          </c:spPr>
          <c:marker>
            <c:symbol val="square"/>
            <c:size val="5"/>
            <c:spPr>
              <ns2:solidFill xmlns:ns2="http://schemas.openxmlformats.org/drawingml/2006/main">
                <ns2:srgbClr val="555555"/>
              </ns2:solidFill>
              <ns3:ln xmlns:ns3="http://schemas.openxmlformats.org/drawingml/2006/main" w="9525">
                <ns3:solidFill>
                  <ns3:srgbClr val="555555"/>
                </ns3:solidFill>
              </ns3:ln>
            </c:spPr>
          </c:marker>
          <c:cat>
            <c:numRef>
              <c:f>'Chart Data'!$C$2:$C$31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'Chart Data'!$D$2:$D$31</c:f>
              <c:numCache>
                <c:formatCode>0.000</c:formatCode>
                <c:ptCount val="30"/>
                <c:pt idx="0">
                  <c:v>0.776912</c:v>
                </c:pt>
                <c:pt idx="1">
                  <c:v>9.592831</c:v>
                </c:pt>
                <c:pt idx="2">
                  <c:v>0.733851</c:v>
                </c:pt>
                <c:pt idx="3">
                  <c:v>9.536013</c:v>
                </c:pt>
                <c:pt idx="4">
                  <c:v>6.043761</c:v>
                </c:pt>
                <c:pt idx="5">
                  <c:v>8.937796</c:v>
                </c:pt>
                <c:pt idx="6">
                  <c:v>5.038577</c:v>
                </c:pt>
                <c:pt idx="7">
                  <c:v>-2.234989</c:v>
                </c:pt>
                <c:pt idx="8">
                  <c:v>8.741583</c:v>
                </c:pt>
                <c:pt idx="9">
                  <c:v>-9.188174</c:v>
                </c:pt>
                <c:pt idx="10">
                  <c:v>4.837024</c:v>
                </c:pt>
                <c:pt idx="11">
                  <c:v>2.31548</c:v>
                </c:pt>
                <c:pt idx="12">
                  <c:v>0.548453</c:v>
                </c:pt>
                <c:pt idx="13">
                  <c:v>0.922328</c:v>
                </c:pt>
                <c:pt idx="14">
                  <c:v>1.656364</c:v>
                </c:pt>
                <c:pt idx="15">
                  <c:v>7.469376</c:v>
                </c:pt>
                <c:pt idx="16">
                  <c:v>8.894075</c:v>
                </c:pt>
                <c:pt idx="17">
                  <c:v>1.793953</c:v>
                </c:pt>
                <c:pt idx="18">
                  <c:v>-7.004938</c:v>
                </c:pt>
                <c:pt idx="19">
                  <c:v>0.586654</c:v>
                </c:pt>
                <c:pt idx="20">
                  <c:v>6.626341</c:v>
                </c:pt>
                <c:pt idx="21">
                  <c:v>1.477375</c:v>
                </c:pt>
                <c:pt idx="22">
                  <c:v>1.980899</c:v>
                </c:pt>
                <c:pt idx="23">
                  <c:v>2.507699</c:v>
                </c:pt>
                <c:pt idx="24">
                  <c:v>3.572485</c:v>
                </c:pt>
                <c:pt idx="25">
                  <c:v>8.726712</c:v>
                </c:pt>
                <c:pt idx="26">
                  <c:v>3.90271</c:v>
                </c:pt>
                <c:pt idx="27">
                  <c:v>10.370118</c:v>
                </c:pt>
                <c:pt idx="28">
                  <c:v>7.791488</c:v>
                </c:pt>
                <c:pt idx="29">
                  <c:v>4.299462</c:v>
                </c:pt>
              </c:numCache>
            </c:numRef>
          </c:val>
          <c:smooth val="0"/>
        </c:ser>
        <c:ser>
          <c:idx val="2"/>
          <c:order val="2"/>
          <c:tx>
            <c:v>MOSR</c:v>
          </c:tx>
          <c:spPr>
            <a:solidFill xmlns:a="http://schemas.openxmlformats.org/drawingml/2006/main">
              <a:srgbClr val="111111"/>
            </a:solidFill>
            <a:ln xmlns:a="http://schemas.openxmlformats.org/drawingml/2006/main" w="33338">
              <a:solidFill>
                <a:srgbClr val="111111"/>
              </a:solidFill>
              <a:prstDash val="solid"/>
            </a:ln>
          </c:spPr>
          <c:marker>
            <c:symbol val="circle"/>
            <c:size val="6"/>
            <c:spPr>
              <ns4:solidFill xmlns:ns4="http://schemas.openxmlformats.org/drawingml/2006/main">
                <ns4:srgbClr val="111111"/>
              </ns4:solidFill>
              <ns5:ln xmlns:ns5="http://schemas.openxmlformats.org/drawingml/2006/main" w="9525">
                <ns5:solidFill>
                  <ns5:srgbClr val="111111"/>
                </ns5:solidFill>
              </ns5:ln>
            </c:spPr>
          </c:marker>
          <c:cat>
            <c:numRef>
              <c:f>'Chart Data'!$E$2:$E$31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'Chart Data'!$F$2:$F$31</c:f>
              <c:numCache>
                <c:formatCode>0.000</c:formatCode>
                <c:ptCount val="30"/>
                <c:pt idx="0">
                  <c:v>0.680232</c:v>
                </c:pt>
                <c:pt idx="1">
                  <c:v>12.242885</c:v>
                </c:pt>
                <c:pt idx="2">
                  <c:v>1.863735</c:v>
                </c:pt>
                <c:pt idx="3">
                  <c:v>12.564694</c:v>
                </c:pt>
                <c:pt idx="4">
                  <c:v>5.435655</c:v>
                </c:pt>
                <c:pt idx="5">
                  <c:v>7.208391</c:v>
                </c:pt>
                <c:pt idx="6">
                  <c:v>4.623323</c:v>
                </c:pt>
                <c:pt idx="7">
                  <c:v>-1.305476</c:v>
                </c:pt>
                <c:pt idx="8">
                  <c:v>7.424037</c:v>
                </c:pt>
                <c:pt idx="9">
                  <c:v>-7.976704</c:v>
                </c:pt>
                <c:pt idx="10">
                  <c:v>3.492664</c:v>
                </c:pt>
                <c:pt idx="11">
                  <c:v>-1.536607</c:v>
                </c:pt>
                <c:pt idx="12">
                  <c:v>0.768757</c:v>
                </c:pt>
                <c:pt idx="13">
                  <c:v>0.782678</c:v>
                </c:pt>
                <c:pt idx="14">
                  <c:v>-0.286744</c:v>
                </c:pt>
                <c:pt idx="15">
                  <c:v>4.945026</c:v>
                </c:pt>
                <c:pt idx="16">
                  <c:v>9.192739</c:v>
                </c:pt>
                <c:pt idx="17">
                  <c:v>1.055709</c:v>
                </c:pt>
                <c:pt idx="18">
                  <c:v>-5.153098</c:v>
                </c:pt>
                <c:pt idx="19">
                  <c:v>-0.645551</c:v>
                </c:pt>
                <c:pt idx="20">
                  <c:v>6.037578</c:v>
                </c:pt>
                <c:pt idx="21">
                  <c:v>0.465356</c:v>
                </c:pt>
                <c:pt idx="22">
                  <c:v>4.159249</c:v>
                </c:pt>
                <c:pt idx="23">
                  <c:v>3.294079</c:v>
                </c:pt>
                <c:pt idx="24">
                  <c:v>2.30634</c:v>
                </c:pt>
                <c:pt idx="25">
                  <c:v>6.304203</c:v>
                </c:pt>
                <c:pt idx="26">
                  <c:v>2.782126</c:v>
                </c:pt>
                <c:pt idx="27">
                  <c:v>8.773705</c:v>
                </c:pt>
                <c:pt idx="28">
                  <c:v>3.920411</c:v>
                </c:pt>
                <c:pt idx="29">
                  <c:v>2.086435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75" b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Pair number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11111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  <c:tickLblPos val="low"/>
      </c:catAx>
      <c:valAx>
        <c:axId val="48672768"/>
        <c:scaling>
          <c:orientation val="minMax"/>
          <c:max val="30"/>
          <c:min val="-30"/>
        </c:scaling>
        <c:delete val="0"/>
        <c:axPos val="l"/>
        <c:majorGridlines>
          <c:spPr>
            <a:ln xmlns:a="http://schemas.openxmlformats.org/drawingml/2006/main" w="7620">
              <a:solidFill>
                <a:srgbClr val="D6D6D6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2100" b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Measured step − 1 µm (nm)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00" b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" sourceLinked="0"/>
        <c:majorTickMark val="none"/>
        <c:minorTickMark val="none"/>
        <c:spPr>
          <a:ln xmlns:a="http://schemas.openxmlformats.org/drawingml/2006/main" w="11430">
            <a:solidFill>
              <a:srgbClr val="11111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10"/>
        <c:crosses val="mi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175" b="0">
              <a:solidFill>
                <a:srgbClr val="111111"/>
              </a:solidFill>
              <a:latin typeface="Times New Roman"/>
              <a:ea typeface="Times New Roman"/>
              <a:cs typeface="Times New Roman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 rotWithShape="0">
          <a:gsLst>
            <a:gs pos="0">
              <a:srgbClr val="003064"/>
            </a:gs>
            <a:gs pos="50000">
              <a:srgbClr val="EAEAEA"/>
            </a:gs>
            <a:gs pos="100000">
              <a:srgbClr val="003064"/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74" name="AutoShape 50">
            <a:extLst xmlns:a="http://schemas.openxmlformats.org/drawingml/2006/main">
              <a:ext uri="{FF2B5EF4-FFF2-40B4-BE49-F238E27FC236}">
                <a16:creationId xmlns:a16="http://schemas.microsoft.com/office/drawing/2014/main" id="{45AF3B16-92C9-4B63-BB99-B0A6A8300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9113" y="8037677"/>
            <a:ext cx="15244085" cy="34100749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chemeClr val="tx1"/>
            </a:solidFill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75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6B93269-FC93-4109-A79A-88E08C33E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512" y="8000176"/>
            <a:ext cx="15244085" cy="34100749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chemeClr val="tx1"/>
            </a:solidFill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77" name="Text Box 10">
            <a:extLst xmlns:a="http://schemas.openxmlformats.org/drawingml/2006/main">
              <a:ext uri="{FF2B5EF4-FFF2-40B4-BE49-F238E27FC236}">
                <a16:creationId xmlns:a16="http://schemas.microsoft.com/office/drawing/2014/main" id="{60C4A10B-A87F-4B22-82CB-DD80B26B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000" y="24890625"/>
            <a:ext cx="1406250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Methods</a:t>
            </a:r>
          </a:p>
        </p:txBody>
      </p:sp>
      <p:sp>
        <p:nvSpPr>
          <p:cNvPr id="3078" name="Text Box 11">
            <a:extLst xmlns:a="http://schemas.openxmlformats.org/drawingml/2006/main">
              <a:ext uri="{FF2B5EF4-FFF2-40B4-BE49-F238E27FC236}">
                <a16:creationId xmlns:a16="http://schemas.microsoft.com/office/drawing/2014/main" id="{221AD9D1-0226-440B-A3DA-6DD153247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8750" y="34125000"/>
            <a:ext cx="1415625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7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Conclusions</a:t>
            </a:r>
          </a:p>
        </p:txBody>
      </p:sp>
      <p:sp>
        <p:nvSpPr>
          <p:cNvPr id="3079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87001057-A9F8-4E61-ACD9-3062DE424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261" y="500011"/>
            <a:ext cx="31388190" cy="6900152"/>
          </a:xfrm>
          <a:prstGeom xmlns:a="http://schemas.openxmlformats.org/drawingml/2006/main" prst="roundRect">
            <a:avLst>
              <a:gd name="adj" fmla="val 10870"/>
            </a:avLst>
          </a:prstGeom>
          <a:gradFill xmlns:a="http://schemas.openxmlformats.org/drawingml/2006/main" rotWithShape="1">
            <a:gsLst>
              <a:gs pos="0">
                <a:srgbClr val="A7C4FF"/>
              </a:gs>
              <a:gs pos="100000">
                <a:schemeClr val="bg1"/>
              </a:gs>
            </a:gsLst>
            <a:lin ang="5400000" scaled="1"/>
          </a:gradFill>
          <a:ln xmlns:a="http://schemas.openxmlformats.org/drawingml/2006/main" w="9525">
            <a:solidFill>
              <a:schemeClr val="tx1"/>
            </a:solidFill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 defTabSz="4389438">
              <a:buNone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3080" name="Text Box 14">
            <a:extLst xmlns:a="http://schemas.openxmlformats.org/drawingml/2006/main">
              <a:ext uri="{FF2B5EF4-FFF2-40B4-BE49-F238E27FC236}">
                <a16:creationId xmlns:a16="http://schemas.microsoft.com/office/drawing/2014/main" id="{99E695A8-C601-42BC-9999-D802F08C8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000" y="2625000"/>
            <a:ext cx="30187500" cy="25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Measurement-Oriented Microscopy Reconstruction</a:t>
            </a:r>
          </a:p>
          <a:p xmlns:a="http://schemas.openxmlformats.org/drawingml/2006/main">
            <a:pPr algn="ctr" defTabSz="4389438">
              <a:lnSpc>
                <a:spcPct val="102000"/>
              </a:lnSpc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for Cross-Magnification Micro-Displacement Inspection</a:t>
            </a:r>
          </a:p>
        </p:txBody>
      </p:sp>
      <p:sp>
        <p:nvSpPr>
          <p:cNvPr id="3084" name="Text Box 27">
            <a:extLst xmlns:a="http://schemas.openxmlformats.org/drawingml/2006/main">
              <a:ext uri="{FF2B5EF4-FFF2-40B4-BE49-F238E27FC236}">
                <a16:creationId xmlns:a16="http://schemas.microsoft.com/office/drawing/2014/main" id="{4496260E-7609-40B1-B4F5-34F86E6C5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8250000"/>
            <a:ext cx="1368750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53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3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Bibliography</a:t>
            </a:r>
          </a:p>
        </p:txBody>
      </p:sp>
      <p:sp>
        <p:nvSpPr>
          <p:cNvPr id="3090" name="Text Box 42">
            <a:extLst xmlns:a="http://schemas.openxmlformats.org/drawingml/2006/main">
              <a:ext uri="{FF2B5EF4-FFF2-40B4-BE49-F238E27FC236}">
                <a16:creationId xmlns:a16="http://schemas.microsoft.com/office/drawing/2014/main" id="{C2F720DB-3B68-49C1-AE22-EF8FD779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000" y="8596875"/>
            <a:ext cx="1406250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3091" name="Text Box 43">
            <a:extLst xmlns:a="http://schemas.openxmlformats.org/drawingml/2006/main">
              <a:ext uri="{FF2B5EF4-FFF2-40B4-BE49-F238E27FC236}">
                <a16:creationId xmlns:a16="http://schemas.microsoft.com/office/drawing/2014/main" id="{76388F38-CCAD-4705-BF6E-6A1C1DFA6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8750" y="8615625"/>
            <a:ext cx="1415625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Results</a:t>
            </a:r>
          </a:p>
        </p:txBody>
      </p:sp>
      <p:sp>
        <p:nvSpPr>
          <p:cNvPr id="3092" name="Text Box 49">
            <a:extLst xmlns:a="http://schemas.openxmlformats.org/drawingml/2006/main">
              <a:ext uri="{FF2B5EF4-FFF2-40B4-BE49-F238E27FC236}">
                <a16:creationId xmlns:a16="http://schemas.microsoft.com/office/drawing/2014/main" id="{E36F28AF-EABB-4EB8-9ED7-9154CEFEE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25000" y="1846875"/>
            <a:ext cx="3796875" cy="103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2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Paper Code: TW0243</a:t>
            </a:r>
            <a:endParaRPr sz="2800" b="1" i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291" name="圖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02c8392a31468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941261" y="857832"/>
            <a:ext cx="2512555" cy="843769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138" name="authors">
            <a:extLst xmlns:a="http://schemas.openxmlformats.org/drawingml/2006/main">
              <a:ext uri="{FF2B5EF4-FFF2-40B4-BE49-F238E27FC236}">
                <a16:creationId xmlns:a16="http://schemas.microsoft.com/office/drawing/2014/main" id="{7C560146-A588-4DE1-ABC6-9A4EC5EB9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000" y="5437500"/>
            <a:ext cx="29343750" cy="67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4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Yen Hsuan Chiang, Liang-Chia Chen*</a:t>
            </a:r>
          </a:p>
        </p:txBody>
      </p:sp>
      <p:sp>
        <p:nvSpPr>
          <p:cNvPr id="3139" name="affiliation">
            <a:extLst xmlns:a="http://schemas.openxmlformats.org/drawingml/2006/main">
              <a:ext uri="{FF2B5EF4-FFF2-40B4-BE49-F238E27FC236}">
                <a16:creationId xmlns:a16="http://schemas.microsoft.com/office/drawing/2014/main" id="{4B58E497-D617-4651-AC11-183415DF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000" y="6140625"/>
            <a:ext cx="29343750" cy="51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4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4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Department of Mechanical Engineering, National Taiwan University</a:t>
            </a:r>
          </a:p>
        </p:txBody>
      </p:sp>
      <p:sp>
        <p:nvSpPr>
          <p:cNvPr id="3140" name="contact">
            <a:extLst xmlns:a="http://schemas.openxmlformats.org/drawingml/2006/main">
              <a:ext uri="{FF2B5EF4-FFF2-40B4-BE49-F238E27FC236}">
                <a16:creationId xmlns:a16="http://schemas.microsoft.com/office/drawing/2014/main" id="{A503939C-0E8E-4CEE-AF56-B779163B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750" y="6759375"/>
            <a:ext cx="29156250" cy="43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No. 1, Sec. 4, Roosevelt Rd., Taipei 10617, Taiwan.  *Correspondence: lchen@ntu.edu.tw</a:t>
            </a:r>
          </a:p>
        </p:txBody>
      </p:sp>
      <p:sp>
        <p:nvSpPr>
          <p:cNvPr id="3141" name="intro_body">
            <a:extLst xmlns:a="http://schemas.openxmlformats.org/drawingml/2006/main">
              <a:ext uri="{FF2B5EF4-FFF2-40B4-BE49-F238E27FC236}">
                <a16:creationId xmlns:a16="http://schemas.microsoft.com/office/drawing/2014/main" id="{EE268E32-3518-4213-B517-7E11D04BF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10218750"/>
            <a:ext cx="13875000" cy="365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Micro-displacement inspection requires image features that can be located consistently when the objective changes. Optical blur and pixel sampling affect the boundary signals used to estimate position.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MOSR combines calibrated optical guidance, anti-aliased multiscale features [1,2] and bounded correction on the original pixel grid. One fixed set of reconstruction weights serves 20× and 50×. We test its measurement benefit using the same circle-center procedure for Raw, fixed Wiener and MOSR.</a:t>
            </a:r>
          </a:p>
        </p:txBody>
      </p:sp>
      <p:sp>
        <p:nvSpPr>
          <p:cNvPr id="3142" name="raw_label">
            <a:extLst xmlns:a="http://schemas.openxmlformats.org/drawingml/2006/main">
              <a:ext uri="{FF2B5EF4-FFF2-40B4-BE49-F238E27FC236}">
                <a16:creationId xmlns:a16="http://schemas.microsoft.com/office/drawing/2014/main" id="{609848D0-B4CE-4E04-B28D-13BDA090D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750" y="14062500"/>
            <a:ext cx="4125000" cy="5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Raw</a:t>
            </a:r>
          </a:p>
        </p:txBody>
      </p:sp>
      <p:sp>
        <p:nvSpPr>
          <p:cNvPr id="3143" name="mosr_label">
            <a:extLst xmlns:a="http://schemas.openxmlformats.org/drawingml/2006/main">
              <a:ext uri="{FF2B5EF4-FFF2-40B4-BE49-F238E27FC236}">
                <a16:creationId xmlns:a16="http://schemas.microsoft.com/office/drawing/2014/main" id="{6FEA7324-7CA4-4980-B64A-2D9B81751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5000" y="14062500"/>
            <a:ext cx="4125000" cy="5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MOSR</a:t>
            </a:r>
          </a:p>
        </p:txBody>
      </p:sp>
      <p:sp>
        <p:nvSpPr>
          <p:cNvPr id="3144" name="mag-20x">
            <a:extLst xmlns:a="http://schemas.openxmlformats.org/drawingml/2006/main">
              <a:ext uri="{FF2B5EF4-FFF2-40B4-BE49-F238E27FC236}">
                <a16:creationId xmlns:a16="http://schemas.microsoft.com/office/drawing/2014/main" id="{CC97164A-D0C9-4AA8-B736-4A2346BF6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14578125"/>
            <a:ext cx="1406250" cy="46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7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20×</a:t>
            </a:r>
          </a:p>
        </p:txBody>
      </p:sp>
      <p:pic>
        <p:nvPicPr>
          <p:cNvPr id="32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a25b94dcd54ef2"/>
          <a:stretch xmlns:a="http://schemas.openxmlformats.org/drawingml/2006/main"/>
        </p:blipFill>
        <p:spPr>
          <a:xfrm xmlns:a="http://schemas.openxmlformats.org/drawingml/2006/main">
            <a:off x="2343750" y="15046875"/>
            <a:ext cx="4125000" cy="4125000"/>
          </a:xfrm>
          <a:prstGeom xmlns:a="http://schemas.openxmlformats.org/drawingml/2006/main" prst="rect">
            <a:avLst/>
          </a:prstGeom>
        </p:spPr>
      </p:pic>
      <p:sp>
        <p:nvSpPr>
          <p:cNvPr id="3146" name="scale-20x-Raw">
            <a:extLst xmlns:a="http://schemas.openxmlformats.org/drawingml/2006/main">
              <a:ext uri="{FF2B5EF4-FFF2-40B4-BE49-F238E27FC236}">
                <a16:creationId xmlns:a16="http://schemas.microsoft.com/office/drawing/2014/main" id="{0530189E-186F-4F68-B120-1E4D553BD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4448" y="18890625"/>
            <a:ext cx="4930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6250">
            <a:solidFill>
              <a:srgbClr val="FFFFFF"/>
            </a:solidFill>
          </a:ln>
        </p:spPr>
      </p:sp>
      <p:sp>
        <p:nvSpPr>
          <p:cNvPr id="3147" name="scale-label-20x-Raw">
            <a:extLst xmlns:a="http://schemas.openxmlformats.org/drawingml/2006/main">
              <a:ext uri="{FF2B5EF4-FFF2-40B4-BE49-F238E27FC236}">
                <a16:creationId xmlns:a16="http://schemas.microsoft.com/office/drawing/2014/main" id="{807BCDD8-3FE0-4344-B537-DEF324D6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6948" y="18440625"/>
            <a:ext cx="868052" cy="39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3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pic>
        <p:nvPicPr>
          <p:cNvPr id="33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bedace7de94ff9"/>
          <a:stretch xmlns:a="http://schemas.openxmlformats.org/drawingml/2006/main"/>
        </p:blipFill>
        <p:spPr>
          <a:xfrm xmlns:a="http://schemas.openxmlformats.org/drawingml/2006/main">
            <a:off x="9375000" y="15046875"/>
            <a:ext cx="4125000" cy="4125000"/>
          </a:xfrm>
          <a:prstGeom xmlns:a="http://schemas.openxmlformats.org/drawingml/2006/main" prst="rect">
            <a:avLst/>
          </a:prstGeom>
        </p:spPr>
      </p:pic>
      <p:sp>
        <p:nvSpPr>
          <p:cNvPr id="3149" name="scale-20x-MOSR">
            <a:extLst xmlns:a="http://schemas.openxmlformats.org/drawingml/2006/main">
              <a:ext uri="{FF2B5EF4-FFF2-40B4-BE49-F238E27FC236}">
                <a16:creationId xmlns:a16="http://schemas.microsoft.com/office/drawing/2014/main" id="{B36EB41B-4592-4DDC-94B5-86D15D0C7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698" y="18890625"/>
            <a:ext cx="4930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6250">
            <a:solidFill>
              <a:srgbClr val="FFFFFF"/>
            </a:solidFill>
          </a:ln>
        </p:spPr>
      </p:sp>
      <p:sp>
        <p:nvSpPr>
          <p:cNvPr id="3150" name="scale-label-20x-MOSR">
            <a:extLst xmlns:a="http://schemas.openxmlformats.org/drawingml/2006/main">
              <a:ext uri="{FF2B5EF4-FFF2-40B4-BE49-F238E27FC236}">
                <a16:creationId xmlns:a16="http://schemas.microsoft.com/office/drawing/2014/main" id="{838C38D0-821C-44C3-9FAC-22FF4AAEA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8198" y="18440625"/>
            <a:ext cx="868052" cy="39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3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sp>
        <p:nvSpPr>
          <p:cNvPr id="3151" name="mag-50x">
            <a:extLst xmlns:a="http://schemas.openxmlformats.org/drawingml/2006/main">
              <a:ext uri="{FF2B5EF4-FFF2-40B4-BE49-F238E27FC236}">
                <a16:creationId xmlns:a16="http://schemas.microsoft.com/office/drawing/2014/main" id="{2E765920-3552-42E8-981D-BF37E9587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19359375"/>
            <a:ext cx="1406250" cy="46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7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50×</a:t>
            </a:r>
          </a:p>
        </p:txBody>
      </p:sp>
      <p:pic>
        <p:nvPicPr>
          <p:cNvPr id="33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0511afa2b14e22"/>
          <a:stretch xmlns:a="http://schemas.openxmlformats.org/drawingml/2006/main"/>
        </p:blipFill>
        <p:spPr>
          <a:xfrm xmlns:a="http://schemas.openxmlformats.org/drawingml/2006/main">
            <a:off x="2343750" y="19837211"/>
            <a:ext cx="4125000" cy="4106828"/>
          </a:xfrm>
          <a:prstGeom xmlns:a="http://schemas.openxmlformats.org/drawingml/2006/main" prst="rect">
            <a:avLst/>
          </a:prstGeom>
        </p:spPr>
      </p:pic>
      <p:sp>
        <p:nvSpPr>
          <p:cNvPr id="3153" name="scale-50x-Raw">
            <a:extLst xmlns:a="http://schemas.openxmlformats.org/drawingml/2006/main">
              <a:ext uri="{FF2B5EF4-FFF2-40B4-BE49-F238E27FC236}">
                <a16:creationId xmlns:a16="http://schemas.microsoft.com/office/drawing/2014/main" id="{8DF63F05-520A-412B-98A5-83578E0E8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781" y="23671875"/>
            <a:ext cx="52671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6250">
            <a:solidFill>
              <a:srgbClr val="FFFFFF"/>
            </a:solidFill>
          </a:ln>
        </p:spPr>
      </p:sp>
      <p:sp>
        <p:nvSpPr>
          <p:cNvPr id="3154" name="scale-label-50x-Raw">
            <a:extLst xmlns:a="http://schemas.openxmlformats.org/drawingml/2006/main">
              <a:ext uri="{FF2B5EF4-FFF2-40B4-BE49-F238E27FC236}">
                <a16:creationId xmlns:a16="http://schemas.microsoft.com/office/drawing/2014/main" id="{4ED4C2A5-744A-4A1A-8B8F-22DA271BB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281" y="23221875"/>
            <a:ext cx="901719" cy="39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3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pic>
        <p:nvPicPr>
          <p:cNvPr id="33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0c8f3b687945c3"/>
          <a:stretch xmlns:a="http://schemas.openxmlformats.org/drawingml/2006/main"/>
        </p:blipFill>
        <p:spPr>
          <a:xfrm xmlns:a="http://schemas.openxmlformats.org/drawingml/2006/main">
            <a:off x="9375000" y="19837211"/>
            <a:ext cx="4125000" cy="4106828"/>
          </a:xfrm>
          <a:prstGeom xmlns:a="http://schemas.openxmlformats.org/drawingml/2006/main" prst="rect">
            <a:avLst/>
          </a:prstGeom>
        </p:spPr>
      </p:pic>
      <p:sp>
        <p:nvSpPr>
          <p:cNvPr id="3156" name="scale-50x-MOSR">
            <a:extLst xmlns:a="http://schemas.openxmlformats.org/drawingml/2006/main">
              <a:ext uri="{FF2B5EF4-FFF2-40B4-BE49-F238E27FC236}">
                <a16:creationId xmlns:a16="http://schemas.microsoft.com/office/drawing/2014/main" id="{26C5EB0A-8700-4F8E-8403-DE759D4E8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2031" y="23671875"/>
            <a:ext cx="52671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6250">
            <a:solidFill>
              <a:srgbClr val="FFFFFF"/>
            </a:solidFill>
          </a:ln>
        </p:spPr>
      </p:sp>
      <p:sp>
        <p:nvSpPr>
          <p:cNvPr id="3157" name="scale-label-50x-MOSR">
            <a:extLst xmlns:a="http://schemas.openxmlformats.org/drawingml/2006/main">
              <a:ext uri="{FF2B5EF4-FFF2-40B4-BE49-F238E27FC236}">
                <a16:creationId xmlns:a16="http://schemas.microsoft.com/office/drawing/2014/main" id="{1BDDACC1-766D-4AA9-BE4F-05C3BEF1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4531" y="23221875"/>
            <a:ext cx="901719" cy="39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3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sp>
        <p:nvSpPr>
          <p:cNvPr id="3158" name="figure1_caption">
            <a:extLst xmlns:a="http://schemas.openxmlformats.org/drawingml/2006/main">
              <a:ext uri="{FF2B5EF4-FFF2-40B4-BE49-F238E27FC236}">
                <a16:creationId xmlns:a16="http://schemas.microsoft.com/office/drawing/2014/main" id="{B5B53514-61B5-44FA-86BF-427BEC099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24093750"/>
            <a:ext cx="13875000" cy="77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Fig. 1. Corresponding Raw and MOSR fields at both objectives. Paired images share the crop and grayscale range. Scale bars: 2 µm.</a:t>
            </a:r>
          </a:p>
        </p:txBody>
      </p:sp>
      <p:sp>
        <p:nvSpPr>
          <p:cNvPr id="3159" name="model_heading">
            <a:extLst xmlns:a="http://schemas.openxmlformats.org/drawingml/2006/main">
              <a:ext uri="{FF2B5EF4-FFF2-40B4-BE49-F238E27FC236}">
                <a16:creationId xmlns:a16="http://schemas.microsoft.com/office/drawing/2014/main" id="{FC0BA8FD-F7E8-4C81-9A81-A278C27D0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26343750"/>
            <a:ext cx="13875000" cy="52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9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Optically guided reconstruction on the native grid</a:t>
            </a:r>
          </a:p>
        </p:txBody>
      </p:sp>
      <p:sp>
        <p:nvSpPr>
          <p:cNvPr id="3160" name="model_input">
            <a:extLst xmlns:a="http://schemas.openxmlformats.org/drawingml/2006/main">
              <a:ext uri="{FF2B5EF4-FFF2-40B4-BE49-F238E27FC236}">
                <a16:creationId xmlns:a16="http://schemas.microsoft.com/office/drawing/2014/main" id="{6DC9395C-64C7-47D9-A23C-1F9DE295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750" y="27281250"/>
            <a:ext cx="2156250" cy="131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813">
            <a:solidFill>
              <a:srgbClr val="222222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Input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image</a:t>
            </a:r>
          </a:p>
        </p:txBody>
      </p:sp>
      <p:sp>
        <p:nvSpPr>
          <p:cNvPr id="3161" name="model_context">
            <a:extLst xmlns:a="http://schemas.openxmlformats.org/drawingml/2006/main">
              <a:ext uri="{FF2B5EF4-FFF2-40B4-BE49-F238E27FC236}">
                <a16:creationId xmlns:a16="http://schemas.microsoft.com/office/drawing/2014/main" id="{EC62456A-1698-4D35-8525-0E3FD031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500" y="27281250"/>
            <a:ext cx="3093750" cy="131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813">
            <a:solidFill>
              <a:srgbClr val="222222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Anti-aliased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U-Net context</a:t>
            </a:r>
          </a:p>
        </p:txBody>
      </p:sp>
      <p:sp>
        <p:nvSpPr>
          <p:cNvPr id="3162" name="model_native">
            <a:extLst xmlns:a="http://schemas.openxmlformats.org/drawingml/2006/main">
              <a:ext uri="{FF2B5EF4-FFF2-40B4-BE49-F238E27FC236}">
                <a16:creationId xmlns:a16="http://schemas.microsoft.com/office/drawing/2014/main" id="{4AF3F1E0-D4C2-41D8-9000-487099A45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7500" y="27281250"/>
            <a:ext cx="2906250" cy="131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813">
            <a:solidFill>
              <a:srgbClr val="222222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Native-grid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4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refinement stages</a:t>
            </a:r>
          </a:p>
        </p:txBody>
      </p:sp>
      <p:sp>
        <p:nvSpPr>
          <p:cNvPr id="3163" name="model_output">
            <a:extLst xmlns:a="http://schemas.openxmlformats.org/drawingml/2006/main">
              <a:ext uri="{FF2B5EF4-FFF2-40B4-BE49-F238E27FC236}">
                <a16:creationId xmlns:a16="http://schemas.microsoft.com/office/drawing/2014/main" id="{7508F951-0DB8-4B84-942F-CB5435415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5000" y="27281250"/>
            <a:ext cx="2531250" cy="131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17813">
            <a:solidFill>
              <a:srgbClr val="222222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Input-referenced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3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bounded output</a:t>
            </a:r>
          </a:p>
        </p:txBody>
      </p:sp>
      <p:sp>
        <p:nvSpPr>
          <p:cNvPr id="3164" name="model_optical">
            <a:extLst xmlns:a="http://schemas.openxmlformats.org/drawingml/2006/main">
              <a:ext uri="{FF2B5EF4-FFF2-40B4-BE49-F238E27FC236}">
                <a16:creationId xmlns:a16="http://schemas.microsoft.com/office/drawing/2014/main" id="{338EDB8F-A4DA-4005-8496-464E71FC7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750" y="29484375"/>
            <a:ext cx="4500000" cy="98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813">
            <a:solidFill>
              <a:srgbClr val="222222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Calibrated optical guidance</a:t>
            </a:r>
          </a:p>
        </p:txBody>
      </p:sp>
      <p:sp>
        <p:nvSpPr>
          <p:cNvPr id="3165" name="model_bounded_addition">
            <a:extLst xmlns:a="http://schemas.openxmlformats.org/drawingml/2006/main">
              <a:ext uri="{FF2B5EF4-FFF2-40B4-BE49-F238E27FC236}">
                <a16:creationId xmlns:a16="http://schemas.microsoft.com/office/drawing/2014/main" id="{84A163FF-9F9A-42FB-8FF8-BC79B5709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5000" y="27656250"/>
            <a:ext cx="562500" cy="5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813">
            <a:solidFill>
              <a:srgbClr val="222222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cxnSp>
        <p:nvCxnSpPr>
          <p:cNvPr id="3320" name=""/>
          <p:cNvCxnSpPr>
            <a:stCxn xmlns:a="http://schemas.openxmlformats.org/drawingml/2006/main" id="3160" idx="3"/>
            <a:endCxn xmlns:a="http://schemas.openxmlformats.org/drawingml/2006/main" id="3161" idx="1"/>
          </p:cNvCxnSpPr>
          <p:nvPr/>
        </p:nvCxnSpPr>
        <p:spPr>
          <a:xfrm xmlns:a="http://schemas.openxmlformats.org/drawingml/2006/main">
            <a:off x="3375000" y="27937500"/>
            <a:ext cx="937500" cy="0"/>
          </a:xfrm>
          <a:prstGeom xmlns:a="http://schemas.openxmlformats.org/drawingml/2006/main" prst="straightConnector1">
            <a:avLst/>
          </a:prstGeom>
          <a:ln xmlns:a="http://schemas.openxmlformats.org/drawingml/2006/main" w="2062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3321" name=""/>
          <p:cNvCxnSpPr>
            <a:stCxn xmlns:a="http://schemas.openxmlformats.org/drawingml/2006/main" id="3161" idx="3"/>
            <a:endCxn xmlns:a="http://schemas.openxmlformats.org/drawingml/2006/main" id="3162" idx="1"/>
          </p:cNvCxnSpPr>
          <p:nvPr/>
        </p:nvCxnSpPr>
        <p:spPr>
          <a:xfrm xmlns:a="http://schemas.openxmlformats.org/drawingml/2006/main">
            <a:off x="7406250" y="27937500"/>
            <a:ext cx="1031250" cy="0"/>
          </a:xfrm>
          <a:prstGeom xmlns:a="http://schemas.openxmlformats.org/drawingml/2006/main" prst="straightConnector1">
            <a:avLst/>
          </a:prstGeom>
          <a:ln xmlns:a="http://schemas.openxmlformats.org/drawingml/2006/main" w="2062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3322" name=""/>
          <p:cNvCxnSpPr>
            <a:stCxn xmlns:a="http://schemas.openxmlformats.org/drawingml/2006/main" id="3162" idx="3"/>
            <a:endCxn xmlns:a="http://schemas.openxmlformats.org/drawingml/2006/main" id="3165" idx="2"/>
          </p:cNvCxnSpPr>
          <p:nvPr/>
        </p:nvCxnSpPr>
        <p:spPr>
          <a:xfrm xmlns:a="http://schemas.openxmlformats.org/drawingml/2006/main">
            <a:off x="11343750" y="27937500"/>
            <a:ext cx="281250" cy="0"/>
          </a:xfrm>
          <a:prstGeom xmlns:a="http://schemas.openxmlformats.org/drawingml/2006/main" prst="straightConnector1">
            <a:avLst/>
          </a:prstGeom>
          <a:ln xmlns:a="http://schemas.openxmlformats.org/drawingml/2006/main" w="2062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3323" name=""/>
          <p:cNvCxnSpPr>
            <a:stCxn xmlns:a="http://schemas.openxmlformats.org/drawingml/2006/main" id="3165" idx="6"/>
            <a:endCxn xmlns:a="http://schemas.openxmlformats.org/drawingml/2006/main" id="3163" idx="1"/>
          </p:cNvCxnSpPr>
          <p:nvPr/>
        </p:nvCxnSpPr>
        <p:spPr>
          <a:xfrm xmlns:a="http://schemas.openxmlformats.org/drawingml/2006/main" flipV="1">
            <a:off x="12187500" y="27937500"/>
            <a:ext cx="187500" cy="0"/>
          </a:xfrm>
          <a:prstGeom xmlns:a="http://schemas.openxmlformats.org/drawingml/2006/main" prst="straightConnector1">
            <a:avLst/>
          </a:prstGeom>
          <a:ln xmlns:a="http://schemas.openxmlformats.org/drawingml/2006/main" w="2062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3324" name=""/>
          <p:cNvCxnSpPr>
            <a:stCxn xmlns:a="http://schemas.openxmlformats.org/drawingml/2006/main" id="3164" idx="0"/>
            <a:endCxn xmlns:a="http://schemas.openxmlformats.org/drawingml/2006/main" id="3161" idx="2"/>
          </p:cNvCxnSpPr>
          <p:nvPr/>
        </p:nvCxnSpPr>
        <p:spPr>
          <a:xfrm xmlns:a="http://schemas.openxmlformats.org/drawingml/2006/main" flipH="1" flipV="1">
            <a:off x="5859375" y="28593750"/>
            <a:ext cx="1734375" cy="8906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625">
            <a:solidFill>
              <a:srgbClr val="333333"/>
            </a:solidFill>
            <a:prstDash val="solid"/>
            <a:tailEnd type="arrow" w="med" len="med"/>
          </a:ln>
        </p:spPr>
      </p:cxnSp>
      <p:sp>
        <p:nvSpPr>
          <p:cNvPr id="3171" name="optical_route">
            <a:extLst xmlns:a="http://schemas.openxmlformats.org/drawingml/2006/main">
              <a:ext uri="{FF2B5EF4-FFF2-40B4-BE49-F238E27FC236}">
                <a16:creationId xmlns:a16="http://schemas.microsoft.com/office/drawing/2014/main" id="{1461EAF7-C503-40D2-BC57-94E29F6E4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1563" y="29976563"/>
            <a:ext cx="9375" cy="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26" name=""/>
          <p:cNvCxnSpPr>
            <a:stCxn xmlns:a="http://schemas.openxmlformats.org/drawingml/2006/main" id="3164" idx="3"/>
            <a:endCxn xmlns:a="http://schemas.openxmlformats.org/drawingml/2006/main" id="3171" idx="1"/>
          </p:cNvCxnSpPr>
          <p:nvPr/>
        </p:nvCxnSpPr>
        <p:spPr>
          <a:xfrm xmlns:a="http://schemas.openxmlformats.org/drawingml/2006/main">
            <a:off x="9843750" y="29976563"/>
            <a:ext cx="2057813" cy="4688"/>
          </a:xfrm>
          <a:prstGeom xmlns:a="http://schemas.openxmlformats.org/drawingml/2006/main" prst="straightConnector1">
            <a:avLst/>
          </a:prstGeom>
          <a:ln xmlns:a="http://schemas.openxmlformats.org/drawingml/2006/main" w="20625">
            <a:solidFill>
              <a:srgbClr val="333333"/>
            </a:solidFill>
            <a:prstDash val="solid"/>
            <a:tailEnd type="none" w="med" len="med"/>
          </a:ln>
        </p:spPr>
      </p:cxnSp>
      <p:cxnSp>
        <p:nvCxnSpPr>
          <p:cNvPr id="3327" name=""/>
          <p:cNvCxnSpPr>
            <a:stCxn xmlns:a="http://schemas.openxmlformats.org/drawingml/2006/main" id="3171" idx="0"/>
            <a:endCxn xmlns:a="http://schemas.openxmlformats.org/drawingml/2006/main" id="3165" idx="4"/>
          </p:cNvCxnSpPr>
          <p:nvPr/>
        </p:nvCxnSpPr>
        <p:spPr>
          <a:xfrm xmlns:a="http://schemas.openxmlformats.org/drawingml/2006/main" flipH="1" flipV="1">
            <a:off x="11906250" y="28218750"/>
            <a:ext cx="0" cy="1757813"/>
          </a:xfrm>
          <a:prstGeom xmlns:a="http://schemas.openxmlformats.org/drawingml/2006/main" prst="straightConnector1">
            <a:avLst/>
          </a:prstGeom>
          <a:ln xmlns:a="http://schemas.openxmlformats.org/drawingml/2006/main" w="20625">
            <a:solidFill>
              <a:srgbClr val="333333"/>
            </a:solidFill>
            <a:prstDash val="solid"/>
            <a:tailEnd type="arrow" w="med" len="med"/>
          </a:ln>
        </p:spPr>
      </p:cxnSp>
      <p:sp>
        <p:nvSpPr>
          <p:cNvPr id="3174" name="reference_route_a">
            <a:extLst xmlns:a="http://schemas.openxmlformats.org/drawingml/2006/main">
              <a:ext uri="{FF2B5EF4-FFF2-40B4-BE49-F238E27FC236}">
                <a16:creationId xmlns:a16="http://schemas.microsoft.com/office/drawing/2014/main" id="{30BFC2B2-9657-434C-B607-BD7361D46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2188" y="31167188"/>
            <a:ext cx="9375" cy="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75" name="reference_route_b">
            <a:extLst xmlns:a="http://schemas.openxmlformats.org/drawingml/2006/main">
              <a:ext uri="{FF2B5EF4-FFF2-40B4-BE49-F238E27FC236}">
                <a16:creationId xmlns:a16="http://schemas.microsoft.com/office/drawing/2014/main" id="{2E8DCD56-75A1-4CCF-8E02-85CDA58CD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5938" y="31167188"/>
            <a:ext cx="9375" cy="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30" name=""/>
          <p:cNvCxnSpPr>
            <a:stCxn xmlns:a="http://schemas.openxmlformats.org/drawingml/2006/main" id="3160" idx="2"/>
            <a:endCxn xmlns:a="http://schemas.openxmlformats.org/drawingml/2006/main" id="3174" idx="0"/>
          </p:cNvCxnSpPr>
          <p:nvPr/>
        </p:nvCxnSpPr>
        <p:spPr>
          <a:xfrm xmlns:a="http://schemas.openxmlformats.org/drawingml/2006/main">
            <a:off x="2296875" y="28593750"/>
            <a:ext cx="0" cy="2573438"/>
          </a:xfrm>
          <a:prstGeom xmlns:a="http://schemas.openxmlformats.org/drawingml/2006/main" prst="straightConnector1">
            <a:avLst/>
          </a:prstGeom>
          <a:ln xmlns:a="http://schemas.openxmlformats.org/drawingml/2006/main" w="20625">
            <a:solidFill>
              <a:srgbClr val="333333"/>
            </a:solidFill>
            <a:prstDash val="dash"/>
            <a:tailEnd type="none" w="med" len="med"/>
          </a:ln>
        </p:spPr>
      </p:cxnSp>
      <p:cxnSp>
        <p:nvCxnSpPr>
          <p:cNvPr id="3331" name=""/>
          <p:cNvCxnSpPr>
            <a:stCxn xmlns:a="http://schemas.openxmlformats.org/drawingml/2006/main" id="3174" idx="3"/>
            <a:endCxn xmlns:a="http://schemas.openxmlformats.org/drawingml/2006/main" id="3175" idx="1"/>
          </p:cNvCxnSpPr>
          <p:nvPr/>
        </p:nvCxnSpPr>
        <p:spPr>
          <a:xfrm xmlns:a="http://schemas.openxmlformats.org/drawingml/2006/main">
            <a:off x="2301563" y="31171875"/>
            <a:ext cx="11334375" cy="0"/>
          </a:xfrm>
          <a:prstGeom xmlns:a="http://schemas.openxmlformats.org/drawingml/2006/main" prst="straightConnector1">
            <a:avLst/>
          </a:prstGeom>
          <a:ln xmlns:a="http://schemas.openxmlformats.org/drawingml/2006/main" w="20625">
            <a:solidFill>
              <a:srgbClr val="333333"/>
            </a:solidFill>
            <a:prstDash val="dash"/>
            <a:tailEnd type="none" w="med" len="med"/>
          </a:ln>
        </p:spPr>
      </p:cxnSp>
      <p:cxnSp>
        <p:nvCxnSpPr>
          <p:cNvPr id="3332" name=""/>
          <p:cNvCxnSpPr>
            <a:stCxn xmlns:a="http://schemas.openxmlformats.org/drawingml/2006/main" id="3175" idx="0"/>
            <a:endCxn xmlns:a="http://schemas.openxmlformats.org/drawingml/2006/main" id="3163" idx="2"/>
          </p:cNvCxnSpPr>
          <p:nvPr/>
        </p:nvCxnSpPr>
        <p:spPr>
          <a:xfrm xmlns:a="http://schemas.openxmlformats.org/drawingml/2006/main" flipH="1" flipV="1">
            <a:off x="13640625" y="28593750"/>
            <a:ext cx="1" cy="2573438"/>
          </a:xfrm>
          <a:prstGeom xmlns:a="http://schemas.openxmlformats.org/drawingml/2006/main" prst="straightConnector1">
            <a:avLst/>
          </a:prstGeom>
          <a:ln xmlns:a="http://schemas.openxmlformats.org/drawingml/2006/main" w="20625">
            <a:solidFill>
              <a:srgbClr val="333333"/>
            </a:solidFill>
            <a:prstDash val="dash"/>
            <a:tailEnd type="arrow" w="med" len="med"/>
          </a:ln>
        </p:spPr>
      </p:cxnSp>
      <p:sp>
        <p:nvSpPr>
          <p:cNvPr id="3179" name="reference_label">
            <a:extLst xmlns:a="http://schemas.openxmlformats.org/drawingml/2006/main">
              <a:ext uri="{FF2B5EF4-FFF2-40B4-BE49-F238E27FC236}">
                <a16:creationId xmlns:a16="http://schemas.microsoft.com/office/drawing/2014/main" id="{EDF358F2-21E9-4AEE-845A-76961116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1875" y="30656250"/>
            <a:ext cx="5343750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3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Original-image reference</a:t>
            </a:r>
          </a:p>
        </p:txBody>
      </p:sp>
      <p:sp>
        <p:nvSpPr>
          <p:cNvPr id="3180" name="figure2_caption">
            <a:extLst xmlns:a="http://schemas.openxmlformats.org/drawingml/2006/main">
              <a:ext uri="{FF2B5EF4-FFF2-40B4-BE49-F238E27FC236}">
                <a16:creationId xmlns:a16="http://schemas.microsoft.com/office/drawing/2014/main" id="{C81294E8-338A-4A77-8C4B-F8D55884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31500000"/>
            <a:ext cx="13875000" cy="140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Fig. 2. Functional design of MOSR. Calibrated guidance addresses optical variation; anti-aliased features target sampling sensitivity. Refinement and bounded output retain the native image grid.</a:t>
            </a:r>
          </a:p>
        </p:txBody>
      </p:sp>
      <p:sp>
        <p:nvSpPr>
          <p:cNvPr id="3181" name="readout_heading">
            <a:extLst xmlns:a="http://schemas.openxmlformats.org/drawingml/2006/main">
              <a:ext uri="{FF2B5EF4-FFF2-40B4-BE49-F238E27FC236}">
                <a16:creationId xmlns:a16="http://schemas.microsoft.com/office/drawing/2014/main" id="{DB67B12A-1129-4617-82AA-3AECDD7F5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33328125"/>
            <a:ext cx="13875000" cy="5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9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Common readout for Raw, fixed Wiener and MOSR</a:t>
            </a:r>
          </a:p>
        </p:txBody>
      </p:sp>
      <p:pic>
        <p:nvPicPr>
          <p:cNvPr id="33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7731e490f24b29"/>
          <a:stretch xmlns:a="http://schemas.openxmlformats.org/drawingml/2006/main"/>
        </p:blipFill>
        <p:spPr>
          <a:xfrm xmlns:a="http://schemas.openxmlformats.org/drawingml/2006/main">
            <a:off x="1312500" y="34453125"/>
            <a:ext cx="2250000" cy="2250000"/>
          </a:xfrm>
          <a:prstGeom xmlns:a="http://schemas.openxmlformats.org/drawingml/2006/main" prst="rect">
            <a:avLst/>
          </a:prstGeom>
        </p:spPr>
      </p:pic>
      <p:sp>
        <p:nvSpPr>
          <p:cNvPr id="3183" name="measured_lsc_circle">
            <a:extLst xmlns:a="http://schemas.openxmlformats.org/drawingml/2006/main">
              <a:ext uri="{FF2B5EF4-FFF2-40B4-BE49-F238E27FC236}">
                <a16:creationId xmlns:a16="http://schemas.microsoft.com/office/drawing/2014/main" id="{0386CD7C-E7D4-45F8-8DDA-B46DD0140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068" y="34934182"/>
            <a:ext cx="1270453" cy="127045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0313">
            <a:solidFill>
              <a:srgbClr val="111111"/>
            </a:solidFill>
          </a:ln>
        </p:spPr>
      </p:sp>
      <p:sp>
        <p:nvSpPr>
          <p:cNvPr id="3184" name="measured_boundary_point_1">
            <a:extLst xmlns:a="http://schemas.openxmlformats.org/drawingml/2006/main">
              <a:ext uri="{FF2B5EF4-FFF2-40B4-BE49-F238E27FC236}">
                <a16:creationId xmlns:a16="http://schemas.microsoft.com/office/drawing/2014/main" id="{510A3EA1-836F-4567-8369-EE6568B0A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0556" y="36137645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85" name="measured_boundary_point_2">
            <a:extLst xmlns:a="http://schemas.openxmlformats.org/drawingml/2006/main">
              <a:ext uri="{FF2B5EF4-FFF2-40B4-BE49-F238E27FC236}">
                <a16:creationId xmlns:a16="http://schemas.microsoft.com/office/drawing/2014/main" id="{39C1B2A7-19C5-4B77-8587-EC0AAEB5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6638" y="36144235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86" name="measured_boundary_point_3">
            <a:extLst xmlns:a="http://schemas.openxmlformats.org/drawingml/2006/main">
              <a:ext uri="{FF2B5EF4-FFF2-40B4-BE49-F238E27FC236}">
                <a16:creationId xmlns:a16="http://schemas.microsoft.com/office/drawing/2014/main" id="{6997F461-B72E-4A98-9E6F-CB04383D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830" y="36153471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87" name="measured_boundary_point_4">
            <a:extLst xmlns:a="http://schemas.openxmlformats.org/drawingml/2006/main">
              <a:ext uri="{FF2B5EF4-FFF2-40B4-BE49-F238E27FC236}">
                <a16:creationId xmlns:a16="http://schemas.microsoft.com/office/drawing/2014/main" id="{1FD9A561-391E-4C86-8D17-2913D9486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5022" y="36169142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88" name="measured_boundary_point_5">
            <a:extLst xmlns:a="http://schemas.openxmlformats.org/drawingml/2006/main">
              <a:ext uri="{FF2B5EF4-FFF2-40B4-BE49-F238E27FC236}">
                <a16:creationId xmlns:a16="http://schemas.microsoft.com/office/drawing/2014/main" id="{A2147518-FAA6-46C7-8C28-3FAFD1C3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9214" y="36177513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89" name="measured_boundary_point_6">
            <a:extLst xmlns:a="http://schemas.openxmlformats.org/drawingml/2006/main">
              <a:ext uri="{FF2B5EF4-FFF2-40B4-BE49-F238E27FC236}">
                <a16:creationId xmlns:a16="http://schemas.microsoft.com/office/drawing/2014/main" id="{0027ACA1-05F7-4BE3-9A3E-FB165499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3406" y="36168619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90" name="measured_boundary_point_7">
            <a:extLst xmlns:a="http://schemas.openxmlformats.org/drawingml/2006/main">
              <a:ext uri="{FF2B5EF4-FFF2-40B4-BE49-F238E27FC236}">
                <a16:creationId xmlns:a16="http://schemas.microsoft.com/office/drawing/2014/main" id="{79B1EDDE-C6B4-4A29-B385-618CEE70E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598" y="36151745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91" name="measured_boundary_point_8">
            <a:extLst xmlns:a="http://schemas.openxmlformats.org/drawingml/2006/main">
              <a:ext uri="{FF2B5EF4-FFF2-40B4-BE49-F238E27FC236}">
                <a16:creationId xmlns:a16="http://schemas.microsoft.com/office/drawing/2014/main" id="{CA4A8213-2B7E-4BD2-9FBA-BC0B4B23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1695" y="36142461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92" name="measured_boundary_point_9">
            <a:extLst xmlns:a="http://schemas.openxmlformats.org/drawingml/2006/main">
              <a:ext uri="{FF2B5EF4-FFF2-40B4-BE49-F238E27FC236}">
                <a16:creationId xmlns:a16="http://schemas.microsoft.com/office/drawing/2014/main" id="{F522FEAC-FF2B-4587-9272-E82F8163E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9983" y="36129693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93" name="measured_boundary_point_10">
            <a:extLst xmlns:a="http://schemas.openxmlformats.org/drawingml/2006/main">
              <a:ext uri="{FF2B5EF4-FFF2-40B4-BE49-F238E27FC236}">
                <a16:creationId xmlns:a16="http://schemas.microsoft.com/office/drawing/2014/main" id="{0BFB4B3E-7B0F-46FE-84C1-C93D2C52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8129" y="36107606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94" name="measured_boundary_point_11">
            <a:extLst xmlns:a="http://schemas.openxmlformats.org/drawingml/2006/main">
              <a:ext uri="{FF2B5EF4-FFF2-40B4-BE49-F238E27FC236}">
                <a16:creationId xmlns:a16="http://schemas.microsoft.com/office/drawing/2014/main" id="{EA1F84E7-B1FF-4DC1-8CCE-7804ED7B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3535" y="36070847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95" name="measured_boundary_point_12">
            <a:extLst xmlns:a="http://schemas.openxmlformats.org/drawingml/2006/main">
              <a:ext uri="{FF2B5EF4-FFF2-40B4-BE49-F238E27FC236}">
                <a16:creationId xmlns:a16="http://schemas.microsoft.com/office/drawing/2014/main" id="{66DFCD1E-3C74-4511-8662-6B13FAD2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569" y="36031315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96" name="measured_boundary_point_13">
            <a:extLst xmlns:a="http://schemas.openxmlformats.org/drawingml/2006/main">
              <a:ext uri="{FF2B5EF4-FFF2-40B4-BE49-F238E27FC236}">
                <a16:creationId xmlns:a16="http://schemas.microsoft.com/office/drawing/2014/main" id="{61FA9AAA-F0B0-41D2-97AE-847AA8C5C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297" y="35978520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97" name="measured_boundary_point_14">
            <a:extLst xmlns:a="http://schemas.openxmlformats.org/drawingml/2006/main">
              <a:ext uri="{FF2B5EF4-FFF2-40B4-BE49-F238E27FC236}">
                <a16:creationId xmlns:a16="http://schemas.microsoft.com/office/drawing/2014/main" id="{BDE7B636-7221-4126-B01B-54FC16708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9908" y="35919843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98" name="measured_boundary_point_15">
            <a:extLst xmlns:a="http://schemas.openxmlformats.org/drawingml/2006/main">
              <a:ext uri="{FF2B5EF4-FFF2-40B4-BE49-F238E27FC236}">
                <a16:creationId xmlns:a16="http://schemas.microsoft.com/office/drawing/2014/main" id="{BAA2956A-11E8-4032-B3C3-7B1707A5C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1551" y="35870361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99" name="measured_boundary_point_16">
            <a:extLst xmlns:a="http://schemas.openxmlformats.org/drawingml/2006/main">
              <a:ext uri="{FF2B5EF4-FFF2-40B4-BE49-F238E27FC236}">
                <a16:creationId xmlns:a16="http://schemas.microsoft.com/office/drawing/2014/main" id="{40F6C495-F61F-4E60-806E-ABA1AD83A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5475" y="35811437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00" name="measured_boundary_point_17">
            <a:extLst xmlns:a="http://schemas.openxmlformats.org/drawingml/2006/main">
              <a:ext uri="{FF2B5EF4-FFF2-40B4-BE49-F238E27FC236}">
                <a16:creationId xmlns:a16="http://schemas.microsoft.com/office/drawing/2014/main" id="{58A96438-91C0-4C20-B168-805F18F7A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0042" y="35754041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01" name="measured_boundary_point_18">
            <a:extLst xmlns:a="http://schemas.openxmlformats.org/drawingml/2006/main">
              <a:ext uri="{FF2B5EF4-FFF2-40B4-BE49-F238E27FC236}">
                <a16:creationId xmlns:a16="http://schemas.microsoft.com/office/drawing/2014/main" id="{F159F7D2-CD46-4E23-B3E3-4345526FB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900" y="35704418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02" name="measured_boundary_point_19">
            <a:extLst xmlns:a="http://schemas.openxmlformats.org/drawingml/2006/main">
              <a:ext uri="{FF2B5EF4-FFF2-40B4-BE49-F238E27FC236}">
                <a16:creationId xmlns:a16="http://schemas.microsoft.com/office/drawing/2014/main" id="{227326A0-E451-4D64-A43F-63D86C902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6910" y="35645387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03" name="measured_boundary_point_20">
            <a:extLst xmlns:a="http://schemas.openxmlformats.org/drawingml/2006/main">
              <a:ext uri="{FF2B5EF4-FFF2-40B4-BE49-F238E27FC236}">
                <a16:creationId xmlns:a16="http://schemas.microsoft.com/office/drawing/2014/main" id="{14ED29B3-97EE-446E-92FE-157A357E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4236" y="35579579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04" name="measured_boundary_point_21">
            <a:extLst xmlns:a="http://schemas.openxmlformats.org/drawingml/2006/main">
              <a:ext uri="{FF2B5EF4-FFF2-40B4-BE49-F238E27FC236}">
                <a16:creationId xmlns:a16="http://schemas.microsoft.com/office/drawing/2014/main" id="{A3EA6529-44C9-43A3-BFD8-4783ACA32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3926" y="35513771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05" name="measured_boundary_point_22">
            <a:extLst xmlns:a="http://schemas.openxmlformats.org/drawingml/2006/main">
              <a:ext uri="{FF2B5EF4-FFF2-40B4-BE49-F238E27FC236}">
                <a16:creationId xmlns:a16="http://schemas.microsoft.com/office/drawing/2014/main" id="{152B3912-CD3D-45F7-B851-EB7D84597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287" y="35449014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06" name="measured_boundary_point_23">
            <a:extLst xmlns:a="http://schemas.openxmlformats.org/drawingml/2006/main">
              <a:ext uri="{FF2B5EF4-FFF2-40B4-BE49-F238E27FC236}">
                <a16:creationId xmlns:a16="http://schemas.microsoft.com/office/drawing/2014/main" id="{EBCB2A0A-00B5-45EF-89ED-588C0BE8F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4362" y="35393586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07" name="measured_boundary_point_24">
            <a:extLst xmlns:a="http://schemas.openxmlformats.org/drawingml/2006/main">
              <a:ext uri="{FF2B5EF4-FFF2-40B4-BE49-F238E27FC236}">
                <a16:creationId xmlns:a16="http://schemas.microsoft.com/office/drawing/2014/main" id="{E6313AD9-52CF-4671-90E9-88E01B879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8143" y="35339554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08" name="measured_boundary_point_25">
            <a:extLst xmlns:a="http://schemas.openxmlformats.org/drawingml/2006/main">
              <a:ext uri="{FF2B5EF4-FFF2-40B4-BE49-F238E27FC236}">
                <a16:creationId xmlns:a16="http://schemas.microsoft.com/office/drawing/2014/main" id="{6FC18891-568C-4C64-A5A1-5ADDE5B6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5672" y="35281977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09" name="measured_boundary_point_26">
            <a:extLst xmlns:a="http://schemas.openxmlformats.org/drawingml/2006/main">
              <a:ext uri="{FF2B5EF4-FFF2-40B4-BE49-F238E27FC236}">
                <a16:creationId xmlns:a16="http://schemas.microsoft.com/office/drawing/2014/main" id="{6BAE1DB5-6273-4C24-86E1-275209BF0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8615" y="35224804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10" name="measured_boundary_point_27">
            <a:extLst xmlns:a="http://schemas.openxmlformats.org/drawingml/2006/main">
              <a:ext uri="{FF2B5EF4-FFF2-40B4-BE49-F238E27FC236}">
                <a16:creationId xmlns:a16="http://schemas.microsoft.com/office/drawing/2014/main" id="{734B620B-6952-42E3-AC24-0B54C31E8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272" y="35173572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11" name="measured_boundary_point_28">
            <a:extLst xmlns:a="http://schemas.openxmlformats.org/drawingml/2006/main">
              <a:ext uri="{FF2B5EF4-FFF2-40B4-BE49-F238E27FC236}">
                <a16:creationId xmlns:a16="http://schemas.microsoft.com/office/drawing/2014/main" id="{322BCF7D-A1FF-4938-AB1D-2A69AEEC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275" y="35121508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12" name="measured_boundary_point_29">
            <a:extLst xmlns:a="http://schemas.openxmlformats.org/drawingml/2006/main">
              <a:ext uri="{FF2B5EF4-FFF2-40B4-BE49-F238E27FC236}">
                <a16:creationId xmlns:a16="http://schemas.microsoft.com/office/drawing/2014/main" id="{E1C3F63B-5804-42D5-B511-AEDE11D0D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573" y="35076740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13" name="measured_boundary_point_30">
            <a:extLst xmlns:a="http://schemas.openxmlformats.org/drawingml/2006/main">
              <a:ext uri="{FF2B5EF4-FFF2-40B4-BE49-F238E27FC236}">
                <a16:creationId xmlns:a16="http://schemas.microsoft.com/office/drawing/2014/main" id="{9C576AC0-12F0-4BE3-89E0-9220F7251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559" y="35040659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14" name="measured_boundary_point_31">
            <a:extLst xmlns:a="http://schemas.openxmlformats.org/drawingml/2006/main">
              <a:ext uri="{FF2B5EF4-FFF2-40B4-BE49-F238E27FC236}">
                <a16:creationId xmlns:a16="http://schemas.microsoft.com/office/drawing/2014/main" id="{F807BA57-1EF9-48DF-B466-A54547059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7816" y="35000649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15" name="measured_boundary_point_32">
            <a:extLst xmlns:a="http://schemas.openxmlformats.org/drawingml/2006/main">
              <a:ext uri="{FF2B5EF4-FFF2-40B4-BE49-F238E27FC236}">
                <a16:creationId xmlns:a16="http://schemas.microsoft.com/office/drawing/2014/main" id="{26650426-54BD-4E7B-A083-DB2F316D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3746" y="34979896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16" name="measured_boundary_point_33">
            <a:extLst xmlns:a="http://schemas.openxmlformats.org/drawingml/2006/main">
              <a:ext uri="{FF2B5EF4-FFF2-40B4-BE49-F238E27FC236}">
                <a16:creationId xmlns:a16="http://schemas.microsoft.com/office/drawing/2014/main" id="{09D90843-ED95-4ADB-91FA-4618465F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523" y="34962929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17" name="measured_boundary_point_34">
            <a:extLst xmlns:a="http://schemas.openxmlformats.org/drawingml/2006/main">
              <a:ext uri="{FF2B5EF4-FFF2-40B4-BE49-F238E27FC236}">
                <a16:creationId xmlns:a16="http://schemas.microsoft.com/office/drawing/2014/main" id="{2FF630B8-43BA-41F1-9EB2-DA3E12EEF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7162" y="34930943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18" name="measured_boundary_point_35">
            <a:extLst xmlns:a="http://schemas.openxmlformats.org/drawingml/2006/main">
              <a:ext uri="{FF2B5EF4-FFF2-40B4-BE49-F238E27FC236}">
                <a16:creationId xmlns:a16="http://schemas.microsoft.com/office/drawing/2014/main" id="{EDA8F7C1-E19A-4350-95D7-A8B78409E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9256" y="34911770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19" name="measured_boundary_point_36">
            <a:extLst xmlns:a="http://schemas.openxmlformats.org/drawingml/2006/main">
              <a:ext uri="{FF2B5EF4-FFF2-40B4-BE49-F238E27FC236}">
                <a16:creationId xmlns:a16="http://schemas.microsoft.com/office/drawing/2014/main" id="{38B83CED-7971-442E-8745-0A131C8B2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4353" y="34908222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20" name="measured_boundary_point_37">
            <a:extLst xmlns:a="http://schemas.openxmlformats.org/drawingml/2006/main">
              <a:ext uri="{FF2B5EF4-FFF2-40B4-BE49-F238E27FC236}">
                <a16:creationId xmlns:a16="http://schemas.microsoft.com/office/drawing/2014/main" id="{E0EC0486-E16F-488C-810E-430C21F2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8890" y="34912959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21" name="measured_boundary_point_38">
            <a:extLst xmlns:a="http://schemas.openxmlformats.org/drawingml/2006/main">
              <a:ext uri="{FF2B5EF4-FFF2-40B4-BE49-F238E27FC236}">
                <a16:creationId xmlns:a16="http://schemas.microsoft.com/office/drawing/2014/main" id="{72B3A2BA-51D9-4415-8376-D801B985F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3493" y="34926569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22" name="measured_boundary_point_39">
            <a:extLst xmlns:a="http://schemas.openxmlformats.org/drawingml/2006/main">
              <a:ext uri="{FF2B5EF4-FFF2-40B4-BE49-F238E27FC236}">
                <a16:creationId xmlns:a16="http://schemas.microsoft.com/office/drawing/2014/main" id="{87CB5257-E444-4367-83AA-5E82D54F6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9889" y="34955914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23" name="measured_boundary_point_40">
            <a:extLst xmlns:a="http://schemas.openxmlformats.org/drawingml/2006/main">
              <a:ext uri="{FF2B5EF4-FFF2-40B4-BE49-F238E27FC236}">
                <a16:creationId xmlns:a16="http://schemas.microsoft.com/office/drawing/2014/main" id="{0C107662-F5B3-4526-9F13-C2FF661C3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7178" y="34973171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24" name="measured_boundary_point_41">
            <a:extLst xmlns:a="http://schemas.openxmlformats.org/drawingml/2006/main">
              <a:ext uri="{FF2B5EF4-FFF2-40B4-BE49-F238E27FC236}">
                <a16:creationId xmlns:a16="http://schemas.microsoft.com/office/drawing/2014/main" id="{9F8C137F-F1F9-46C2-96E7-F8E969DB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786" y="34987964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25" name="measured_boundary_point_42">
            <a:extLst xmlns:a="http://schemas.openxmlformats.org/drawingml/2006/main">
              <a:ext uri="{FF2B5EF4-FFF2-40B4-BE49-F238E27FC236}">
                <a16:creationId xmlns:a16="http://schemas.microsoft.com/office/drawing/2014/main" id="{909D70C1-2776-44C5-8776-08E811F2B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518" y="35018599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26" name="measured_boundary_point_43">
            <a:extLst xmlns:a="http://schemas.openxmlformats.org/drawingml/2006/main">
              <a:ext uri="{FF2B5EF4-FFF2-40B4-BE49-F238E27FC236}">
                <a16:creationId xmlns:a16="http://schemas.microsoft.com/office/drawing/2014/main" id="{D13F818B-6779-42DF-B6FE-77139D5E9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2819" y="35049684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27" name="measured_boundary_point_44">
            <a:extLst xmlns:a="http://schemas.openxmlformats.org/drawingml/2006/main">
              <a:ext uri="{FF2B5EF4-FFF2-40B4-BE49-F238E27FC236}">
                <a16:creationId xmlns:a16="http://schemas.microsoft.com/office/drawing/2014/main" id="{FCFA77D3-B614-47B7-AD78-F231AE507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6285" y="35081967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28" name="measured_boundary_point_45">
            <a:extLst xmlns:a="http://schemas.openxmlformats.org/drawingml/2006/main">
              <a:ext uri="{FF2B5EF4-FFF2-40B4-BE49-F238E27FC236}">
                <a16:creationId xmlns:a16="http://schemas.microsoft.com/office/drawing/2014/main" id="{08E44982-8947-4F7D-8C88-B278542D8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3282" y="35128451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29" name="measured_boundary_point_46">
            <a:extLst xmlns:a="http://schemas.openxmlformats.org/drawingml/2006/main">
              <a:ext uri="{FF2B5EF4-FFF2-40B4-BE49-F238E27FC236}">
                <a16:creationId xmlns:a16="http://schemas.microsoft.com/office/drawing/2014/main" id="{CFE33EB2-2D70-403B-9D00-29BE6B2B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5600" y="35179200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30" name="measured_boundary_point_47">
            <a:extLst xmlns:a="http://schemas.openxmlformats.org/drawingml/2006/main">
              <a:ext uri="{FF2B5EF4-FFF2-40B4-BE49-F238E27FC236}">
                <a16:creationId xmlns:a16="http://schemas.microsoft.com/office/drawing/2014/main" id="{5939AEE5-3F15-4946-A0C5-18F56E7FC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7047" y="35235951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31" name="measured_boundary_point_48">
            <a:extLst xmlns:a="http://schemas.openxmlformats.org/drawingml/2006/main">
              <a:ext uri="{FF2B5EF4-FFF2-40B4-BE49-F238E27FC236}">
                <a16:creationId xmlns:a16="http://schemas.microsoft.com/office/drawing/2014/main" id="{5345C08E-FB33-4141-8171-6EA5FDC15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8370" y="35282174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32" name="measured_boundary_point_49">
            <a:extLst xmlns:a="http://schemas.openxmlformats.org/drawingml/2006/main">
              <a:ext uri="{FF2B5EF4-FFF2-40B4-BE49-F238E27FC236}">
                <a16:creationId xmlns:a16="http://schemas.microsoft.com/office/drawing/2014/main" id="{9DDB34C4-EBF2-429F-AD15-5F3A663B3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7334" y="35341935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33" name="measured_boundary_point_50">
            <a:extLst xmlns:a="http://schemas.openxmlformats.org/drawingml/2006/main">
              <a:ext uri="{FF2B5EF4-FFF2-40B4-BE49-F238E27FC236}">
                <a16:creationId xmlns:a16="http://schemas.microsoft.com/office/drawing/2014/main" id="{8AF1B3EF-D39E-48CB-AEAC-6433F3EC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3861" y="35401734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34" name="measured_boundary_point_51">
            <a:extLst xmlns:a="http://schemas.openxmlformats.org/drawingml/2006/main">
              <a:ext uri="{FF2B5EF4-FFF2-40B4-BE49-F238E27FC236}">
                <a16:creationId xmlns:a16="http://schemas.microsoft.com/office/drawing/2014/main" id="{65BEE366-FFE1-4075-BFDE-744E78862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9982" y="35446162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35" name="measured_boundary_point_52">
            <a:extLst xmlns:a="http://schemas.openxmlformats.org/drawingml/2006/main">
              <a:ext uri="{FF2B5EF4-FFF2-40B4-BE49-F238E27FC236}">
                <a16:creationId xmlns:a16="http://schemas.microsoft.com/office/drawing/2014/main" id="{A1C8F494-3DB4-49A3-AAF7-B2F931921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031" y="35508909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36" name="measured_boundary_point_53">
            <a:extLst xmlns:a="http://schemas.openxmlformats.org/drawingml/2006/main">
              <a:ext uri="{FF2B5EF4-FFF2-40B4-BE49-F238E27FC236}">
                <a16:creationId xmlns:a16="http://schemas.microsoft.com/office/drawing/2014/main" id="{4A5A23FC-DA54-4E33-A7FE-A8916BB1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9870" y="35574585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37" name="measured_boundary_point_54">
            <a:extLst xmlns:a="http://schemas.openxmlformats.org/drawingml/2006/main">
              <a:ext uri="{FF2B5EF4-FFF2-40B4-BE49-F238E27FC236}">
                <a16:creationId xmlns:a16="http://schemas.microsoft.com/office/drawing/2014/main" id="{ADFA68D6-B062-47B8-891D-1F93356B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8538" y="35631613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38" name="measured_boundary_point_55">
            <a:extLst xmlns:a="http://schemas.openxmlformats.org/drawingml/2006/main">
              <a:ext uri="{FF2B5EF4-FFF2-40B4-BE49-F238E27FC236}">
                <a16:creationId xmlns:a16="http://schemas.microsoft.com/office/drawing/2014/main" id="{702B927B-0805-47BA-8FDE-9727DF67F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0304" y="35685930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39" name="measured_boundary_point_56">
            <a:extLst xmlns:a="http://schemas.openxmlformats.org/drawingml/2006/main">
              <a:ext uri="{FF2B5EF4-FFF2-40B4-BE49-F238E27FC236}">
                <a16:creationId xmlns:a16="http://schemas.microsoft.com/office/drawing/2014/main" id="{61392714-69E3-48B1-990C-119FB2F85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514" y="35742620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40" name="measured_boundary_point_57">
            <a:extLst xmlns:a="http://schemas.openxmlformats.org/drawingml/2006/main">
              <a:ext uri="{FF2B5EF4-FFF2-40B4-BE49-F238E27FC236}">
                <a16:creationId xmlns:a16="http://schemas.microsoft.com/office/drawing/2014/main" id="{3A045A39-7EF6-4333-8A7E-C9B95E3A5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4211" y="35802917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41" name="measured_boundary_point_58">
            <a:extLst xmlns:a="http://schemas.openxmlformats.org/drawingml/2006/main">
              <a:ext uri="{FF2B5EF4-FFF2-40B4-BE49-F238E27FC236}">
                <a16:creationId xmlns:a16="http://schemas.microsoft.com/office/drawing/2014/main" id="{0A9AE12A-74FE-4A39-8E9D-6CB29741E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8338" y="35856784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42" name="measured_boundary_point_59">
            <a:extLst xmlns:a="http://schemas.openxmlformats.org/drawingml/2006/main">
              <a:ext uri="{FF2B5EF4-FFF2-40B4-BE49-F238E27FC236}">
                <a16:creationId xmlns:a16="http://schemas.microsoft.com/office/drawing/2014/main" id="{D6925311-65F5-4CDB-BB2E-A1AE88142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840" y="35904909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43" name="measured_boundary_point_60">
            <a:extLst xmlns:a="http://schemas.openxmlformats.org/drawingml/2006/main">
              <a:ext uri="{FF2B5EF4-FFF2-40B4-BE49-F238E27FC236}">
                <a16:creationId xmlns:a16="http://schemas.microsoft.com/office/drawing/2014/main" id="{13E41922-F5BA-4CF0-A176-C0ACE1EA3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842" y="35951945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44" name="measured_boundary_point_61">
            <a:extLst xmlns:a="http://schemas.openxmlformats.org/drawingml/2006/main">
              <a:ext uri="{FF2B5EF4-FFF2-40B4-BE49-F238E27FC236}">
                <a16:creationId xmlns:a16="http://schemas.microsoft.com/office/drawing/2014/main" id="{FF6F6BDC-ABA5-4BF4-B776-3A9FCE01B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8446" y="35998080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45" name="measured_boundary_point_62">
            <a:extLst xmlns:a="http://schemas.openxmlformats.org/drawingml/2006/main">
              <a:ext uri="{FF2B5EF4-FFF2-40B4-BE49-F238E27FC236}">
                <a16:creationId xmlns:a16="http://schemas.microsoft.com/office/drawing/2014/main" id="{30FEDC03-D676-4BBF-9DDC-A7E94FF36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730" y="36045164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46" name="measured_boundary_point_63">
            <a:extLst xmlns:a="http://schemas.openxmlformats.org/drawingml/2006/main">
              <a:ext uri="{FF2B5EF4-FFF2-40B4-BE49-F238E27FC236}">
                <a16:creationId xmlns:a16="http://schemas.microsoft.com/office/drawing/2014/main" id="{0DC07D77-8FA4-44DC-9C31-08D58F4C1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67" y="36076872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47" name="measured_boundary_point_64">
            <a:extLst xmlns:a="http://schemas.openxmlformats.org/drawingml/2006/main">
              <a:ext uri="{FF2B5EF4-FFF2-40B4-BE49-F238E27FC236}">
                <a16:creationId xmlns:a16="http://schemas.microsoft.com/office/drawing/2014/main" id="{F8DEA1D1-F67D-47C4-AFBC-00D4A9403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0996" y="36111083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48" name="measured_center_x">
            <a:extLst xmlns:a="http://schemas.openxmlformats.org/drawingml/2006/main">
              <a:ext uri="{FF2B5EF4-FFF2-40B4-BE49-F238E27FC236}">
                <a16:creationId xmlns:a16="http://schemas.microsoft.com/office/drawing/2014/main" id="{EDA76242-E007-40E1-B6EA-F0F94C354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544" y="35569408"/>
            <a:ext cx="187500" cy="0"/>
          </a:xfrm>
          <a:prstGeom xmlns:a="http://schemas.openxmlformats.org/drawingml/2006/main" prst="line">
            <a:avLst/>
          </a:prstGeom>
          <a:ln xmlns:a="http://schemas.openxmlformats.org/drawingml/2006/main" w="24375">
            <a:solidFill>
              <a:srgbClr val="FFFFFF"/>
            </a:solidFill>
          </a:ln>
        </p:spPr>
      </p:sp>
      <p:sp>
        <p:nvSpPr>
          <p:cNvPr id="3249" name="measured_center_y">
            <a:extLst xmlns:a="http://schemas.openxmlformats.org/drawingml/2006/main">
              <a:ext uri="{FF2B5EF4-FFF2-40B4-BE49-F238E27FC236}">
                <a16:creationId xmlns:a16="http://schemas.microsoft.com/office/drawing/2014/main" id="{3FE90A54-EF07-46F5-B2F8-AFEC54F70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294" y="35475658"/>
            <a:ext cx="0" cy="187500"/>
          </a:xfrm>
          <a:prstGeom xmlns:a="http://schemas.openxmlformats.org/drawingml/2006/main" prst="line">
            <a:avLst/>
          </a:prstGeom>
          <a:ln xmlns:a="http://schemas.openxmlformats.org/drawingml/2006/main" w="24375">
            <a:solidFill>
              <a:srgbClr val="FFFFFF"/>
            </a:solidFill>
          </a:ln>
        </p:spPr>
      </p:sp>
      <p:sp>
        <p:nvSpPr>
          <p:cNvPr id="3250" name="center_label">
            <a:extLst xmlns:a="http://schemas.openxmlformats.org/drawingml/2006/main">
              <a:ext uri="{FF2B5EF4-FFF2-40B4-BE49-F238E27FC236}">
                <a16:creationId xmlns:a16="http://schemas.microsoft.com/office/drawing/2014/main" id="{4A5AC20A-17F5-4B9D-B865-176545C2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6544" y="35288158"/>
            <a:ext cx="328125" cy="37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300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00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3251" name="boundary_plot_exit">
            <a:extLst xmlns:a="http://schemas.openxmlformats.org/drawingml/2006/main">
              <a:ext uri="{FF2B5EF4-FFF2-40B4-BE49-F238E27FC236}">
                <a16:creationId xmlns:a16="http://schemas.microsoft.com/office/drawing/2014/main" id="{E33940AC-A62C-426C-BE97-8D84F88D0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813" y="35573438"/>
            <a:ext cx="9375" cy="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52" name="readout_centers">
            <a:extLst xmlns:a="http://schemas.openxmlformats.org/drawingml/2006/main">
              <a:ext uri="{FF2B5EF4-FFF2-40B4-BE49-F238E27FC236}">
                <a16:creationId xmlns:a16="http://schemas.microsoft.com/office/drawing/2014/main" id="{2EA11042-C9DE-47B3-B82A-A71DBF502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5000" y="34921875"/>
            <a:ext cx="2859375" cy="135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813">
            <a:solidFill>
              <a:srgbClr val="222222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LSC centers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in paired frames</a:t>
            </a:r>
          </a:p>
        </p:txBody>
      </p:sp>
      <p:sp>
        <p:nvSpPr>
          <p:cNvPr id="3253" name="readout_shift">
            <a:extLst xmlns:a="http://schemas.openxmlformats.org/drawingml/2006/main">
              <a:ext uri="{FF2B5EF4-FFF2-40B4-BE49-F238E27FC236}">
                <a16:creationId xmlns:a16="http://schemas.microsoft.com/office/drawing/2014/main" id="{B9C4F761-13CD-4788-9007-7CBFD0BD4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8750" y="34921875"/>
            <a:ext cx="2953125" cy="135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813">
            <a:solidFill>
              <a:srgbClr val="222222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Median shift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of nine pillars</a:t>
            </a:r>
          </a:p>
        </p:txBody>
      </p:sp>
      <p:sp>
        <p:nvSpPr>
          <p:cNvPr id="3254" name="readout_sd">
            <a:extLst xmlns:a="http://schemas.openxmlformats.org/drawingml/2006/main">
              <a:ext uri="{FF2B5EF4-FFF2-40B4-BE49-F238E27FC236}">
                <a16:creationId xmlns:a16="http://schemas.microsoft.com/office/drawing/2014/main" id="{DE950294-16B2-493A-A1B5-922E11949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4921875"/>
            <a:ext cx="3000000" cy="135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17813">
            <a:solidFill>
              <a:srgbClr val="222222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30 single steps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Sample SD</a:t>
            </a:r>
          </a:p>
        </p:txBody>
      </p:sp>
      <p:cxnSp>
        <p:nvCxnSpPr>
          <p:cNvPr id="3409" name=""/>
          <p:cNvCxnSpPr>
            <a:stCxn xmlns:a="http://schemas.openxmlformats.org/drawingml/2006/main" id="3251" idx="3"/>
            <a:endCxn xmlns:a="http://schemas.openxmlformats.org/drawingml/2006/main" id="3252" idx="1"/>
          </p:cNvCxnSpPr>
          <p:nvPr/>
        </p:nvCxnSpPr>
        <p:spPr>
          <a:xfrm xmlns:a="http://schemas.openxmlformats.org/drawingml/2006/main">
            <a:off x="3567188" y="35578126"/>
            <a:ext cx="557812" cy="23437"/>
          </a:xfrm>
          <a:prstGeom xmlns:a="http://schemas.openxmlformats.org/drawingml/2006/main" prst="straightConnector1">
            <a:avLst/>
          </a:prstGeom>
          <a:ln xmlns:a="http://schemas.openxmlformats.org/drawingml/2006/main" w="2062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3410" name=""/>
          <p:cNvCxnSpPr>
            <a:stCxn xmlns:a="http://schemas.openxmlformats.org/drawingml/2006/main" id="3252" idx="3"/>
            <a:endCxn xmlns:a="http://schemas.openxmlformats.org/drawingml/2006/main" id="3253" idx="1"/>
          </p:cNvCxnSpPr>
          <p:nvPr/>
        </p:nvCxnSpPr>
        <p:spPr>
          <a:xfrm xmlns:a="http://schemas.openxmlformats.org/drawingml/2006/main">
            <a:off x="6984375" y="35601563"/>
            <a:ext cx="984375" cy="0"/>
          </a:xfrm>
          <a:prstGeom xmlns:a="http://schemas.openxmlformats.org/drawingml/2006/main" prst="straightConnector1">
            <a:avLst/>
          </a:prstGeom>
          <a:ln xmlns:a="http://schemas.openxmlformats.org/drawingml/2006/main" w="2062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3411" name=""/>
          <p:cNvCxnSpPr>
            <a:stCxn xmlns:a="http://schemas.openxmlformats.org/drawingml/2006/main" id="3253" idx="3"/>
            <a:endCxn xmlns:a="http://schemas.openxmlformats.org/drawingml/2006/main" id="3254" idx="1"/>
          </p:cNvCxnSpPr>
          <p:nvPr/>
        </p:nvCxnSpPr>
        <p:spPr>
          <a:xfrm xmlns:a="http://schemas.openxmlformats.org/drawingml/2006/main">
            <a:off x="10921875" y="35601563"/>
            <a:ext cx="984375" cy="0"/>
          </a:xfrm>
          <a:prstGeom xmlns:a="http://schemas.openxmlformats.org/drawingml/2006/main" prst="straightConnector1">
            <a:avLst/>
          </a:prstGeom>
          <a:ln xmlns:a="http://schemas.openxmlformats.org/drawingml/2006/main" w="20625">
            <a:solidFill>
              <a:srgbClr val="333333"/>
            </a:solidFill>
            <a:prstDash val="solid"/>
            <a:tailEnd type="arrow" w="med" len="med"/>
          </a:ln>
        </p:spPr>
      </p:cxnSp>
      <p:sp>
        <p:nvSpPr>
          <p:cNvPr id="3258" name="boundary_key">
            <a:extLst xmlns:a="http://schemas.openxmlformats.org/drawingml/2006/main">
              <a:ext uri="{FF2B5EF4-FFF2-40B4-BE49-F238E27FC236}">
                <a16:creationId xmlns:a16="http://schemas.microsoft.com/office/drawing/2014/main" id="{81C559EF-61B2-4561-92F3-C0A25C2D6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750" y="36843750"/>
            <a:ext cx="4781250" cy="5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Boundary points and LSC center</a:t>
            </a:r>
          </a:p>
        </p:txBody>
      </p:sp>
      <p:sp>
        <p:nvSpPr>
          <p:cNvPr id="3259" name="figure3_caption">
            <a:extLst xmlns:a="http://schemas.openxmlformats.org/drawingml/2006/main">
              <a:ext uri="{FF2B5EF4-FFF2-40B4-BE49-F238E27FC236}">
                <a16:creationId xmlns:a16="http://schemas.microsoft.com/office/drawing/2014/main" id="{BEF98070-079C-4ECF-B620-B3F7ABE6F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37453125"/>
            <a:ext cx="13875000" cy="8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Fig. 3. Measured boundary points [3] and a fitted circle center [4] feed the shared displacement readout. The inset uses an actual MOSR frame.</a:t>
            </a:r>
          </a:p>
        </p:txBody>
      </p:sp>
      <p:sp>
        <p:nvSpPr>
          <p:cNvPr id="3260" name="table1_caption">
            <a:extLst xmlns:a="http://schemas.openxmlformats.org/drawingml/2006/main">
              <a:ext uri="{FF2B5EF4-FFF2-40B4-BE49-F238E27FC236}">
                <a16:creationId xmlns:a16="http://schemas.microsoft.com/office/drawing/2014/main" id="{255ED664-0DF3-42B6-BCC1-C21BA4402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750" y="38531250"/>
            <a:ext cx="13781250" cy="54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TABLE I. EVALUATION AT A 1 µm NOMINAL STEP</a:t>
            </a:r>
          </a:p>
        </p:txBody>
      </p:sp>
      <p:graphicFrame>
        <p:nvGraphicFramePr>
          <p:cNvPr id="3415" name=""/>
          <p:cNvGraphicFramePr/>
          <p:nvPr/>
        </p:nvGraphicFramePr>
        <p:xfrm>
          <a:off xmlns:a="http://schemas.openxmlformats.org/drawingml/2006/main" x="1218750" y="39187500"/>
          <a:ext xmlns:a="http://schemas.openxmlformats.org/drawingml/2006/main" cx="13781250" cy="178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84375"/>
                <a:gridCol w="5812500"/>
                <a:gridCol w="1875000"/>
                <a:gridCol w="3609375"/>
              </a:tblGrid>
              <a:tr h="59375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4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Objective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4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Acquisition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4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Steps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4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µm/pixel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375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4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20×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31-frame evaluation scan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0.1725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9375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4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50×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 locked adjacent pairs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0.0690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62" name="measurement_definition">
            <a:extLst xmlns:a="http://schemas.openxmlformats.org/drawingml/2006/main">
              <a:ext uri="{FF2B5EF4-FFF2-40B4-BE49-F238E27FC236}">
                <a16:creationId xmlns:a16="http://schemas.microsoft.com/office/drawing/2014/main" id="{EAEDBA42-8C44-411F-A1D0-24FDA9F6F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750" y="41250000"/>
            <a:ext cx="13781250" cy="107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3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Centers come from maximum-gradient boundary points and geometric LSC fits. Nine-pillar median shifts use the acquisition direction. Each condition reports the sample SD of 30 steps (denominator 29).</a:t>
            </a:r>
          </a:p>
        </p:txBody>
      </p:sp>
      <p:sp>
        <p:nvSpPr>
          <p:cNvPr id="3263" name="results_intro">
            <a:extLst xmlns:a="http://schemas.openxmlformats.org/drawingml/2006/main">
              <a:ext uri="{FF2B5EF4-FFF2-40B4-BE49-F238E27FC236}">
                <a16:creationId xmlns:a16="http://schemas.microsoft.com/office/drawing/2014/main" id="{F82E2884-F07A-4766-983B-2DC10AC5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10218750"/>
            <a:ext cx="13781250" cy="145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At a common nominal step of 1 µm, MOSR gives the lowest observed Step SD in both evaluations. Each comparison uses the same images and measurement settings for all three methods.</a:t>
            </a:r>
          </a:p>
        </p:txBody>
      </p:sp>
      <p:sp>
        <p:nvSpPr>
          <p:cNvPr id="3264" name="20x_heading">
            <a:extLst xmlns:a="http://schemas.openxmlformats.org/drawingml/2006/main">
              <a:ext uri="{FF2B5EF4-FFF2-40B4-BE49-F238E27FC236}">
                <a16:creationId xmlns:a16="http://schemas.microsoft.com/office/drawing/2014/main" id="{A12465A9-F2E7-4465-A1D5-46320E33C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50000" y="11812500"/>
            <a:ext cx="13687500" cy="69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7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7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20×, 1 µm: 30 single steps</a:t>
            </a:r>
          </a:p>
        </p:txBody>
      </p:sp>
      <p:sp>
        <p:nvSpPr>
          <p:cNvPr id="3265" name="20x_gain">
            <a:extLst xmlns:a="http://schemas.openxmlformats.org/drawingml/2006/main">
              <a:ext uri="{FF2B5EF4-FFF2-40B4-BE49-F238E27FC236}">
                <a16:creationId xmlns:a16="http://schemas.microsoft.com/office/drawing/2014/main" id="{D2D68B9A-3543-415A-9E28-8095637D9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6875" y="12656250"/>
            <a:ext cx="712500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57.2%</a:t>
            </a:r>
          </a:p>
        </p:txBody>
      </p:sp>
      <p:sp>
        <p:nvSpPr>
          <p:cNvPr id="3266" name="20x_value">
            <a:extLst xmlns:a="http://schemas.openxmlformats.org/drawingml/2006/main">
              <a:ext uri="{FF2B5EF4-FFF2-40B4-BE49-F238E27FC236}">
                <a16:creationId xmlns:a16="http://schemas.microsoft.com/office/drawing/2014/main" id="{405393D3-E3F6-4A8A-8BD4-FC1007EFF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18750" y="12778125"/>
            <a:ext cx="5343750" cy="115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6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MOSR Step SD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36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4.068 nm</a:t>
            </a:r>
          </a:p>
        </p:txBody>
      </p:sp>
      <p:sp>
        <p:nvSpPr>
          <p:cNvPr id="3267" name="20x_gain_label">
            <a:extLst xmlns:a="http://schemas.openxmlformats.org/drawingml/2006/main">
              <a:ext uri="{FF2B5EF4-FFF2-40B4-BE49-F238E27FC236}">
                <a16:creationId xmlns:a16="http://schemas.microsoft.com/office/drawing/2014/main" id="{0EE80B38-2CB8-4C2F-A030-3163BCFCD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6875" y="14015625"/>
            <a:ext cx="13593750" cy="52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Lower Step SD relative to Raw</a:t>
            </a:r>
          </a:p>
        </p:txBody>
      </p:sp>
      <p:graphicFrame>
        <p:nvGraphicFramePr>
          <p:cNvPr id="3422" name=""/>
          <p:cNvGraphicFramePr/>
          <p:nvPr/>
        </p:nvGraphicFramePr>
        <p:xfrm>
          <a:off xmlns:a="http://schemas.openxmlformats.org/drawingml/2006/main" x="17156250" y="14671875"/>
          <a:ext xmlns:a="http://schemas.openxmlformats.org/drawingml/2006/main" cx="13781250" cy="121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68750"/>
                <a:gridCol w="2812500"/>
                <a:gridCol w="3187500"/>
                <a:gridCol w="2812500"/>
              </a:tblGrid>
              <a:tr h="6093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Step SD (nm)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Raw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Wiener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MOSR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93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9.506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5.794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4.068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423" name="Chart"/>
          <p:cNvGraphicFramePr/>
          <p:nvPr/>
        </p:nvGraphicFramePr>
        <p:xfrm>
          <a:off xmlns:a="http://schemas.openxmlformats.org/drawingml/2006/main" x="17062500" y="16265625"/>
          <a:ext xmlns:a="http://schemas.openxmlformats.org/drawingml/2006/main" cx="14156250" cy="468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24733b149d8475b"/>
          </a:graphicData>
        </a:graphic>
      </p:graphicFrame>
      <p:sp>
        <p:nvSpPr>
          <p:cNvPr id="3270" name="figure4_caption">
            <a:extLst xmlns:a="http://schemas.openxmlformats.org/drawingml/2006/main">
              <a:ext uri="{FF2B5EF4-FFF2-40B4-BE49-F238E27FC236}">
                <a16:creationId xmlns:a16="http://schemas.microsoft.com/office/drawing/2014/main" id="{48FBA551-E6F1-483D-8AFA-6A14D5E34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21093750"/>
            <a:ext cx="13781250" cy="8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Fig. 4. All 30 single-step displacements at 20×. Curves use measured step minus 1 µm, with the same axis limits as the 50× evaluation.</a:t>
            </a:r>
          </a:p>
        </p:txBody>
      </p:sp>
      <p:sp>
        <p:nvSpPr>
          <p:cNvPr id="3271" name="20x_interpretation">
            <a:extLst xmlns:a="http://schemas.openxmlformats.org/drawingml/2006/main">
              <a:ext uri="{FF2B5EF4-FFF2-40B4-BE49-F238E27FC236}">
                <a16:creationId xmlns:a16="http://schemas.microsoft.com/office/drawing/2014/main" id="{5184E5E7-72BF-4613-9799-F235A941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22218750"/>
            <a:ext cx="13781250" cy="140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At 20×, the mean step changes by only 0.10 nm while Step SD decreases by 5.44 nm. This pattern is consistent with more stable boundary-based localization.</a:t>
            </a:r>
          </a:p>
        </p:txBody>
      </p:sp>
      <p:sp>
        <p:nvSpPr>
          <p:cNvPr id="3272" name="50x_heading">
            <a:extLst xmlns:a="http://schemas.openxmlformats.org/drawingml/2006/main">
              <a:ext uri="{FF2B5EF4-FFF2-40B4-BE49-F238E27FC236}">
                <a16:creationId xmlns:a16="http://schemas.microsoft.com/office/drawing/2014/main" id="{995CDB08-FFE3-4A6F-A73F-B88CDD9A5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50000" y="23812500"/>
            <a:ext cx="13687500" cy="69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7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7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50×, 1 µm: 30 single steps</a:t>
            </a:r>
          </a:p>
        </p:txBody>
      </p:sp>
      <p:sp>
        <p:nvSpPr>
          <p:cNvPr id="3273" name="50x_gain">
            <a:extLst xmlns:a="http://schemas.openxmlformats.org/drawingml/2006/main">
              <a:ext uri="{FF2B5EF4-FFF2-40B4-BE49-F238E27FC236}">
                <a16:creationId xmlns:a16="http://schemas.microsoft.com/office/drawing/2014/main" id="{579B3557-8B62-43C4-B0DF-8B9DC43DB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6875" y="24656250"/>
            <a:ext cx="712500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23.5%</a:t>
            </a:r>
          </a:p>
        </p:txBody>
      </p:sp>
      <p:sp>
        <p:nvSpPr>
          <p:cNvPr id="3274" name="50x_value">
            <a:extLst xmlns:a="http://schemas.openxmlformats.org/drawingml/2006/main">
              <a:ext uri="{FF2B5EF4-FFF2-40B4-BE49-F238E27FC236}">
                <a16:creationId xmlns:a16="http://schemas.microsoft.com/office/drawing/2014/main" id="{AA83F7DD-FBB8-44F3-8038-022E73030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18750" y="24778125"/>
            <a:ext cx="5343750" cy="115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6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MOSR Step SD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36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4.542 nm</a:t>
            </a:r>
          </a:p>
        </p:txBody>
      </p:sp>
      <p:sp>
        <p:nvSpPr>
          <p:cNvPr id="3275" name="50x_gain_label">
            <a:extLst xmlns:a="http://schemas.openxmlformats.org/drawingml/2006/main">
              <a:ext uri="{FF2B5EF4-FFF2-40B4-BE49-F238E27FC236}">
                <a16:creationId xmlns:a16="http://schemas.microsoft.com/office/drawing/2014/main" id="{DFA33C0A-A5A8-4D3F-B5D0-D70FE63D1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6875" y="26015625"/>
            <a:ext cx="13593750" cy="52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Lower Step SD relative to Raw</a:t>
            </a:r>
          </a:p>
        </p:txBody>
      </p:sp>
      <p:graphicFrame>
        <p:nvGraphicFramePr>
          <p:cNvPr id="3430" name=""/>
          <p:cNvGraphicFramePr/>
          <p:nvPr/>
        </p:nvGraphicFramePr>
        <p:xfrm>
          <a:off xmlns:a="http://schemas.openxmlformats.org/drawingml/2006/main" x="17156250" y="26671875"/>
          <a:ext xmlns:a="http://schemas.openxmlformats.org/drawingml/2006/main" cx="13781250" cy="121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68750"/>
                <a:gridCol w="2812500"/>
                <a:gridCol w="3187500"/>
                <a:gridCol w="2812500"/>
              </a:tblGrid>
              <a:tr h="6093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Step SD (nm)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Raw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Wiener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MOSR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93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5.938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4.722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4.542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431" name="Chart"/>
          <p:cNvGraphicFramePr/>
          <p:nvPr/>
        </p:nvGraphicFramePr>
        <p:xfrm>
          <a:off xmlns:a="http://schemas.openxmlformats.org/drawingml/2006/main" x="17062500" y="28265625"/>
          <a:ext xmlns:a="http://schemas.openxmlformats.org/drawingml/2006/main" cx="14156250" cy="468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294f8e896da4326"/>
          </a:graphicData>
        </a:graphic>
      </p:graphicFrame>
      <p:sp>
        <p:nvSpPr>
          <p:cNvPr id="3278" name="figure5_caption">
            <a:extLst xmlns:a="http://schemas.openxmlformats.org/drawingml/2006/main">
              <a:ext uri="{FF2B5EF4-FFF2-40B4-BE49-F238E27FC236}">
                <a16:creationId xmlns:a16="http://schemas.microsoft.com/office/drawing/2014/main" id="{FDF2BEA7-C698-486A-A560-30E17193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3093750"/>
            <a:ext cx="13781250" cy="8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Fig. 5. All 30 locked single-step displacements at 50×. MOSR reaches 4.542 nm Step SD with the same learned weights and the corresponding optical calibration.</a:t>
            </a:r>
          </a:p>
        </p:txBody>
      </p:sp>
      <p:sp>
        <p:nvSpPr>
          <p:cNvPr id="3279" name="conclusions_body">
            <a:extLst xmlns:a="http://schemas.openxmlformats.org/drawingml/2006/main">
              <a:ext uri="{FF2B5EF4-FFF2-40B4-BE49-F238E27FC236}">
                <a16:creationId xmlns:a16="http://schemas.microsoft.com/office/drawing/2014/main" id="{895E887E-E1CB-4DF8-B378-16F5D635F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5718750"/>
            <a:ext cx="13781250" cy="220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With shared reconstruction weights and objective-specific optical guidance, MOSR reduces single-step variation by 57.2% at 20× and 23.5% at 50×. The observed reductions under a common center readout support MOSR for cross-magnification micro-displacement inspection.</a:t>
            </a:r>
          </a:p>
        </p:txBody>
      </p:sp>
      <p:sp>
        <p:nvSpPr>
          <p:cNvPr id="3280" name="bibliography_body">
            <a:extLst xmlns:a="http://schemas.openxmlformats.org/drawingml/2006/main">
              <a:ext uri="{FF2B5EF4-FFF2-40B4-BE49-F238E27FC236}">
                <a16:creationId xmlns:a16="http://schemas.microsoft.com/office/drawing/2014/main" id="{420E967A-2FD4-46FB-8C4A-B84F950EB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9375000"/>
            <a:ext cx="13687500" cy="243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[1] O. Ronneberger et al., U-Net, MICCAI, 2015, pp. 234–241.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[2] R. Zhang, Making convolutional networks shift-invariant again, ICML, 2019, pp. 7324–7334.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[3] T. F. Chan and L. A. Vese, Active contours without edges, IEEE Trans. Image Process., 10(2), 266–277, 2001.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[4] N. Chernov and C. Lesort, Least squares fitting of circles, J. Math. Imaging Vis., 23, 239–252, 2005.</a:t>
            </a:r>
          </a:p>
        </p:txBody>
      </p:sp>
    </p:spTree>
    <p:extLst>
      <p:ext uri="{BB962C8B-B14F-4D97-AF65-F5344CB8AC3E}">
        <p14:creationId xmlns:p14="http://schemas.microsoft.com/office/powerpoint/2010/main" val="1270814280"/>
      </p:ext>
    </p:extLst>
  </p:cSld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2026-10-03T08:40:41.1140000Z</dcterms:created>
  <dcterms:modified xsi:type="dcterms:W3CDTF">2026-10-03T08:40:41.1140000Z</dcterms:modified>
</coreProperties>
</file>