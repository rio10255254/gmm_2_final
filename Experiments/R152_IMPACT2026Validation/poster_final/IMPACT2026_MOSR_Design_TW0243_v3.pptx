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e7c364fedf4922" /><Relationship Type="http://schemas.openxmlformats.org/officeDocument/2006/relationships/extended-properties" Target="/docProps/app.xml" Id="R6a221a64ec2a428f" /><Relationship Type="http://schemas.openxmlformats.org/officeDocument/2006/relationships/officeDocument" Target="/ppt/presentation.xml" Id="R2109cb6df51349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6e019758c949a1"/>
  </p:sldMasterIdLst>
  <p:notesMasterIdLst>
    <p:notesMasterId xmlns:r="http://schemas.openxmlformats.org/officeDocument/2006/relationships" r:id="R76223a292f734c6c"/>
  </p:notesMasterIdLst>
  <p:sldIdLst>
    <p:sldId xmlns:r="http://schemas.openxmlformats.org/officeDocument/2006/relationships" id="256" r:id="R39f8026d82a14713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976d53a9024855" /><Relationship Type="http://schemas.openxmlformats.org/officeDocument/2006/relationships/slideMaster" Target="/ppt/slideMasters/slideMaster1.xml" Id="R926e019758c949a1" /><Relationship Type="http://schemas.openxmlformats.org/officeDocument/2006/relationships/notesMaster" Target="/ppt/notesMasters/notesMaster1.xml" Id="R76223a292f734c6c" /><Relationship Type="http://schemas.openxmlformats.org/officeDocument/2006/relationships/presProps" Target="/ppt/presProps.xml" Id="Rd5e104a70d0541ac" /><Relationship Type="http://schemas.openxmlformats.org/officeDocument/2006/relationships/viewProps" Target="/ppt/viewProps.xml" Id="Rfbb396ca1b8a41dc" /><Relationship Type="http://schemas.openxmlformats.org/officeDocument/2006/relationships/tableStyles" Target="/ppt/tableStyles.xml" Id="R8024d3c97ec14a1e" /><Relationship Type="http://schemas.openxmlformats.org/officeDocument/2006/relationships/slide" Target="/ppt/slides/slide1.xml" Id="R39f8026d82a147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1fa368d04c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4249e9bec7464c" /><Relationship Type="http://schemas.openxmlformats.org/officeDocument/2006/relationships/notesMaster" Target="/ppt/notesMasters/notesMaster1.xml" Id="R7fa51562ae5243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IMPACT2026 TW0243. Public model name: MOSR. This poster presents an updated evaluation at a nominal 1 micrometer step. The 20x condition uses one complete 31-frame evaluation scan; the 50x condition uses its fixed prior list of 30 adjacent-frame pairs. Conditions are reported separately. All methods use the same image pairs, identities, scale and center-estimation procedure within each condition. Fig. 2 summarizes functional roles; performance values refer to the complete reconstruction and readout. Fig. 3 uses measured boundary points and a fitted center from the displayed 20x MOSR field. The curves contain all 30 observed displacements per condition and method, minus nominal 1000 nm for display; no per-method centering, detrending or smoothing is applied. Sources for method context: Ronneberger et al., MICCAI 2015; Zhang, ICML 2019; Chan and Vese, IEEE TIP 2001; Chernov and Lesort, JMIV 2005.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3acc881eb49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0eccb059543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c08f23b384d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74cda05354d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5483d54de4f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438bbd6374d7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b589dde0f44c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d3a7ce31f42f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b6c8b07bc4d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3445b76a4496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299571fe04cfa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E408086-EAF8-45E3-BFD7-1AB6D6FD8FE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CA7F62CB-05FD-429E-BFC5-3716A22CDB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6538775-CE93-4CFD-A89F-B9A735C079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EAD36F17-30DC-4254-9A3F-A4929F6679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2AE3B74-81F9-45C8-9749-4CFA83883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D6079327-ED5D-46E8-B8B2-6A8BCCCF17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521E912-E809-478E-8095-3AA955C7A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78AC39D-F121-445F-AE6B-6020EA3837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26CE016-F93C-4A44-96D7-E72AA12C7D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C90C65F-B82E-44C7-98C9-8E5A0C8F8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C6749D6-A534-492E-B708-DD056CCEF6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0C493732-4F33-4CFA-81F1-1077F2A8135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9486FCC7-792A-41F7-8B25-7B6012F6D5B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0C8D23BA-462C-4263-8F48-88B089EDB61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3DC36E8-6CBF-4E29-8F14-63EC1EB86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A238C99-66E7-479B-A0CC-1D3ED0C73E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272B08A7-6C1F-40E3-8C9E-46223F4EB1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2517DE1-1760-4924-A9F4-64B552AA6D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18D1863-6C0A-40C2-A14A-BF4C93D8A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1D389902-14A9-4AD1-87BF-B2027036AE9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4419BC6-B893-4438-9C43-BADD196E98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412B3E9-4D32-4965-9767-9FF817B16A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87F8207-4E0B-4620-9C54-963DDFBC33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744C1F82-D0C0-418C-B6EA-C7687DA76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C8073D7-A873-4610-B104-6AF994A7A3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fdf84b17e34bcc" /><Relationship Type="http://schemas.openxmlformats.org/officeDocument/2006/relationships/slideLayout" Target="/ppt/slideLayouts/slideLayout1.xml" Id="Re67ed2e661be486b" /><Relationship Type="http://schemas.openxmlformats.org/officeDocument/2006/relationships/slideLayout" Target="/ppt/slideLayouts/slideLayout2.xml" Id="R9a427aae28c94ae0" /><Relationship Type="http://schemas.openxmlformats.org/officeDocument/2006/relationships/slideLayout" Target="/ppt/slideLayouts/slideLayout3.xml" Id="R0889ad2dffbf4620" /><Relationship Type="http://schemas.openxmlformats.org/officeDocument/2006/relationships/slideLayout" Target="/ppt/slideLayouts/slideLayout4.xml" Id="R447ccf5462bf4c9a" /><Relationship Type="http://schemas.openxmlformats.org/officeDocument/2006/relationships/slideLayout" Target="/ppt/slideLayouts/slideLayout5.xml" Id="R9b2e5d63a43c42dc" /><Relationship Type="http://schemas.openxmlformats.org/officeDocument/2006/relationships/slideLayout" Target="/ppt/slideLayouts/slideLayout6.xml" Id="R527d9e1974604142" /><Relationship Type="http://schemas.openxmlformats.org/officeDocument/2006/relationships/slideLayout" Target="/ppt/slideLayouts/slideLayout7.xml" Id="R38eeddc5fc6c4f28" /><Relationship Type="http://schemas.openxmlformats.org/officeDocument/2006/relationships/slideLayout" Target="/ppt/slideLayouts/slideLayout8.xml" Id="R3776050e1f464293" /><Relationship Type="http://schemas.openxmlformats.org/officeDocument/2006/relationships/slideLayout" Target="/ppt/slideLayouts/slideLayout9.xml" Id="Rdab51e47e7244c32" /><Relationship Type="http://schemas.openxmlformats.org/officeDocument/2006/relationships/slideLayout" Target="/ppt/slideLayouts/slideLayout10.xml" Id="R3d4e04c18de542af" /><Relationship Type="http://schemas.openxmlformats.org/officeDocument/2006/relationships/slideLayout" Target="/ppt/slideLayouts/slideLayout11.xml" Id="Rb09d9eea075149f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7ed2e661be486b"/>
    <p:sldLayoutId xmlns:r="http://schemas.openxmlformats.org/officeDocument/2006/relationships" id="2147483650" r:id="R9a427aae28c94ae0"/>
    <p:sldLayoutId xmlns:r="http://schemas.openxmlformats.org/officeDocument/2006/relationships" id="2147483651" r:id="R0889ad2dffbf4620"/>
    <p:sldLayoutId xmlns:r="http://schemas.openxmlformats.org/officeDocument/2006/relationships" id="2147483652" r:id="R447ccf5462bf4c9a"/>
    <p:sldLayoutId xmlns:r="http://schemas.openxmlformats.org/officeDocument/2006/relationships" id="2147483653" r:id="R9b2e5d63a43c42dc"/>
    <p:sldLayoutId xmlns:r="http://schemas.openxmlformats.org/officeDocument/2006/relationships" id="2147483654" r:id="R527d9e1974604142"/>
    <p:sldLayoutId xmlns:r="http://schemas.openxmlformats.org/officeDocument/2006/relationships" id="2147483655" r:id="R38eeddc5fc6c4f28"/>
    <p:sldLayoutId xmlns:r="http://schemas.openxmlformats.org/officeDocument/2006/relationships" id="2147483656" r:id="R3776050e1f464293"/>
    <p:sldLayoutId xmlns:r="http://schemas.openxmlformats.org/officeDocument/2006/relationships" id="2147483657" r:id="Rdab51e47e7244c32"/>
    <p:sldLayoutId xmlns:r="http://schemas.openxmlformats.org/officeDocument/2006/relationships" id="2147483658" r:id="R3d4e04c18de542af"/>
    <p:sldLayoutId xmlns:r="http://schemas.openxmlformats.org/officeDocument/2006/relationships" id="2147483659" r:id="Rb09d9eea075149fd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4bac0090b48d6" /><Relationship Type="http://schemas.openxmlformats.org/officeDocument/2006/relationships/image" Target="/ppt/media/image.jpeg" Id="Rb910f59421a84498" /><Relationship Type="http://schemas.openxmlformats.org/officeDocument/2006/relationships/image" Target="/ppt/media/image.png" Id="R8183c52fea614e36" /><Relationship Type="http://schemas.openxmlformats.org/officeDocument/2006/relationships/image" Target="/ppt/media/image2.png" Id="Rc9bc3a4340ce405f" /><Relationship Type="http://schemas.openxmlformats.org/officeDocument/2006/relationships/image" Target="/ppt/media/image3.png" Id="R95a45fbff4aa4579" /><Relationship Type="http://schemas.openxmlformats.org/officeDocument/2006/relationships/image" Target="/ppt/media/image4.png" Id="R78f238b2223b4efc" /><Relationship Type="http://schemas.openxmlformats.org/officeDocument/2006/relationships/image" Target="/ppt/media/image5.png" Id="R94624ed88be84ea0" /><Relationship Type="http://schemas.openxmlformats.org/officeDocument/2006/relationships/chart" Target="/ppt/slides/charts/chart1.xml" Id="Rb272a52331c24920" /><Relationship Type="http://schemas.openxmlformats.org/officeDocument/2006/relationships/chart" Target="/ppt/slides/charts/chart2.xml" Id="Ra95515bf7ed74b4a" /><Relationship Type="http://schemas.openxmlformats.org/officeDocument/2006/relationships/notesSlide" Target="/ppt/notesSlides/notesSlide1.xml" Id="Rb1c80a9a49ce4e9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999999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-5.500603</c:v>
                </c:pt>
                <c:pt idx="1">
                  <c:v>-5.908449</c:v>
                </c:pt>
                <c:pt idx="2">
                  <c:v>2.69955</c:v>
                </c:pt>
                <c:pt idx="3">
                  <c:v>4.106944</c:v>
                </c:pt>
                <c:pt idx="4">
                  <c:v>8.655457</c:v>
                </c:pt>
                <c:pt idx="5">
                  <c:v>2.396533</c:v>
                </c:pt>
                <c:pt idx="6">
                  <c:v>-8.565548</c:v>
                </c:pt>
                <c:pt idx="7">
                  <c:v>0.508422</c:v>
                </c:pt>
                <c:pt idx="8">
                  <c:v>12.650861</c:v>
                </c:pt>
                <c:pt idx="9">
                  <c:v>-5.735517</c:v>
                </c:pt>
                <c:pt idx="10">
                  <c:v>11.784784</c:v>
                </c:pt>
                <c:pt idx="11">
                  <c:v>-26.069287</c:v>
                </c:pt>
                <c:pt idx="12">
                  <c:v>5.606411</c:v>
                </c:pt>
                <c:pt idx="13">
                  <c:v>10.025318</c:v>
                </c:pt>
                <c:pt idx="14">
                  <c:v>-11.478591</c:v>
                </c:pt>
                <c:pt idx="15">
                  <c:v>20.234999</c:v>
                </c:pt>
                <c:pt idx="16">
                  <c:v>-8.759684</c:v>
                </c:pt>
                <c:pt idx="17">
                  <c:v>-4.175094</c:v>
                </c:pt>
                <c:pt idx="18">
                  <c:v>10.560885</c:v>
                </c:pt>
                <c:pt idx="19">
                  <c:v>-5.878099</c:v>
                </c:pt>
                <c:pt idx="20">
                  <c:v>4.019884</c:v>
                </c:pt>
                <c:pt idx="21">
                  <c:v>3.772859</c:v>
                </c:pt>
                <c:pt idx="22">
                  <c:v>4.2599</c:v>
                </c:pt>
                <c:pt idx="23">
                  <c:v>0.617848</c:v>
                </c:pt>
                <c:pt idx="24">
                  <c:v>7.136656</c:v>
                </c:pt>
                <c:pt idx="25">
                  <c:v>0.218938</c:v>
                </c:pt>
                <c:pt idx="26">
                  <c:v>9.489033</c:v>
                </c:pt>
                <c:pt idx="27">
                  <c:v>11.02197</c:v>
                </c:pt>
                <c:pt idx="28">
                  <c:v>-10.847007</c:v>
                </c:pt>
                <c:pt idx="29">
                  <c:v>9.775089</c:v>
                </c:pt>
              </c:numCache>
            </c:numRef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1.216177</c:v>
                </c:pt>
                <c:pt idx="1">
                  <c:v>2.717153</c:v>
                </c:pt>
                <c:pt idx="2">
                  <c:v>-5.017586</c:v>
                </c:pt>
                <c:pt idx="3">
                  <c:v>-4.797491</c:v>
                </c:pt>
                <c:pt idx="4">
                  <c:v>-6.494276</c:v>
                </c:pt>
                <c:pt idx="5">
                  <c:v>8.034867</c:v>
                </c:pt>
                <c:pt idx="6">
                  <c:v>2.334531</c:v>
                </c:pt>
                <c:pt idx="7">
                  <c:v>-0.051228</c:v>
                </c:pt>
                <c:pt idx="8">
                  <c:v>-4.941241</c:v>
                </c:pt>
                <c:pt idx="9">
                  <c:v>-2.722</c:v>
                </c:pt>
                <c:pt idx="10">
                  <c:v>5.586717</c:v>
                </c:pt>
                <c:pt idx="11">
                  <c:v>6.563323</c:v>
                </c:pt>
                <c:pt idx="12">
                  <c:v>2.912163</c:v>
                </c:pt>
                <c:pt idx="13">
                  <c:v>2.068432</c:v>
                </c:pt>
                <c:pt idx="14">
                  <c:v>-1.430616</c:v>
                </c:pt>
                <c:pt idx="15">
                  <c:v>2.43275</c:v>
                </c:pt>
                <c:pt idx="16">
                  <c:v>17.393</c:v>
                </c:pt>
                <c:pt idx="17">
                  <c:v>9.439032</c:v>
                </c:pt>
                <c:pt idx="18">
                  <c:v>7.841508</c:v>
                </c:pt>
                <c:pt idx="19">
                  <c:v>-1.531477</c:v>
                </c:pt>
                <c:pt idx="20">
                  <c:v>2.702926</c:v>
                </c:pt>
                <c:pt idx="21">
                  <c:v>-0.045107</c:v>
                </c:pt>
                <c:pt idx="22">
                  <c:v>12.382601</c:v>
                </c:pt>
                <c:pt idx="23">
                  <c:v>-0.034985</c:v>
                </c:pt>
                <c:pt idx="24">
                  <c:v>0.03399</c:v>
                </c:pt>
                <c:pt idx="25">
                  <c:v>-3.439241</c:v>
                </c:pt>
                <c:pt idx="26">
                  <c:v>11.283227</c:v>
                </c:pt>
                <c:pt idx="27">
                  <c:v>-2.529997</c:v>
                </c:pt>
                <c:pt idx="28">
                  <c:v>1.623318</c:v>
                </c:pt>
                <c:pt idx="29">
                  <c:v>-5.178834</c:v>
                </c:pt>
              </c:numCache>
            </c:numRef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-3.227868</c:v>
                </c:pt>
                <c:pt idx="1">
                  <c:v>2.710964</c:v>
                </c:pt>
                <c:pt idx="2">
                  <c:v>-2.745939</c:v>
                </c:pt>
                <c:pt idx="3">
                  <c:v>-10.368061</c:v>
                </c:pt>
                <c:pt idx="4">
                  <c:v>-3.924594</c:v>
                </c:pt>
                <c:pt idx="5">
                  <c:v>9.661482</c:v>
                </c:pt>
                <c:pt idx="6">
                  <c:v>-1.869753</c:v>
                </c:pt>
                <c:pt idx="7">
                  <c:v>-3.653498</c:v>
                </c:pt>
                <c:pt idx="8">
                  <c:v>2.079089</c:v>
                </c:pt>
                <c:pt idx="9">
                  <c:v>1.76388</c:v>
                </c:pt>
                <c:pt idx="10">
                  <c:v>-0.209511</c:v>
                </c:pt>
                <c:pt idx="11">
                  <c:v>6.087434</c:v>
                </c:pt>
                <c:pt idx="12">
                  <c:v>0.209496</c:v>
                </c:pt>
                <c:pt idx="13">
                  <c:v>2.521649</c:v>
                </c:pt>
                <c:pt idx="14">
                  <c:v>4.634937</c:v>
                </c:pt>
                <c:pt idx="15">
                  <c:v>5.615431</c:v>
                </c:pt>
                <c:pt idx="16">
                  <c:v>0.258603</c:v>
                </c:pt>
                <c:pt idx="17">
                  <c:v>1.537293</c:v>
                </c:pt>
                <c:pt idx="18">
                  <c:v>1.837462</c:v>
                </c:pt>
                <c:pt idx="19">
                  <c:v>1.170726</c:v>
                </c:pt>
                <c:pt idx="20">
                  <c:v>1.593509</c:v>
                </c:pt>
                <c:pt idx="21">
                  <c:v>1.493215</c:v>
                </c:pt>
                <c:pt idx="22">
                  <c:v>5.060378</c:v>
                </c:pt>
                <c:pt idx="23">
                  <c:v>-2.324919</c:v>
                </c:pt>
                <c:pt idx="24">
                  <c:v>8.597368</c:v>
                </c:pt>
                <c:pt idx="25">
                  <c:v>4.286585</c:v>
                </c:pt>
                <c:pt idx="26">
                  <c:v>0.363105</c:v>
                </c:pt>
                <c:pt idx="27">
                  <c:v>5.261717</c:v>
                </c:pt>
                <c:pt idx="28">
                  <c:v>4.081247</c:v>
                </c:pt>
                <c:pt idx="29">
                  <c:v>1.123131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999999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2.686368</c:v>
                </c:pt>
                <c:pt idx="1">
                  <c:v>9.182534</c:v>
                </c:pt>
                <c:pt idx="2">
                  <c:v>2.138453</c:v>
                </c:pt>
                <c:pt idx="3">
                  <c:v>19.038464</c:v>
                </c:pt>
                <c:pt idx="4">
                  <c:v>7.55241</c:v>
                </c:pt>
                <c:pt idx="5">
                  <c:v>8.292485</c:v>
                </c:pt>
                <c:pt idx="6">
                  <c:v>1.938353</c:v>
                </c:pt>
                <c:pt idx="7">
                  <c:v>0.169756</c:v>
                </c:pt>
                <c:pt idx="8">
                  <c:v>12.516923</c:v>
                </c:pt>
                <c:pt idx="9">
                  <c:v>-7.524604</c:v>
                </c:pt>
                <c:pt idx="10">
                  <c:v>7.555743</c:v>
                </c:pt>
                <c:pt idx="11">
                  <c:v>-6.01632</c:v>
                </c:pt>
                <c:pt idx="12">
                  <c:v>2.937759</c:v>
                </c:pt>
                <c:pt idx="13">
                  <c:v>4.849974</c:v>
                </c:pt>
                <c:pt idx="14">
                  <c:v>-1.991931</c:v>
                </c:pt>
                <c:pt idx="15">
                  <c:v>7.006504</c:v>
                </c:pt>
                <c:pt idx="16">
                  <c:v>10.385565</c:v>
                </c:pt>
                <c:pt idx="17">
                  <c:v>4.370432</c:v>
                </c:pt>
                <c:pt idx="18">
                  <c:v>-4.605217</c:v>
                </c:pt>
                <c:pt idx="19">
                  <c:v>1.729503</c:v>
                </c:pt>
                <c:pt idx="20">
                  <c:v>6.639988</c:v>
                </c:pt>
                <c:pt idx="21">
                  <c:v>2.952791</c:v>
                </c:pt>
                <c:pt idx="22">
                  <c:v>1.565323</c:v>
                </c:pt>
                <c:pt idx="23">
                  <c:v>-1.842113</c:v>
                </c:pt>
                <c:pt idx="24">
                  <c:v>11.002118</c:v>
                </c:pt>
                <c:pt idx="25">
                  <c:v>7.265897</c:v>
                </c:pt>
                <c:pt idx="26">
                  <c:v>-3.046962</c:v>
                </c:pt>
                <c:pt idx="27">
                  <c:v>12.251693</c:v>
                </c:pt>
                <c:pt idx="28">
                  <c:v>1.922943</c:v>
                </c:pt>
                <c:pt idx="29">
                  <c:v>4.484335</c:v>
                </c:pt>
              </c:numCache>
            </c:numRef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0.776912</c:v>
                </c:pt>
                <c:pt idx="1">
                  <c:v>9.592831</c:v>
                </c:pt>
                <c:pt idx="2">
                  <c:v>0.733851</c:v>
                </c:pt>
                <c:pt idx="3">
                  <c:v>9.536013</c:v>
                </c:pt>
                <c:pt idx="4">
                  <c:v>6.043761</c:v>
                </c:pt>
                <c:pt idx="5">
                  <c:v>8.937796</c:v>
                </c:pt>
                <c:pt idx="6">
                  <c:v>5.038577</c:v>
                </c:pt>
                <c:pt idx="7">
                  <c:v>-2.234989</c:v>
                </c:pt>
                <c:pt idx="8">
                  <c:v>8.741583</c:v>
                </c:pt>
                <c:pt idx="9">
                  <c:v>-9.188174</c:v>
                </c:pt>
                <c:pt idx="10">
                  <c:v>4.837024</c:v>
                </c:pt>
                <c:pt idx="11">
                  <c:v>2.31548</c:v>
                </c:pt>
                <c:pt idx="12">
                  <c:v>0.548453</c:v>
                </c:pt>
                <c:pt idx="13">
                  <c:v>0.922328</c:v>
                </c:pt>
                <c:pt idx="14">
                  <c:v>1.656364</c:v>
                </c:pt>
                <c:pt idx="15">
                  <c:v>7.469376</c:v>
                </c:pt>
                <c:pt idx="16">
                  <c:v>8.894075</c:v>
                </c:pt>
                <c:pt idx="17">
                  <c:v>1.793953</c:v>
                </c:pt>
                <c:pt idx="18">
                  <c:v>-7.004938</c:v>
                </c:pt>
                <c:pt idx="19">
                  <c:v>0.586654</c:v>
                </c:pt>
                <c:pt idx="20">
                  <c:v>6.626341</c:v>
                </c:pt>
                <c:pt idx="21">
                  <c:v>1.477375</c:v>
                </c:pt>
                <c:pt idx="22">
                  <c:v>1.980899</c:v>
                </c:pt>
                <c:pt idx="23">
                  <c:v>2.507699</c:v>
                </c:pt>
                <c:pt idx="24">
                  <c:v>3.572485</c:v>
                </c:pt>
                <c:pt idx="25">
                  <c:v>8.726712</c:v>
                </c:pt>
                <c:pt idx="26">
                  <c:v>3.90271</c:v>
                </c:pt>
                <c:pt idx="27">
                  <c:v>10.370118</c:v>
                </c:pt>
                <c:pt idx="28">
                  <c:v>7.791488</c:v>
                </c:pt>
                <c:pt idx="29">
                  <c:v>4.299462</c:v>
                </c:pt>
              </c:numCache>
            </c:numRef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0.680232</c:v>
                </c:pt>
                <c:pt idx="1">
                  <c:v>12.242885</c:v>
                </c:pt>
                <c:pt idx="2">
                  <c:v>1.863735</c:v>
                </c:pt>
                <c:pt idx="3">
                  <c:v>12.564694</c:v>
                </c:pt>
                <c:pt idx="4">
                  <c:v>5.435655</c:v>
                </c:pt>
                <c:pt idx="5">
                  <c:v>7.208391</c:v>
                </c:pt>
                <c:pt idx="6">
                  <c:v>4.623323</c:v>
                </c:pt>
                <c:pt idx="7">
                  <c:v>-1.305476</c:v>
                </c:pt>
                <c:pt idx="8">
                  <c:v>7.424037</c:v>
                </c:pt>
                <c:pt idx="9">
                  <c:v>-7.976704</c:v>
                </c:pt>
                <c:pt idx="10">
                  <c:v>3.492664</c:v>
                </c:pt>
                <c:pt idx="11">
                  <c:v>-1.536607</c:v>
                </c:pt>
                <c:pt idx="12">
                  <c:v>0.768757</c:v>
                </c:pt>
                <c:pt idx="13">
                  <c:v>0.782678</c:v>
                </c:pt>
                <c:pt idx="14">
                  <c:v>-0.286744</c:v>
                </c:pt>
                <c:pt idx="15">
                  <c:v>4.945026</c:v>
                </c:pt>
                <c:pt idx="16">
                  <c:v>9.192739</c:v>
                </c:pt>
                <c:pt idx="17">
                  <c:v>1.055709</c:v>
                </c:pt>
                <c:pt idx="18">
                  <c:v>-5.153098</c:v>
                </c:pt>
                <c:pt idx="19">
                  <c:v>-0.645551</c:v>
                </c:pt>
                <c:pt idx="20">
                  <c:v>6.037578</c:v>
                </c:pt>
                <c:pt idx="21">
                  <c:v>0.465356</c:v>
                </c:pt>
                <c:pt idx="22">
                  <c:v>4.159249</c:v>
                </c:pt>
                <c:pt idx="23">
                  <c:v>3.294079</c:v>
                </c:pt>
                <c:pt idx="24">
                  <c:v>2.30634</c:v>
                </c:pt>
                <c:pt idx="25">
                  <c:v>6.304203</c:v>
                </c:pt>
                <c:pt idx="26">
                  <c:v>2.782126</c:v>
                </c:pt>
                <c:pt idx="27">
                  <c:v>8.773705</c:v>
                </c:pt>
                <c:pt idx="28">
                  <c:v>3.920411</c:v>
                </c:pt>
                <c:pt idx="29">
                  <c:v>2.086435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Pair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45AF3B16-92C9-4B63-BB99-B0A6A830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9113" y="8037677"/>
            <a:ext cx="15244085" cy="34100749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6B93269-FC93-4109-A79A-88E08C3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12" y="8000176"/>
            <a:ext cx="15244085" cy="34100749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60C4A10B-A87F-4B22-82CB-DD80B26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489062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221AD9D1-0226-440B-A3DA-6DD15324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4125000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7001057-A9F8-4E61-ACD9-3062DE42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61" y="500011"/>
            <a:ext cx="31388190" cy="6900152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99E695A8-C601-42BC-9999-D802F08C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25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4496260E-7609-40B1-B4F5-34F86E6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825000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3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3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C2F720DB-3B68-49C1-AE22-EF8FD77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76388F38-CCAD-4705-BF6E-6A1C1DFA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E36F28AF-EABB-4EB8-9ED7-9154CEFE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000" y="1846875"/>
            <a:ext cx="3796875" cy="1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 TW0243</a:t>
            </a:r>
            <a:endParaRPr sz="2800" b="1" i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91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0f59421a844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1261" y="857832"/>
            <a:ext cx="2512555" cy="843769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138" name="authors">
            <a:extLst xmlns:a="http://schemas.openxmlformats.org/drawingml/2006/main">
              <a:ext uri="{FF2B5EF4-FFF2-40B4-BE49-F238E27FC236}">
                <a16:creationId xmlns:a16="http://schemas.microsoft.com/office/drawing/2014/main" id="{A2954BB9-5201-4E36-A8F6-558E2A86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139" name="affiliation">
            <a:extLst xmlns:a="http://schemas.openxmlformats.org/drawingml/2006/main">
              <a:ext uri="{FF2B5EF4-FFF2-40B4-BE49-F238E27FC236}">
                <a16:creationId xmlns:a16="http://schemas.microsoft.com/office/drawing/2014/main" id="{A6EDCA7B-1BDC-495A-BB16-05802974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140" name="contact">
            <a:extLst xmlns:a="http://schemas.openxmlformats.org/drawingml/2006/main">
              <a:ext uri="{FF2B5EF4-FFF2-40B4-BE49-F238E27FC236}">
                <a16:creationId xmlns:a16="http://schemas.microsoft.com/office/drawing/2014/main" id="{9D721DCC-53BE-4041-A8E5-B0272814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141" name="intro_body">
            <a:extLst xmlns:a="http://schemas.openxmlformats.org/drawingml/2006/main">
              <a:ext uri="{FF2B5EF4-FFF2-40B4-BE49-F238E27FC236}">
                <a16:creationId xmlns:a16="http://schemas.microsoft.com/office/drawing/2014/main" id="{7155A22B-E1BF-4E0B-B935-910CCAC7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65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Micro-displacement inspection requires image features that can be located consistently when the objective changes. Optical blur and pixel sampling affect the boundary signals used to estimate 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combines calibrated optical guidance, anti-aliased multiscale features [1,2] and bounded correction on the original pixel grid. One fixed set of reconstruction weights serves 20× and 50×. We test its measurement benefit using the same circle-center procedure for Raw, fixed Wiener and MOSR.</a:t>
            </a:r>
          </a:p>
        </p:txBody>
      </p:sp>
      <p:sp>
        <p:nvSpPr>
          <p:cNvPr id="3142" name="raw_label">
            <a:extLst xmlns:a="http://schemas.openxmlformats.org/drawingml/2006/main">
              <a:ext uri="{FF2B5EF4-FFF2-40B4-BE49-F238E27FC236}">
                <a16:creationId xmlns:a16="http://schemas.microsoft.com/office/drawing/2014/main" id="{012B249B-936A-4656-BECA-DDD7E2DF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750" y="14062500"/>
            <a:ext cx="412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43" name="mosr_label">
            <a:extLst xmlns:a="http://schemas.openxmlformats.org/drawingml/2006/main">
              <a:ext uri="{FF2B5EF4-FFF2-40B4-BE49-F238E27FC236}">
                <a16:creationId xmlns:a16="http://schemas.microsoft.com/office/drawing/2014/main" id="{4ADF162D-B153-47B2-9F8B-EF8EC997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000" y="14062500"/>
            <a:ext cx="412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44" name="mag-20x">
            <a:extLst xmlns:a="http://schemas.openxmlformats.org/drawingml/2006/main">
              <a:ext uri="{FF2B5EF4-FFF2-40B4-BE49-F238E27FC236}">
                <a16:creationId xmlns:a16="http://schemas.microsoft.com/office/drawing/2014/main" id="{688BAB9D-10B9-4DFB-824D-2EBDCD36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4578125"/>
            <a:ext cx="1406250" cy="4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2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3c52fea614e36"/>
          <a:stretch xmlns:a="http://schemas.openxmlformats.org/drawingml/2006/main"/>
        </p:blipFill>
        <p:spPr>
          <a:xfrm xmlns:a="http://schemas.openxmlformats.org/drawingml/2006/main">
            <a:off x="2343750" y="15046875"/>
            <a:ext cx="4125000" cy="4125000"/>
          </a:xfrm>
          <a:prstGeom xmlns:a="http://schemas.openxmlformats.org/drawingml/2006/main" prst="rect">
            <a:avLst/>
          </a:prstGeom>
        </p:spPr>
      </p:pic>
      <p:sp>
        <p:nvSpPr>
          <p:cNvPr id="3146" name="scale-20x-Raw">
            <a:extLst xmlns:a="http://schemas.openxmlformats.org/drawingml/2006/main">
              <a:ext uri="{FF2B5EF4-FFF2-40B4-BE49-F238E27FC236}">
                <a16:creationId xmlns:a16="http://schemas.microsoft.com/office/drawing/2014/main" id="{772CBCAA-648D-46A8-9257-459A7B34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448" y="18890625"/>
            <a:ext cx="493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47" name="scale-label-20x-Raw">
            <a:extLst xmlns:a="http://schemas.openxmlformats.org/drawingml/2006/main">
              <a:ext uri="{FF2B5EF4-FFF2-40B4-BE49-F238E27FC236}">
                <a16:creationId xmlns:a16="http://schemas.microsoft.com/office/drawing/2014/main" id="{3EB39331-E7F1-40BB-A575-9748B83B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948" y="18440625"/>
            <a:ext cx="868052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c3a4340ce405f"/>
          <a:stretch xmlns:a="http://schemas.openxmlformats.org/drawingml/2006/main"/>
        </p:blipFill>
        <p:spPr>
          <a:xfrm xmlns:a="http://schemas.openxmlformats.org/drawingml/2006/main">
            <a:off x="9375000" y="15046875"/>
            <a:ext cx="4125000" cy="4125000"/>
          </a:xfrm>
          <a:prstGeom xmlns:a="http://schemas.openxmlformats.org/drawingml/2006/main" prst="rect">
            <a:avLst/>
          </a:prstGeom>
        </p:spPr>
      </p:pic>
      <p:sp>
        <p:nvSpPr>
          <p:cNvPr id="3149" name="scale-20x-MOSR">
            <a:extLst xmlns:a="http://schemas.openxmlformats.org/drawingml/2006/main">
              <a:ext uri="{FF2B5EF4-FFF2-40B4-BE49-F238E27FC236}">
                <a16:creationId xmlns:a16="http://schemas.microsoft.com/office/drawing/2014/main" id="{6660BBB4-AF84-4593-86DC-5CA6C071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698" y="18890625"/>
            <a:ext cx="493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0" name="scale-label-20x-MOSR">
            <a:extLst xmlns:a="http://schemas.openxmlformats.org/drawingml/2006/main">
              <a:ext uri="{FF2B5EF4-FFF2-40B4-BE49-F238E27FC236}">
                <a16:creationId xmlns:a16="http://schemas.microsoft.com/office/drawing/2014/main" id="{948FAD97-427E-487B-BA0C-2C4DD9DC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8198" y="18440625"/>
            <a:ext cx="868052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51" name="mag-50x">
            <a:extLst xmlns:a="http://schemas.openxmlformats.org/drawingml/2006/main">
              <a:ext uri="{FF2B5EF4-FFF2-40B4-BE49-F238E27FC236}">
                <a16:creationId xmlns:a16="http://schemas.microsoft.com/office/drawing/2014/main" id="{7C3EE18D-473E-4C78-A296-1B465AEA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9359375"/>
            <a:ext cx="1406250" cy="4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3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45fbff4aa4579"/>
          <a:stretch xmlns:a="http://schemas.openxmlformats.org/drawingml/2006/main"/>
        </p:blipFill>
        <p:spPr>
          <a:xfrm xmlns:a="http://schemas.openxmlformats.org/drawingml/2006/main">
            <a:off x="2343750" y="19837211"/>
            <a:ext cx="4125000" cy="4106828"/>
          </a:xfrm>
          <a:prstGeom xmlns:a="http://schemas.openxmlformats.org/drawingml/2006/main" prst="rect">
            <a:avLst/>
          </a:prstGeom>
        </p:spPr>
      </p:pic>
      <p:sp>
        <p:nvSpPr>
          <p:cNvPr id="3153" name="scale-50x-Raw">
            <a:extLst xmlns:a="http://schemas.openxmlformats.org/drawingml/2006/main">
              <a:ext uri="{FF2B5EF4-FFF2-40B4-BE49-F238E27FC236}">
                <a16:creationId xmlns:a16="http://schemas.microsoft.com/office/drawing/2014/main" id="{01F923FA-79C7-48A2-BA53-6B799C80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781" y="23671875"/>
            <a:ext cx="5267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4" name="scale-label-50x-Raw">
            <a:extLst xmlns:a="http://schemas.openxmlformats.org/drawingml/2006/main">
              <a:ext uri="{FF2B5EF4-FFF2-40B4-BE49-F238E27FC236}">
                <a16:creationId xmlns:a16="http://schemas.microsoft.com/office/drawing/2014/main" id="{9C152DDC-AD6B-4B42-BB9E-40C48A26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281" y="23221875"/>
            <a:ext cx="901719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238b2223b4efc"/>
          <a:stretch xmlns:a="http://schemas.openxmlformats.org/drawingml/2006/main"/>
        </p:blipFill>
        <p:spPr>
          <a:xfrm xmlns:a="http://schemas.openxmlformats.org/drawingml/2006/main">
            <a:off x="9375000" y="19837211"/>
            <a:ext cx="4125000" cy="4106828"/>
          </a:xfrm>
          <a:prstGeom xmlns:a="http://schemas.openxmlformats.org/drawingml/2006/main" prst="rect">
            <a:avLst/>
          </a:prstGeom>
        </p:spPr>
      </p:pic>
      <p:sp>
        <p:nvSpPr>
          <p:cNvPr id="3156" name="scale-50x-MOSR">
            <a:extLst xmlns:a="http://schemas.openxmlformats.org/drawingml/2006/main">
              <a:ext uri="{FF2B5EF4-FFF2-40B4-BE49-F238E27FC236}">
                <a16:creationId xmlns:a16="http://schemas.microsoft.com/office/drawing/2014/main" id="{3AB26DDE-E9B0-468E-8C37-740387A6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031" y="23671875"/>
            <a:ext cx="5267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7" name="scale-label-50x-MOSR">
            <a:extLst xmlns:a="http://schemas.openxmlformats.org/drawingml/2006/main">
              <a:ext uri="{FF2B5EF4-FFF2-40B4-BE49-F238E27FC236}">
                <a16:creationId xmlns:a16="http://schemas.microsoft.com/office/drawing/2014/main" id="{E38C241A-7001-4D08-9B44-7C338C82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4531" y="23221875"/>
            <a:ext cx="901719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58" name="figure1_caption">
            <a:extLst xmlns:a="http://schemas.openxmlformats.org/drawingml/2006/main">
              <a:ext uri="{FF2B5EF4-FFF2-40B4-BE49-F238E27FC236}">
                <a16:creationId xmlns:a16="http://schemas.microsoft.com/office/drawing/2014/main" id="{0737D1B5-458E-49F8-B445-4456196C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4093750"/>
            <a:ext cx="13875000" cy="7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Corresponding Raw and MOSR fields at both objectives. Paired images share the crop and grayscale range. Scale bars: 2 µm.</a:t>
            </a:r>
          </a:p>
        </p:txBody>
      </p:sp>
      <p:sp>
        <p:nvSpPr>
          <p:cNvPr id="3159" name="model_heading">
            <a:extLst xmlns:a="http://schemas.openxmlformats.org/drawingml/2006/main">
              <a:ext uri="{FF2B5EF4-FFF2-40B4-BE49-F238E27FC236}">
                <a16:creationId xmlns:a16="http://schemas.microsoft.com/office/drawing/2014/main" id="{F6D42C86-1C29-4389-874F-DB86BA86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6343750"/>
            <a:ext cx="1387500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Optically guided reconstruction on the native grid</a:t>
            </a:r>
          </a:p>
        </p:txBody>
      </p:sp>
      <p:sp>
        <p:nvSpPr>
          <p:cNvPr id="3160" name="model_input">
            <a:extLst xmlns:a="http://schemas.openxmlformats.org/drawingml/2006/main">
              <a:ext uri="{FF2B5EF4-FFF2-40B4-BE49-F238E27FC236}">
                <a16:creationId xmlns:a16="http://schemas.microsoft.com/office/drawing/2014/main" id="{85F72D02-A32F-4B2F-857F-0A0DC0EC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27281250"/>
            <a:ext cx="2156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3161" name="model_context">
            <a:extLst xmlns:a="http://schemas.openxmlformats.org/drawingml/2006/main">
              <a:ext uri="{FF2B5EF4-FFF2-40B4-BE49-F238E27FC236}">
                <a16:creationId xmlns:a16="http://schemas.microsoft.com/office/drawing/2014/main" id="{0BD6682F-CD55-4B21-B304-10190C26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500" y="27281250"/>
            <a:ext cx="30937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Anti-aliased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U-Net context</a:t>
            </a:r>
          </a:p>
        </p:txBody>
      </p:sp>
      <p:sp>
        <p:nvSpPr>
          <p:cNvPr id="3162" name="model_native">
            <a:extLst xmlns:a="http://schemas.openxmlformats.org/drawingml/2006/main">
              <a:ext uri="{FF2B5EF4-FFF2-40B4-BE49-F238E27FC236}">
                <a16:creationId xmlns:a16="http://schemas.microsoft.com/office/drawing/2014/main" id="{298EC711-386F-45C6-80BF-95786241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500" y="27281250"/>
            <a:ext cx="2906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Native-grid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refinement stages</a:t>
            </a:r>
          </a:p>
        </p:txBody>
      </p:sp>
      <p:sp>
        <p:nvSpPr>
          <p:cNvPr id="3163" name="model_output">
            <a:extLst xmlns:a="http://schemas.openxmlformats.org/drawingml/2006/main">
              <a:ext uri="{FF2B5EF4-FFF2-40B4-BE49-F238E27FC236}">
                <a16:creationId xmlns:a16="http://schemas.microsoft.com/office/drawing/2014/main" id="{106E3683-8A22-4C97-BDCF-75F23B04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5000" y="27281250"/>
            <a:ext cx="2531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Input-referenced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bounded output</a:t>
            </a:r>
          </a:p>
        </p:txBody>
      </p:sp>
      <p:sp>
        <p:nvSpPr>
          <p:cNvPr id="3164" name="model_optical">
            <a:extLst xmlns:a="http://schemas.openxmlformats.org/drawingml/2006/main">
              <a:ext uri="{FF2B5EF4-FFF2-40B4-BE49-F238E27FC236}">
                <a16:creationId xmlns:a16="http://schemas.microsoft.com/office/drawing/2014/main" id="{86D6032D-0143-4F30-ACA4-4FEEF0C6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750" y="29484375"/>
            <a:ext cx="4500000" cy="98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Calibrated optical guidance</a:t>
            </a:r>
          </a:p>
        </p:txBody>
      </p:sp>
      <p:sp>
        <p:nvSpPr>
          <p:cNvPr id="3165" name="model_bounded_addition">
            <a:extLst xmlns:a="http://schemas.openxmlformats.org/drawingml/2006/main">
              <a:ext uri="{FF2B5EF4-FFF2-40B4-BE49-F238E27FC236}">
                <a16:creationId xmlns:a16="http://schemas.microsoft.com/office/drawing/2014/main" id="{088E5629-18B6-449A-96A2-D43F78B2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000" y="27656250"/>
            <a:ext cx="562500" cy="5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cxnSp>
        <p:nvCxnSpPr>
          <p:cNvPr id="3320" name=""/>
          <p:cNvCxnSpPr>
            <a:stCxn xmlns:a="http://schemas.openxmlformats.org/drawingml/2006/main" id="3160" idx="3"/>
            <a:endCxn xmlns:a="http://schemas.openxmlformats.org/drawingml/2006/main" id="3161" idx="1"/>
          </p:cNvCxnSpPr>
          <p:nvPr/>
        </p:nvCxnSpPr>
        <p:spPr>
          <a:xfrm xmlns:a="http://schemas.openxmlformats.org/drawingml/2006/main">
            <a:off x="3375000" y="27937500"/>
            <a:ext cx="93750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1" name=""/>
          <p:cNvCxnSpPr>
            <a:stCxn xmlns:a="http://schemas.openxmlformats.org/drawingml/2006/main" id="3161" idx="3"/>
            <a:endCxn xmlns:a="http://schemas.openxmlformats.org/drawingml/2006/main" id="3162" idx="1"/>
          </p:cNvCxnSpPr>
          <p:nvPr/>
        </p:nvCxnSpPr>
        <p:spPr>
          <a:xfrm xmlns:a="http://schemas.openxmlformats.org/drawingml/2006/main">
            <a:off x="7406250" y="27937500"/>
            <a:ext cx="103125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2" name=""/>
          <p:cNvCxnSpPr>
            <a:stCxn xmlns:a="http://schemas.openxmlformats.org/drawingml/2006/main" id="3162" idx="3"/>
            <a:endCxn xmlns:a="http://schemas.openxmlformats.org/drawingml/2006/main" id="3165" idx="2"/>
          </p:cNvCxnSpPr>
          <p:nvPr/>
        </p:nvCxnSpPr>
        <p:spPr>
          <a:xfrm xmlns:a="http://schemas.openxmlformats.org/drawingml/2006/main">
            <a:off x="11343750" y="27937500"/>
            <a:ext cx="2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3" name=""/>
          <p:cNvCxnSpPr>
            <a:stCxn xmlns:a="http://schemas.openxmlformats.org/drawingml/2006/main" id="3165" idx="6"/>
            <a:endCxn xmlns:a="http://schemas.openxmlformats.org/drawingml/2006/main" id="3163" idx="1"/>
          </p:cNvCxnSpPr>
          <p:nvPr/>
        </p:nvCxnSpPr>
        <p:spPr>
          <a:xfrm xmlns:a="http://schemas.openxmlformats.org/drawingml/2006/main" flipV="1">
            <a:off x="12187500" y="27937500"/>
            <a:ext cx="18750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324" name=""/>
          <p:cNvCxnSpPr>
            <a:stCxn xmlns:a="http://schemas.openxmlformats.org/drawingml/2006/main" id="3164" idx="0"/>
            <a:endCxn xmlns:a="http://schemas.openxmlformats.org/drawingml/2006/main" id="3161" idx="2"/>
          </p:cNvCxnSpPr>
          <p:nvPr/>
        </p:nvCxnSpPr>
        <p:spPr>
          <a:xfrm xmlns:a="http://schemas.openxmlformats.org/drawingml/2006/main" flipH="1" flipV="1">
            <a:off x="5859375" y="28593750"/>
            <a:ext cx="1734375" cy="8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171" name="optical_route">
            <a:extLst xmlns:a="http://schemas.openxmlformats.org/drawingml/2006/main">
              <a:ext uri="{FF2B5EF4-FFF2-40B4-BE49-F238E27FC236}">
                <a16:creationId xmlns:a16="http://schemas.microsoft.com/office/drawing/2014/main" id="{6028AA1A-4842-43C1-84B2-FA378298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563" y="29976563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26" name=""/>
          <p:cNvCxnSpPr>
            <a:stCxn xmlns:a="http://schemas.openxmlformats.org/drawingml/2006/main" id="3164" idx="3"/>
            <a:endCxn xmlns:a="http://schemas.openxmlformats.org/drawingml/2006/main" id="3171" idx="1"/>
          </p:cNvCxnSpPr>
          <p:nvPr/>
        </p:nvCxnSpPr>
        <p:spPr>
          <a:xfrm xmlns:a="http://schemas.openxmlformats.org/drawingml/2006/main">
            <a:off x="9843750" y="29976563"/>
            <a:ext cx="2057813" cy="468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none" w="med" len="med"/>
          </a:ln>
        </p:spPr>
      </p:cxnSp>
      <p:cxnSp>
        <p:nvCxnSpPr>
          <p:cNvPr id="3327" name=""/>
          <p:cNvCxnSpPr>
            <a:stCxn xmlns:a="http://schemas.openxmlformats.org/drawingml/2006/main" id="3171" idx="0"/>
            <a:endCxn xmlns:a="http://schemas.openxmlformats.org/drawingml/2006/main" id="3165" idx="4"/>
          </p:cNvCxnSpPr>
          <p:nvPr/>
        </p:nvCxnSpPr>
        <p:spPr>
          <a:xfrm xmlns:a="http://schemas.openxmlformats.org/drawingml/2006/main" flipH="1" flipV="1">
            <a:off x="11906250" y="28218750"/>
            <a:ext cx="0" cy="1757813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174" name="reference_route_a">
            <a:extLst xmlns:a="http://schemas.openxmlformats.org/drawingml/2006/main">
              <a:ext uri="{FF2B5EF4-FFF2-40B4-BE49-F238E27FC236}">
                <a16:creationId xmlns:a16="http://schemas.microsoft.com/office/drawing/2014/main" id="{CCF5F24D-69BE-471A-A114-686ADC05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88" y="3116718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5" name="reference_route_b">
            <a:extLst xmlns:a="http://schemas.openxmlformats.org/drawingml/2006/main">
              <a:ext uri="{FF2B5EF4-FFF2-40B4-BE49-F238E27FC236}">
                <a16:creationId xmlns:a16="http://schemas.microsoft.com/office/drawing/2014/main" id="{D10CCA89-9106-416B-BCD4-0C607EE3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5938" y="3116718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0" name=""/>
          <p:cNvCxnSpPr>
            <a:stCxn xmlns:a="http://schemas.openxmlformats.org/drawingml/2006/main" id="3160" idx="2"/>
            <a:endCxn xmlns:a="http://schemas.openxmlformats.org/drawingml/2006/main" id="3174" idx="0"/>
          </p:cNvCxnSpPr>
          <p:nvPr/>
        </p:nvCxnSpPr>
        <p:spPr>
          <a:xfrm xmlns:a="http://schemas.openxmlformats.org/drawingml/2006/main">
            <a:off x="2296875" y="28593750"/>
            <a:ext cx="0" cy="257343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tailEnd type="none" w="med" len="med"/>
          </a:ln>
        </p:spPr>
      </p:cxnSp>
      <p:cxnSp>
        <p:nvCxnSpPr>
          <p:cNvPr id="3331" name=""/>
          <p:cNvCxnSpPr>
            <a:stCxn xmlns:a="http://schemas.openxmlformats.org/drawingml/2006/main" id="3174" idx="3"/>
            <a:endCxn xmlns:a="http://schemas.openxmlformats.org/drawingml/2006/main" id="3175" idx="1"/>
          </p:cNvCxnSpPr>
          <p:nvPr/>
        </p:nvCxnSpPr>
        <p:spPr>
          <a:xfrm xmlns:a="http://schemas.openxmlformats.org/drawingml/2006/main">
            <a:off x="2301563" y="31171875"/>
            <a:ext cx="1133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tailEnd type="none" w="med" len="med"/>
          </a:ln>
        </p:spPr>
      </p:cxnSp>
      <p:cxnSp>
        <p:nvCxnSpPr>
          <p:cNvPr id="3332" name=""/>
          <p:cNvCxnSpPr>
            <a:stCxn xmlns:a="http://schemas.openxmlformats.org/drawingml/2006/main" id="3175" idx="0"/>
            <a:endCxn xmlns:a="http://schemas.openxmlformats.org/drawingml/2006/main" id="3163" idx="2"/>
          </p:cNvCxnSpPr>
          <p:nvPr/>
        </p:nvCxnSpPr>
        <p:spPr>
          <a:xfrm xmlns:a="http://schemas.openxmlformats.org/drawingml/2006/main" flipH="1" flipV="1">
            <a:off x="13640625" y="28593750"/>
            <a:ext cx="1" cy="257343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tailEnd type="arrow" w="med" len="med"/>
          </a:ln>
        </p:spPr>
      </p:cxnSp>
      <p:sp>
        <p:nvSpPr>
          <p:cNvPr id="3179" name="reference_label">
            <a:extLst xmlns:a="http://schemas.openxmlformats.org/drawingml/2006/main">
              <a:ext uri="{FF2B5EF4-FFF2-40B4-BE49-F238E27FC236}">
                <a16:creationId xmlns:a16="http://schemas.microsoft.com/office/drawing/2014/main" id="{B148BDC4-8062-4405-AF09-F6AE6927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875" y="30656250"/>
            <a:ext cx="5343750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Original-image reference</a:t>
            </a:r>
          </a:p>
        </p:txBody>
      </p:sp>
      <p:sp>
        <p:nvSpPr>
          <p:cNvPr id="3180" name="figure2_caption">
            <a:extLst xmlns:a="http://schemas.openxmlformats.org/drawingml/2006/main">
              <a:ext uri="{FF2B5EF4-FFF2-40B4-BE49-F238E27FC236}">
                <a16:creationId xmlns:a16="http://schemas.microsoft.com/office/drawing/2014/main" id="{BF995698-C18C-4212-AE68-0163D311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500000"/>
            <a:ext cx="1387500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Functional design of MOSR. Calibrated guidance addresses optical variation; anti-aliased features target sampling sensitivity. Refinement and bounded output retain the native image grid.</a:t>
            </a:r>
          </a:p>
        </p:txBody>
      </p:sp>
      <p:sp>
        <p:nvSpPr>
          <p:cNvPr id="3181" name="readout_heading">
            <a:extLst xmlns:a="http://schemas.openxmlformats.org/drawingml/2006/main">
              <a:ext uri="{FF2B5EF4-FFF2-40B4-BE49-F238E27FC236}">
                <a16:creationId xmlns:a16="http://schemas.microsoft.com/office/drawing/2014/main" id="{AF5FA5C9-2B30-455D-AEE9-78275E0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3328125"/>
            <a:ext cx="1387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Common readout for Raw, fixed Wiener and MOSR</a:t>
            </a:r>
          </a:p>
        </p:txBody>
      </p:sp>
      <p:pic>
        <p:nvPicPr>
          <p:cNvPr id="3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24ed88be84ea0"/>
          <a:stretch xmlns:a="http://schemas.openxmlformats.org/drawingml/2006/main"/>
        </p:blipFill>
        <p:spPr>
          <a:xfrm xmlns:a="http://schemas.openxmlformats.org/drawingml/2006/main">
            <a:off x="1312500" y="34453125"/>
            <a:ext cx="2250000" cy="2250000"/>
          </a:xfrm>
          <a:prstGeom xmlns:a="http://schemas.openxmlformats.org/drawingml/2006/main" prst="rect">
            <a:avLst/>
          </a:prstGeom>
        </p:spPr>
      </p:pic>
      <p:sp>
        <p:nvSpPr>
          <p:cNvPr id="3183" name="measured_lsc_circle">
            <a:extLst xmlns:a="http://schemas.openxmlformats.org/drawingml/2006/main">
              <a:ext uri="{FF2B5EF4-FFF2-40B4-BE49-F238E27FC236}">
                <a16:creationId xmlns:a16="http://schemas.microsoft.com/office/drawing/2014/main" id="{69C78B29-DBFA-4961-AF77-E89D19E0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068" y="34934182"/>
            <a:ext cx="1270453" cy="127045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313">
            <a:solidFill>
              <a:srgbClr val="111111"/>
            </a:solidFill>
          </a:ln>
        </p:spPr>
      </p:sp>
      <p:sp>
        <p:nvSpPr>
          <p:cNvPr id="3184" name="measured_boundary_point_1">
            <a:extLst xmlns:a="http://schemas.openxmlformats.org/drawingml/2006/main">
              <a:ext uri="{FF2B5EF4-FFF2-40B4-BE49-F238E27FC236}">
                <a16:creationId xmlns:a16="http://schemas.microsoft.com/office/drawing/2014/main" id="{22E625C9-1502-4781-B6EB-521FFC13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56" y="361376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5" name="measured_boundary_point_2">
            <a:extLst xmlns:a="http://schemas.openxmlformats.org/drawingml/2006/main">
              <a:ext uri="{FF2B5EF4-FFF2-40B4-BE49-F238E27FC236}">
                <a16:creationId xmlns:a16="http://schemas.microsoft.com/office/drawing/2014/main" id="{5485538F-8019-44C7-8DFF-6ECBAD21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638" y="3614423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6" name="measured_boundary_point_3">
            <a:extLst xmlns:a="http://schemas.openxmlformats.org/drawingml/2006/main">
              <a:ext uri="{FF2B5EF4-FFF2-40B4-BE49-F238E27FC236}">
                <a16:creationId xmlns:a16="http://schemas.microsoft.com/office/drawing/2014/main" id="{552CBA0D-6584-4890-9171-E495B927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830" y="361534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7" name="measured_boundary_point_4">
            <a:extLst xmlns:a="http://schemas.openxmlformats.org/drawingml/2006/main">
              <a:ext uri="{FF2B5EF4-FFF2-40B4-BE49-F238E27FC236}">
                <a16:creationId xmlns:a16="http://schemas.microsoft.com/office/drawing/2014/main" id="{A3D399F5-4902-4913-92E8-58792125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022" y="3616914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8" name="measured_boundary_point_5">
            <a:extLst xmlns:a="http://schemas.openxmlformats.org/drawingml/2006/main">
              <a:ext uri="{FF2B5EF4-FFF2-40B4-BE49-F238E27FC236}">
                <a16:creationId xmlns:a16="http://schemas.microsoft.com/office/drawing/2014/main" id="{D8824641-E179-49BD-BD2B-14352041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214" y="3617751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9" name="measured_boundary_point_6">
            <a:extLst xmlns:a="http://schemas.openxmlformats.org/drawingml/2006/main">
              <a:ext uri="{FF2B5EF4-FFF2-40B4-BE49-F238E27FC236}">
                <a16:creationId xmlns:a16="http://schemas.microsoft.com/office/drawing/2014/main" id="{67A23DEE-4346-4CCA-AAAE-DCA51C81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406" y="3616861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0" name="measured_boundary_point_7">
            <a:extLst xmlns:a="http://schemas.openxmlformats.org/drawingml/2006/main">
              <a:ext uri="{FF2B5EF4-FFF2-40B4-BE49-F238E27FC236}">
                <a16:creationId xmlns:a16="http://schemas.microsoft.com/office/drawing/2014/main" id="{482E86DB-E6E1-478E-82FC-C3667249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598" y="361517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1" name="measured_boundary_point_8">
            <a:extLst xmlns:a="http://schemas.openxmlformats.org/drawingml/2006/main">
              <a:ext uri="{FF2B5EF4-FFF2-40B4-BE49-F238E27FC236}">
                <a16:creationId xmlns:a16="http://schemas.microsoft.com/office/drawing/2014/main" id="{99E19018-3227-4A2B-819C-377A0439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695" y="3614246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2" name="measured_boundary_point_9">
            <a:extLst xmlns:a="http://schemas.openxmlformats.org/drawingml/2006/main">
              <a:ext uri="{FF2B5EF4-FFF2-40B4-BE49-F238E27FC236}">
                <a16:creationId xmlns:a16="http://schemas.microsoft.com/office/drawing/2014/main" id="{85AB4E65-2AD4-44F8-A816-876D8F44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983" y="3612969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3" name="measured_boundary_point_10">
            <a:extLst xmlns:a="http://schemas.openxmlformats.org/drawingml/2006/main">
              <a:ext uri="{FF2B5EF4-FFF2-40B4-BE49-F238E27FC236}">
                <a16:creationId xmlns:a16="http://schemas.microsoft.com/office/drawing/2014/main" id="{AE523BE7-7FF6-4A50-A32D-E5A02482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129" y="3610760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4" name="measured_boundary_point_11">
            <a:extLst xmlns:a="http://schemas.openxmlformats.org/drawingml/2006/main">
              <a:ext uri="{FF2B5EF4-FFF2-40B4-BE49-F238E27FC236}">
                <a16:creationId xmlns:a16="http://schemas.microsoft.com/office/drawing/2014/main" id="{CF8EA7BE-DE05-43BE-BD2E-B57A2FB8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35" y="3607084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5" name="measured_boundary_point_12">
            <a:extLst xmlns:a="http://schemas.openxmlformats.org/drawingml/2006/main">
              <a:ext uri="{FF2B5EF4-FFF2-40B4-BE49-F238E27FC236}">
                <a16:creationId xmlns:a16="http://schemas.microsoft.com/office/drawing/2014/main" id="{7E4A6A4E-8AF4-4E90-B735-645C2E4F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69" y="3603131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6" name="measured_boundary_point_13">
            <a:extLst xmlns:a="http://schemas.openxmlformats.org/drawingml/2006/main">
              <a:ext uri="{FF2B5EF4-FFF2-40B4-BE49-F238E27FC236}">
                <a16:creationId xmlns:a16="http://schemas.microsoft.com/office/drawing/2014/main" id="{8F55C9EE-F3F2-42B2-B74B-749D1104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297" y="3597852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7" name="measured_boundary_point_14">
            <a:extLst xmlns:a="http://schemas.openxmlformats.org/drawingml/2006/main">
              <a:ext uri="{FF2B5EF4-FFF2-40B4-BE49-F238E27FC236}">
                <a16:creationId xmlns:a16="http://schemas.microsoft.com/office/drawing/2014/main" id="{85EAD9EC-B31B-4CB5-81E1-F5016C39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908" y="3591984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8" name="measured_boundary_point_15">
            <a:extLst xmlns:a="http://schemas.openxmlformats.org/drawingml/2006/main">
              <a:ext uri="{FF2B5EF4-FFF2-40B4-BE49-F238E27FC236}">
                <a16:creationId xmlns:a16="http://schemas.microsoft.com/office/drawing/2014/main" id="{1F87159B-EE0D-418D-9D9B-17AE77E6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551" y="3587036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9" name="measured_boundary_point_16">
            <a:extLst xmlns:a="http://schemas.openxmlformats.org/drawingml/2006/main">
              <a:ext uri="{FF2B5EF4-FFF2-40B4-BE49-F238E27FC236}">
                <a16:creationId xmlns:a16="http://schemas.microsoft.com/office/drawing/2014/main" id="{991D3958-140B-4C2F-AB12-01B1A059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475" y="3581143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0" name="measured_boundary_point_17">
            <a:extLst xmlns:a="http://schemas.openxmlformats.org/drawingml/2006/main">
              <a:ext uri="{FF2B5EF4-FFF2-40B4-BE49-F238E27FC236}">
                <a16:creationId xmlns:a16="http://schemas.microsoft.com/office/drawing/2014/main" id="{FB4FDF82-FFD1-4C24-A95B-3F8B306C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042" y="3575404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1" name="measured_boundary_point_18">
            <a:extLst xmlns:a="http://schemas.openxmlformats.org/drawingml/2006/main">
              <a:ext uri="{FF2B5EF4-FFF2-40B4-BE49-F238E27FC236}">
                <a16:creationId xmlns:a16="http://schemas.microsoft.com/office/drawing/2014/main" id="{05D4BF01-3C81-4117-9D0B-3AA0E914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00" y="35704418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2" name="measured_boundary_point_19">
            <a:extLst xmlns:a="http://schemas.openxmlformats.org/drawingml/2006/main">
              <a:ext uri="{FF2B5EF4-FFF2-40B4-BE49-F238E27FC236}">
                <a16:creationId xmlns:a16="http://schemas.microsoft.com/office/drawing/2014/main" id="{599FF69D-950A-4E75-BEF9-109BEF5F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910" y="3564538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3" name="measured_boundary_point_20">
            <a:extLst xmlns:a="http://schemas.openxmlformats.org/drawingml/2006/main">
              <a:ext uri="{FF2B5EF4-FFF2-40B4-BE49-F238E27FC236}">
                <a16:creationId xmlns:a16="http://schemas.microsoft.com/office/drawing/2014/main" id="{EE37BA7E-1B93-4E5B-9F30-FBA11FDA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36" y="3557957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4" name="measured_boundary_point_21">
            <a:extLst xmlns:a="http://schemas.openxmlformats.org/drawingml/2006/main">
              <a:ext uri="{FF2B5EF4-FFF2-40B4-BE49-F238E27FC236}">
                <a16:creationId xmlns:a16="http://schemas.microsoft.com/office/drawing/2014/main" id="{5BEF7F8F-5AC0-4B18-AC75-827E4CC0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926" y="355137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5" name="measured_boundary_point_22">
            <a:extLst xmlns:a="http://schemas.openxmlformats.org/drawingml/2006/main">
              <a:ext uri="{FF2B5EF4-FFF2-40B4-BE49-F238E27FC236}">
                <a16:creationId xmlns:a16="http://schemas.microsoft.com/office/drawing/2014/main" id="{26D8B54E-8CE7-4332-83D3-4AD9220B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87" y="3544901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6" name="measured_boundary_point_23">
            <a:extLst xmlns:a="http://schemas.openxmlformats.org/drawingml/2006/main">
              <a:ext uri="{FF2B5EF4-FFF2-40B4-BE49-F238E27FC236}">
                <a16:creationId xmlns:a16="http://schemas.microsoft.com/office/drawing/2014/main" id="{85B740A5-4A71-471B-B52B-B8196FC8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62" y="3539358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7" name="measured_boundary_point_24">
            <a:extLst xmlns:a="http://schemas.openxmlformats.org/drawingml/2006/main">
              <a:ext uri="{FF2B5EF4-FFF2-40B4-BE49-F238E27FC236}">
                <a16:creationId xmlns:a16="http://schemas.microsoft.com/office/drawing/2014/main" id="{C1C9094D-2087-4103-832A-A074B7A1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143" y="3533955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8" name="measured_boundary_point_25">
            <a:extLst xmlns:a="http://schemas.openxmlformats.org/drawingml/2006/main">
              <a:ext uri="{FF2B5EF4-FFF2-40B4-BE49-F238E27FC236}">
                <a16:creationId xmlns:a16="http://schemas.microsoft.com/office/drawing/2014/main" id="{BAB708D6-2913-4EB1-B4DB-2126CC66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672" y="3528197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9" name="measured_boundary_point_26">
            <a:extLst xmlns:a="http://schemas.openxmlformats.org/drawingml/2006/main">
              <a:ext uri="{FF2B5EF4-FFF2-40B4-BE49-F238E27FC236}">
                <a16:creationId xmlns:a16="http://schemas.microsoft.com/office/drawing/2014/main" id="{CFF84F4B-F94B-4D8F-8A89-34BC89BA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615" y="3522480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0" name="measured_boundary_point_27">
            <a:extLst xmlns:a="http://schemas.openxmlformats.org/drawingml/2006/main">
              <a:ext uri="{FF2B5EF4-FFF2-40B4-BE49-F238E27FC236}">
                <a16:creationId xmlns:a16="http://schemas.microsoft.com/office/drawing/2014/main" id="{B0010846-B587-4B69-A130-0A0E3DA4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272" y="3517357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1" name="measured_boundary_point_28">
            <a:extLst xmlns:a="http://schemas.openxmlformats.org/drawingml/2006/main">
              <a:ext uri="{FF2B5EF4-FFF2-40B4-BE49-F238E27FC236}">
                <a16:creationId xmlns:a16="http://schemas.microsoft.com/office/drawing/2014/main" id="{1EF7F807-D33C-4A17-9433-B5798B35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275" y="35121508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2" name="measured_boundary_point_29">
            <a:extLst xmlns:a="http://schemas.openxmlformats.org/drawingml/2006/main">
              <a:ext uri="{FF2B5EF4-FFF2-40B4-BE49-F238E27FC236}">
                <a16:creationId xmlns:a16="http://schemas.microsoft.com/office/drawing/2014/main" id="{5D77A129-33F5-4EB4-9863-7399E284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573" y="3507674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3" name="measured_boundary_point_30">
            <a:extLst xmlns:a="http://schemas.openxmlformats.org/drawingml/2006/main">
              <a:ext uri="{FF2B5EF4-FFF2-40B4-BE49-F238E27FC236}">
                <a16:creationId xmlns:a16="http://schemas.microsoft.com/office/drawing/2014/main" id="{887DC07A-8A41-4782-A863-A17E5D5D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559" y="3504065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4" name="measured_boundary_point_31">
            <a:extLst xmlns:a="http://schemas.openxmlformats.org/drawingml/2006/main">
              <a:ext uri="{FF2B5EF4-FFF2-40B4-BE49-F238E27FC236}">
                <a16:creationId xmlns:a16="http://schemas.microsoft.com/office/drawing/2014/main" id="{2430004B-61F3-485E-84A0-FDB82EAB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816" y="3500064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5" name="measured_boundary_point_32">
            <a:extLst xmlns:a="http://schemas.openxmlformats.org/drawingml/2006/main">
              <a:ext uri="{FF2B5EF4-FFF2-40B4-BE49-F238E27FC236}">
                <a16:creationId xmlns:a16="http://schemas.microsoft.com/office/drawing/2014/main" id="{E3B16203-18D7-48FB-A8B2-FDEA9ACB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746" y="3497989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6" name="measured_boundary_point_33">
            <a:extLst xmlns:a="http://schemas.openxmlformats.org/drawingml/2006/main">
              <a:ext uri="{FF2B5EF4-FFF2-40B4-BE49-F238E27FC236}">
                <a16:creationId xmlns:a16="http://schemas.microsoft.com/office/drawing/2014/main" id="{FCE60693-C98B-47B2-ADA8-82403490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23" y="3496292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7" name="measured_boundary_point_34">
            <a:extLst xmlns:a="http://schemas.openxmlformats.org/drawingml/2006/main">
              <a:ext uri="{FF2B5EF4-FFF2-40B4-BE49-F238E27FC236}">
                <a16:creationId xmlns:a16="http://schemas.microsoft.com/office/drawing/2014/main" id="{A46CD56C-C9DD-42C4-8C07-A5DC7472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162" y="3493094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8" name="measured_boundary_point_35">
            <a:extLst xmlns:a="http://schemas.openxmlformats.org/drawingml/2006/main">
              <a:ext uri="{FF2B5EF4-FFF2-40B4-BE49-F238E27FC236}">
                <a16:creationId xmlns:a16="http://schemas.microsoft.com/office/drawing/2014/main" id="{7E7E4E47-EC3E-49AC-90FD-1973C387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256" y="3491177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9" name="measured_boundary_point_36">
            <a:extLst xmlns:a="http://schemas.openxmlformats.org/drawingml/2006/main">
              <a:ext uri="{FF2B5EF4-FFF2-40B4-BE49-F238E27FC236}">
                <a16:creationId xmlns:a16="http://schemas.microsoft.com/office/drawing/2014/main" id="{50C24176-E6CA-4FFF-9A7D-B11934E1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353" y="3490822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0" name="measured_boundary_point_37">
            <a:extLst xmlns:a="http://schemas.openxmlformats.org/drawingml/2006/main">
              <a:ext uri="{FF2B5EF4-FFF2-40B4-BE49-F238E27FC236}">
                <a16:creationId xmlns:a16="http://schemas.microsoft.com/office/drawing/2014/main" id="{6BF93A55-1E96-4178-BB57-40CC9066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890" y="3491295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1" name="measured_boundary_point_38">
            <a:extLst xmlns:a="http://schemas.openxmlformats.org/drawingml/2006/main">
              <a:ext uri="{FF2B5EF4-FFF2-40B4-BE49-F238E27FC236}">
                <a16:creationId xmlns:a16="http://schemas.microsoft.com/office/drawing/2014/main" id="{104225A9-BCC0-4C1B-AEA6-07362D35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493" y="3492656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2" name="measured_boundary_point_39">
            <a:extLst xmlns:a="http://schemas.openxmlformats.org/drawingml/2006/main">
              <a:ext uri="{FF2B5EF4-FFF2-40B4-BE49-F238E27FC236}">
                <a16:creationId xmlns:a16="http://schemas.microsoft.com/office/drawing/2014/main" id="{562436F6-F843-4592-84FF-BE60CB54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889" y="3495591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3" name="measured_boundary_point_40">
            <a:extLst xmlns:a="http://schemas.openxmlformats.org/drawingml/2006/main">
              <a:ext uri="{FF2B5EF4-FFF2-40B4-BE49-F238E27FC236}">
                <a16:creationId xmlns:a16="http://schemas.microsoft.com/office/drawing/2014/main" id="{BE5D3BE3-6EF8-4424-898B-4329C614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178" y="349731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4" name="measured_boundary_point_41">
            <a:extLst xmlns:a="http://schemas.openxmlformats.org/drawingml/2006/main">
              <a:ext uri="{FF2B5EF4-FFF2-40B4-BE49-F238E27FC236}">
                <a16:creationId xmlns:a16="http://schemas.microsoft.com/office/drawing/2014/main" id="{B27BE24E-F72B-4C20-9A67-3F283C26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86" y="3498796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5" name="measured_boundary_point_42">
            <a:extLst xmlns:a="http://schemas.openxmlformats.org/drawingml/2006/main">
              <a:ext uri="{FF2B5EF4-FFF2-40B4-BE49-F238E27FC236}">
                <a16:creationId xmlns:a16="http://schemas.microsoft.com/office/drawing/2014/main" id="{EEBF66ED-C73B-47B9-84A1-66F7B6FD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518" y="3501859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6" name="measured_boundary_point_43">
            <a:extLst xmlns:a="http://schemas.openxmlformats.org/drawingml/2006/main">
              <a:ext uri="{FF2B5EF4-FFF2-40B4-BE49-F238E27FC236}">
                <a16:creationId xmlns:a16="http://schemas.microsoft.com/office/drawing/2014/main" id="{413230F9-DC73-4378-9D4F-1A0EED25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819" y="3504968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7" name="measured_boundary_point_44">
            <a:extLst xmlns:a="http://schemas.openxmlformats.org/drawingml/2006/main">
              <a:ext uri="{FF2B5EF4-FFF2-40B4-BE49-F238E27FC236}">
                <a16:creationId xmlns:a16="http://schemas.microsoft.com/office/drawing/2014/main" id="{9D9C6B3F-B5CF-4F18-ABEF-05B98341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285" y="3508196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8" name="measured_boundary_point_45">
            <a:extLst xmlns:a="http://schemas.openxmlformats.org/drawingml/2006/main">
              <a:ext uri="{FF2B5EF4-FFF2-40B4-BE49-F238E27FC236}">
                <a16:creationId xmlns:a16="http://schemas.microsoft.com/office/drawing/2014/main" id="{4A1FE7CF-EA00-4849-AD1F-7885DF60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282" y="3512845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9" name="measured_boundary_point_46">
            <a:extLst xmlns:a="http://schemas.openxmlformats.org/drawingml/2006/main">
              <a:ext uri="{FF2B5EF4-FFF2-40B4-BE49-F238E27FC236}">
                <a16:creationId xmlns:a16="http://schemas.microsoft.com/office/drawing/2014/main" id="{F41E0ECB-4DF3-4A1C-9F0B-BA6120B8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600" y="3517920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0" name="measured_boundary_point_47">
            <a:extLst xmlns:a="http://schemas.openxmlformats.org/drawingml/2006/main">
              <a:ext uri="{FF2B5EF4-FFF2-40B4-BE49-F238E27FC236}">
                <a16:creationId xmlns:a16="http://schemas.microsoft.com/office/drawing/2014/main" id="{80FAAB74-9056-4E4D-B1B7-4408C26E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047" y="3523595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1" name="measured_boundary_point_48">
            <a:extLst xmlns:a="http://schemas.openxmlformats.org/drawingml/2006/main">
              <a:ext uri="{FF2B5EF4-FFF2-40B4-BE49-F238E27FC236}">
                <a16:creationId xmlns:a16="http://schemas.microsoft.com/office/drawing/2014/main" id="{19CFB46A-8BD8-4972-BB4E-8B9F55A7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370" y="3528217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2" name="measured_boundary_point_49">
            <a:extLst xmlns:a="http://schemas.openxmlformats.org/drawingml/2006/main">
              <a:ext uri="{FF2B5EF4-FFF2-40B4-BE49-F238E27FC236}">
                <a16:creationId xmlns:a16="http://schemas.microsoft.com/office/drawing/2014/main" id="{EC7CBEF9-B594-44D8-ABE0-9C7A31EA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334" y="3534193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3" name="measured_boundary_point_50">
            <a:extLst xmlns:a="http://schemas.openxmlformats.org/drawingml/2006/main">
              <a:ext uri="{FF2B5EF4-FFF2-40B4-BE49-F238E27FC236}">
                <a16:creationId xmlns:a16="http://schemas.microsoft.com/office/drawing/2014/main" id="{0D526199-B46D-48F1-B06E-DC882B62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861" y="3540173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4" name="measured_boundary_point_51">
            <a:extLst xmlns:a="http://schemas.openxmlformats.org/drawingml/2006/main">
              <a:ext uri="{FF2B5EF4-FFF2-40B4-BE49-F238E27FC236}">
                <a16:creationId xmlns:a16="http://schemas.microsoft.com/office/drawing/2014/main" id="{F59DA7A7-EC5A-45B9-BA44-D438F4B8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982" y="3544616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5" name="measured_boundary_point_52">
            <a:extLst xmlns:a="http://schemas.openxmlformats.org/drawingml/2006/main">
              <a:ext uri="{FF2B5EF4-FFF2-40B4-BE49-F238E27FC236}">
                <a16:creationId xmlns:a16="http://schemas.microsoft.com/office/drawing/2014/main" id="{FCFFEC65-6A73-4658-BCFD-EDD29BC6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031" y="3550890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6" name="measured_boundary_point_53">
            <a:extLst xmlns:a="http://schemas.openxmlformats.org/drawingml/2006/main">
              <a:ext uri="{FF2B5EF4-FFF2-40B4-BE49-F238E27FC236}">
                <a16:creationId xmlns:a16="http://schemas.microsoft.com/office/drawing/2014/main" id="{AA4AF424-963C-4BA7-AC9D-13B6AFDD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870" y="3557458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7" name="measured_boundary_point_54">
            <a:extLst xmlns:a="http://schemas.openxmlformats.org/drawingml/2006/main">
              <a:ext uri="{FF2B5EF4-FFF2-40B4-BE49-F238E27FC236}">
                <a16:creationId xmlns:a16="http://schemas.microsoft.com/office/drawing/2014/main" id="{8AA869FB-6FAE-4A06-B4FA-F0632B3E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538" y="3563161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8" name="measured_boundary_point_55">
            <a:extLst xmlns:a="http://schemas.openxmlformats.org/drawingml/2006/main">
              <a:ext uri="{FF2B5EF4-FFF2-40B4-BE49-F238E27FC236}">
                <a16:creationId xmlns:a16="http://schemas.microsoft.com/office/drawing/2014/main" id="{F57BDFD3-763B-481E-8FE2-78CAD279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304" y="3568593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9" name="measured_boundary_point_56">
            <a:extLst xmlns:a="http://schemas.openxmlformats.org/drawingml/2006/main">
              <a:ext uri="{FF2B5EF4-FFF2-40B4-BE49-F238E27FC236}">
                <a16:creationId xmlns:a16="http://schemas.microsoft.com/office/drawing/2014/main" id="{B95EF580-5E16-44C8-B57F-EF8A34E3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514" y="3574262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0" name="measured_boundary_point_57">
            <a:extLst xmlns:a="http://schemas.openxmlformats.org/drawingml/2006/main">
              <a:ext uri="{FF2B5EF4-FFF2-40B4-BE49-F238E27FC236}">
                <a16:creationId xmlns:a16="http://schemas.microsoft.com/office/drawing/2014/main" id="{003D4F17-3444-416B-B457-04366385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211" y="3580291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1" name="measured_boundary_point_58">
            <a:extLst xmlns:a="http://schemas.openxmlformats.org/drawingml/2006/main">
              <a:ext uri="{FF2B5EF4-FFF2-40B4-BE49-F238E27FC236}">
                <a16:creationId xmlns:a16="http://schemas.microsoft.com/office/drawing/2014/main" id="{EECECDB8-158E-459F-AB7D-1D0B1FCE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338" y="3585678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2" name="measured_boundary_point_59">
            <a:extLst xmlns:a="http://schemas.openxmlformats.org/drawingml/2006/main">
              <a:ext uri="{FF2B5EF4-FFF2-40B4-BE49-F238E27FC236}">
                <a16:creationId xmlns:a16="http://schemas.microsoft.com/office/drawing/2014/main" id="{3996C143-58BE-429E-A981-8A764D54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840" y="3590490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3" name="measured_boundary_point_60">
            <a:extLst xmlns:a="http://schemas.openxmlformats.org/drawingml/2006/main">
              <a:ext uri="{FF2B5EF4-FFF2-40B4-BE49-F238E27FC236}">
                <a16:creationId xmlns:a16="http://schemas.microsoft.com/office/drawing/2014/main" id="{269D3CCF-E867-457C-B101-A8C38011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842" y="359519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4" name="measured_boundary_point_61">
            <a:extLst xmlns:a="http://schemas.openxmlformats.org/drawingml/2006/main">
              <a:ext uri="{FF2B5EF4-FFF2-40B4-BE49-F238E27FC236}">
                <a16:creationId xmlns:a16="http://schemas.microsoft.com/office/drawing/2014/main" id="{CF1126EC-69F9-47BC-973E-715DAD7D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446" y="3599808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5" name="measured_boundary_point_62">
            <a:extLst xmlns:a="http://schemas.openxmlformats.org/drawingml/2006/main">
              <a:ext uri="{FF2B5EF4-FFF2-40B4-BE49-F238E27FC236}">
                <a16:creationId xmlns:a16="http://schemas.microsoft.com/office/drawing/2014/main" id="{B51C47DF-237A-47F7-A2A4-038D2954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730" y="3604516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6" name="measured_boundary_point_63">
            <a:extLst xmlns:a="http://schemas.openxmlformats.org/drawingml/2006/main">
              <a:ext uri="{FF2B5EF4-FFF2-40B4-BE49-F238E27FC236}">
                <a16:creationId xmlns:a16="http://schemas.microsoft.com/office/drawing/2014/main" id="{62F9ACAF-AC90-4EBC-A85C-655E860A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67" y="3607687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7" name="measured_boundary_point_64">
            <a:extLst xmlns:a="http://schemas.openxmlformats.org/drawingml/2006/main">
              <a:ext uri="{FF2B5EF4-FFF2-40B4-BE49-F238E27FC236}">
                <a16:creationId xmlns:a16="http://schemas.microsoft.com/office/drawing/2014/main" id="{A549AD5B-BA29-4B22-9344-85337551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996" y="3611108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8" name="measured_center_x">
            <a:extLst xmlns:a="http://schemas.openxmlformats.org/drawingml/2006/main">
              <a:ext uri="{FF2B5EF4-FFF2-40B4-BE49-F238E27FC236}">
                <a16:creationId xmlns:a16="http://schemas.microsoft.com/office/drawing/2014/main" id="{D60D1807-DFCC-4231-A7EF-6614746E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544" y="35569408"/>
            <a:ext cx="187500" cy="0"/>
          </a:xfrm>
          <a:prstGeom xmlns:a="http://schemas.openxmlformats.org/drawingml/2006/main" prst="line">
            <a:avLst/>
          </a:prstGeom>
          <a:ln xmlns:a="http://schemas.openxmlformats.org/drawingml/2006/main" w="24375">
            <a:solidFill>
              <a:srgbClr val="FFFFFF"/>
            </a:solidFill>
          </a:ln>
        </p:spPr>
      </p:sp>
      <p:sp>
        <p:nvSpPr>
          <p:cNvPr id="3249" name="measured_center_y">
            <a:extLst xmlns:a="http://schemas.openxmlformats.org/drawingml/2006/main">
              <a:ext uri="{FF2B5EF4-FFF2-40B4-BE49-F238E27FC236}">
                <a16:creationId xmlns:a16="http://schemas.microsoft.com/office/drawing/2014/main" id="{CA93AFB0-31A1-402B-B0E4-7C9C1B23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294" y="35475658"/>
            <a:ext cx="0" cy="187500"/>
          </a:xfrm>
          <a:prstGeom xmlns:a="http://schemas.openxmlformats.org/drawingml/2006/main" prst="line">
            <a:avLst/>
          </a:prstGeom>
          <a:ln xmlns:a="http://schemas.openxmlformats.org/drawingml/2006/main" w="24375">
            <a:solidFill>
              <a:srgbClr val="FFFFFF"/>
            </a:solidFill>
          </a:ln>
        </p:spPr>
      </p:sp>
      <p:sp>
        <p:nvSpPr>
          <p:cNvPr id="3250" name="center_label">
            <a:extLst xmlns:a="http://schemas.openxmlformats.org/drawingml/2006/main">
              <a:ext uri="{FF2B5EF4-FFF2-40B4-BE49-F238E27FC236}">
                <a16:creationId xmlns:a16="http://schemas.microsoft.com/office/drawing/2014/main" id="{BA4D26DB-078B-43B7-AE97-48E9746F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544" y="35288158"/>
            <a:ext cx="328125" cy="3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251" name="boundary_plot_exit">
            <a:extLst xmlns:a="http://schemas.openxmlformats.org/drawingml/2006/main">
              <a:ext uri="{FF2B5EF4-FFF2-40B4-BE49-F238E27FC236}">
                <a16:creationId xmlns:a16="http://schemas.microsoft.com/office/drawing/2014/main" id="{865A6137-0361-4DB9-A412-47E8F8FA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813" y="3557343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52" name="readout_centers">
            <a:extLst xmlns:a="http://schemas.openxmlformats.org/drawingml/2006/main">
              <a:ext uri="{FF2B5EF4-FFF2-40B4-BE49-F238E27FC236}">
                <a16:creationId xmlns:a16="http://schemas.microsoft.com/office/drawing/2014/main" id="{C3D36E65-F167-406C-8B18-76DEDC66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000" y="34921875"/>
            <a:ext cx="2859375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LSC centers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 paired frames</a:t>
            </a:r>
          </a:p>
        </p:txBody>
      </p:sp>
      <p:sp>
        <p:nvSpPr>
          <p:cNvPr id="3253" name="readout_shift">
            <a:extLst xmlns:a="http://schemas.openxmlformats.org/drawingml/2006/main">
              <a:ext uri="{FF2B5EF4-FFF2-40B4-BE49-F238E27FC236}">
                <a16:creationId xmlns:a16="http://schemas.microsoft.com/office/drawing/2014/main" id="{58CD2F0C-C7C7-4329-BC7E-65F5389B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750" y="34921875"/>
            <a:ext cx="2953125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Median shift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 nine pillars</a:t>
            </a:r>
          </a:p>
        </p:txBody>
      </p:sp>
      <p:sp>
        <p:nvSpPr>
          <p:cNvPr id="3254" name="readout_sd">
            <a:extLst xmlns:a="http://schemas.openxmlformats.org/drawingml/2006/main">
              <a:ext uri="{FF2B5EF4-FFF2-40B4-BE49-F238E27FC236}">
                <a16:creationId xmlns:a16="http://schemas.microsoft.com/office/drawing/2014/main" id="{EA504EF1-D55A-48E9-B414-4F2FC2D7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921875"/>
            <a:ext cx="3000000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30 single steps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Sample SD</a:t>
            </a:r>
          </a:p>
        </p:txBody>
      </p:sp>
      <p:cxnSp>
        <p:nvCxnSpPr>
          <p:cNvPr id="3409" name=""/>
          <p:cNvCxnSpPr>
            <a:stCxn xmlns:a="http://schemas.openxmlformats.org/drawingml/2006/main" id="3251" idx="3"/>
            <a:endCxn xmlns:a="http://schemas.openxmlformats.org/drawingml/2006/main" id="3252" idx="1"/>
          </p:cNvCxnSpPr>
          <p:nvPr/>
        </p:nvCxnSpPr>
        <p:spPr>
          <a:xfrm xmlns:a="http://schemas.openxmlformats.org/drawingml/2006/main">
            <a:off x="3567188" y="35578126"/>
            <a:ext cx="557812" cy="23437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410" name=""/>
          <p:cNvCxnSpPr>
            <a:stCxn xmlns:a="http://schemas.openxmlformats.org/drawingml/2006/main" id="3252" idx="3"/>
            <a:endCxn xmlns:a="http://schemas.openxmlformats.org/drawingml/2006/main" id="3253" idx="1"/>
          </p:cNvCxnSpPr>
          <p:nvPr/>
        </p:nvCxnSpPr>
        <p:spPr>
          <a:xfrm xmlns:a="http://schemas.openxmlformats.org/drawingml/2006/main">
            <a:off x="6984375" y="35601563"/>
            <a:ext cx="98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cxnSp>
        <p:nvCxnSpPr>
          <p:cNvPr id="3411" name=""/>
          <p:cNvCxnSpPr>
            <a:stCxn xmlns:a="http://schemas.openxmlformats.org/drawingml/2006/main" id="3253" idx="3"/>
            <a:endCxn xmlns:a="http://schemas.openxmlformats.org/drawingml/2006/main" id="3254" idx="1"/>
          </p:cNvCxnSpPr>
          <p:nvPr/>
        </p:nvCxnSpPr>
        <p:spPr>
          <a:xfrm xmlns:a="http://schemas.openxmlformats.org/drawingml/2006/main">
            <a:off x="10921875" y="35601563"/>
            <a:ext cx="98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tailEnd type="arrow" w="med" len="med"/>
          </a:ln>
        </p:spPr>
      </p:cxnSp>
      <p:sp>
        <p:nvSpPr>
          <p:cNvPr id="3258" name="boundary_key">
            <a:extLst xmlns:a="http://schemas.openxmlformats.org/drawingml/2006/main">
              <a:ext uri="{FF2B5EF4-FFF2-40B4-BE49-F238E27FC236}">
                <a16:creationId xmlns:a16="http://schemas.microsoft.com/office/drawing/2014/main" id="{20A4FB70-218A-4243-A7C4-8CBA3249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843750"/>
            <a:ext cx="478125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Boundary points and LSC center</a:t>
            </a:r>
          </a:p>
        </p:txBody>
      </p:sp>
      <p:sp>
        <p:nvSpPr>
          <p:cNvPr id="3259" name="figure3_caption">
            <a:extLst xmlns:a="http://schemas.openxmlformats.org/drawingml/2006/main">
              <a:ext uri="{FF2B5EF4-FFF2-40B4-BE49-F238E27FC236}">
                <a16:creationId xmlns:a16="http://schemas.microsoft.com/office/drawing/2014/main" id="{28A6A82C-67EF-4830-9F14-4CBAE2AA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7453125"/>
            <a:ext cx="1387500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Coarse contours [3] initialize boundary extraction. Circle fits [4] provide the centers used for displacement. The inset shows measured points and a fitted center.</a:t>
            </a:r>
          </a:p>
        </p:txBody>
      </p:sp>
      <p:sp>
        <p:nvSpPr>
          <p:cNvPr id="3260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46B71CBC-65CF-4C0E-9EDC-C2DEAC67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8531250"/>
            <a:ext cx="13781250" cy="5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EVALUATION AT A 1 µm NOMINAL STEP</a:t>
            </a:r>
          </a:p>
        </p:txBody>
      </p:sp>
      <p:graphicFrame>
        <p:nvGraphicFramePr>
          <p:cNvPr id="3415" name=""/>
          <p:cNvGraphicFramePr/>
          <p:nvPr/>
        </p:nvGraphicFramePr>
        <p:xfrm>
          <a:off xmlns:a="http://schemas.openxmlformats.org/drawingml/2006/main" x="1218750" y="39187500"/>
          <a:ext xmlns:a="http://schemas.openxmlformats.org/drawingml/2006/main" cx="13781250" cy="17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84375"/>
                <a:gridCol w="5812500"/>
                <a:gridCol w="1875000"/>
                <a:gridCol w="3609375"/>
              </a:tblGrid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Acquisition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31-frame evaluation scan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locked adjacent 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62" name="measurement_definition">
            <a:extLst xmlns:a="http://schemas.openxmlformats.org/drawingml/2006/main">
              <a:ext uri="{FF2B5EF4-FFF2-40B4-BE49-F238E27FC236}">
                <a16:creationId xmlns:a16="http://schemas.microsoft.com/office/drawing/2014/main" id="{51547BC0-3FCA-4A21-AE2B-41CBA3D8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1250000"/>
            <a:ext cx="1378125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Centers come from maximum-gradient boundary points and geometric LSC fits. Nine-pillar median shifts use the acquisition direction. Each condition reports the sample SD of 30 steps (denominator 29).</a:t>
            </a:r>
          </a:p>
        </p:txBody>
      </p:sp>
      <p:sp>
        <p:nvSpPr>
          <p:cNvPr id="3263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E35791A5-F66C-4D9C-8052-4451C7AA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4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nominal step of 1 µm, MOSR gives the lowest observed Step SD in both evaluations. Each comparison uses the same images and measurement settings for all three methods.</a:t>
            </a:r>
          </a:p>
        </p:txBody>
      </p:sp>
      <p:sp>
        <p:nvSpPr>
          <p:cNvPr id="3264" name="20x_heading">
            <a:extLst xmlns:a="http://schemas.openxmlformats.org/drawingml/2006/main">
              <a:ext uri="{FF2B5EF4-FFF2-40B4-BE49-F238E27FC236}">
                <a16:creationId xmlns:a16="http://schemas.microsoft.com/office/drawing/2014/main" id="{6E614064-9295-4336-999F-79830833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11812500"/>
            <a:ext cx="13687500" cy="6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single steps</a:t>
            </a:r>
          </a:p>
        </p:txBody>
      </p:sp>
      <p:sp>
        <p:nvSpPr>
          <p:cNvPr id="3265" name="20x_gain">
            <a:extLst xmlns:a="http://schemas.openxmlformats.org/drawingml/2006/main">
              <a:ext uri="{FF2B5EF4-FFF2-40B4-BE49-F238E27FC236}">
                <a16:creationId xmlns:a16="http://schemas.microsoft.com/office/drawing/2014/main" id="{BF843DB8-AE00-4400-89A3-8480FE88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656250"/>
            <a:ext cx="71250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57.2%</a:t>
            </a:r>
          </a:p>
        </p:txBody>
      </p:sp>
      <p:sp>
        <p:nvSpPr>
          <p:cNvPr id="3266" name="20x_value">
            <a:extLst xmlns:a="http://schemas.openxmlformats.org/drawingml/2006/main">
              <a:ext uri="{FF2B5EF4-FFF2-40B4-BE49-F238E27FC236}">
                <a16:creationId xmlns:a16="http://schemas.microsoft.com/office/drawing/2014/main" id="{38C91C1D-5A0A-4996-9939-0F82B252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12778125"/>
            <a:ext cx="5343750" cy="11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Step SD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4.068 nm</a:t>
            </a:r>
          </a:p>
        </p:txBody>
      </p:sp>
      <p:sp>
        <p:nvSpPr>
          <p:cNvPr id="3267" name="20x_gain_label">
            <a:extLst xmlns:a="http://schemas.openxmlformats.org/drawingml/2006/main">
              <a:ext uri="{FF2B5EF4-FFF2-40B4-BE49-F238E27FC236}">
                <a16:creationId xmlns:a16="http://schemas.microsoft.com/office/drawing/2014/main" id="{DB11EAA3-8D7C-484D-9197-D969D86F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015625"/>
            <a:ext cx="1359375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Step SD relative to Raw</a:t>
            </a:r>
          </a:p>
        </p:txBody>
      </p:sp>
      <p:graphicFrame>
        <p:nvGraphicFramePr>
          <p:cNvPr id="3422" name=""/>
          <p:cNvGraphicFramePr/>
          <p:nvPr/>
        </p:nvGraphicFramePr>
        <p:xfrm>
          <a:off xmlns:a="http://schemas.openxmlformats.org/drawingml/2006/main" x="17156250" y="14671875"/>
          <a:ext xmlns:a="http://schemas.openxmlformats.org/drawingml/2006/main" cx="13781250" cy="121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68750"/>
                <a:gridCol w="2812500"/>
                <a:gridCol w="3187500"/>
                <a:gridCol w="2812500"/>
              </a:tblGrid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 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9.506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5.794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4.068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23" name="Chart"/>
          <p:cNvGraphicFramePr/>
          <p:nvPr/>
        </p:nvGraphicFramePr>
        <p:xfrm>
          <a:off xmlns:a="http://schemas.openxmlformats.org/drawingml/2006/main" x="17062500" y="16265625"/>
          <a:ext xmlns:a="http://schemas.openxmlformats.org/drawingml/2006/main" cx="14156250" cy="468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72a52331c24920"/>
          </a:graphicData>
        </a:graphic>
      </p:graphicFrame>
      <p:sp>
        <p:nvSpPr>
          <p:cNvPr id="3270" name="figure4_caption">
            <a:extLst xmlns:a="http://schemas.openxmlformats.org/drawingml/2006/main">
              <a:ext uri="{FF2B5EF4-FFF2-40B4-BE49-F238E27FC236}">
                <a16:creationId xmlns:a16="http://schemas.microsoft.com/office/drawing/2014/main" id="{918D247B-6C0A-4A5A-B049-5CB867C8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1093750"/>
            <a:ext cx="1378125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4. All 30 single-step displacements at 20×. Curves use measured step minus 1 µm, with the same axis limits as the 50× evaluation.</a:t>
            </a:r>
          </a:p>
        </p:txBody>
      </p:sp>
      <p:sp>
        <p:nvSpPr>
          <p:cNvPr id="3271" name="20x_interpretation">
            <a:extLst xmlns:a="http://schemas.openxmlformats.org/drawingml/2006/main">
              <a:ext uri="{FF2B5EF4-FFF2-40B4-BE49-F238E27FC236}">
                <a16:creationId xmlns:a16="http://schemas.microsoft.com/office/drawing/2014/main" id="{71333F50-EAA5-476A-BFC2-764D6552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218750"/>
            <a:ext cx="1378125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the mean step changes by only 0.10 nm while Step SD decreases by 5.44 nm. This pattern is consistent with more stable boundary-based localization.</a:t>
            </a:r>
          </a:p>
        </p:txBody>
      </p:sp>
      <p:sp>
        <p:nvSpPr>
          <p:cNvPr id="3272" name="50x_heading">
            <a:extLst xmlns:a="http://schemas.openxmlformats.org/drawingml/2006/main">
              <a:ext uri="{FF2B5EF4-FFF2-40B4-BE49-F238E27FC236}">
                <a16:creationId xmlns:a16="http://schemas.microsoft.com/office/drawing/2014/main" id="{EE503B42-57E5-4A44-9E54-EE0F1E9A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23812500"/>
            <a:ext cx="13687500" cy="6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single steps</a:t>
            </a:r>
          </a:p>
        </p:txBody>
      </p:sp>
      <p:sp>
        <p:nvSpPr>
          <p:cNvPr id="3273" name="50x_gain">
            <a:extLst xmlns:a="http://schemas.openxmlformats.org/drawingml/2006/main">
              <a:ext uri="{FF2B5EF4-FFF2-40B4-BE49-F238E27FC236}">
                <a16:creationId xmlns:a16="http://schemas.microsoft.com/office/drawing/2014/main" id="{2B82B796-2F48-444D-9F4A-60289A30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4656250"/>
            <a:ext cx="71250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274" name="50x_value">
            <a:extLst xmlns:a="http://schemas.openxmlformats.org/drawingml/2006/main">
              <a:ext uri="{FF2B5EF4-FFF2-40B4-BE49-F238E27FC236}">
                <a16:creationId xmlns:a16="http://schemas.microsoft.com/office/drawing/2014/main" id="{32825284-3492-49E4-9631-595BDD12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24778125"/>
            <a:ext cx="5343750" cy="11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Step SD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</a:t>
            </a:r>
          </a:p>
        </p:txBody>
      </p:sp>
      <p:sp>
        <p:nvSpPr>
          <p:cNvPr id="3275" name="50x_gain_label">
            <a:extLst xmlns:a="http://schemas.openxmlformats.org/drawingml/2006/main">
              <a:ext uri="{FF2B5EF4-FFF2-40B4-BE49-F238E27FC236}">
                <a16:creationId xmlns:a16="http://schemas.microsoft.com/office/drawing/2014/main" id="{180157B2-C7A2-44FE-89E1-DD4866D1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6015625"/>
            <a:ext cx="1359375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Step SD relative to Raw</a:t>
            </a:r>
          </a:p>
        </p:txBody>
      </p:sp>
      <p:graphicFrame>
        <p:nvGraphicFramePr>
          <p:cNvPr id="3430" name=""/>
          <p:cNvGraphicFramePr/>
          <p:nvPr/>
        </p:nvGraphicFramePr>
        <p:xfrm>
          <a:off xmlns:a="http://schemas.openxmlformats.org/drawingml/2006/main" x="17156250" y="26671875"/>
          <a:ext xmlns:a="http://schemas.openxmlformats.org/drawingml/2006/main" cx="13781250" cy="121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68750"/>
                <a:gridCol w="2812500"/>
                <a:gridCol w="3187500"/>
                <a:gridCol w="2812500"/>
              </a:tblGrid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 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5.938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4.542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31" name="Chart"/>
          <p:cNvGraphicFramePr/>
          <p:nvPr/>
        </p:nvGraphicFramePr>
        <p:xfrm>
          <a:off xmlns:a="http://schemas.openxmlformats.org/drawingml/2006/main" x="17062500" y="28265625"/>
          <a:ext xmlns:a="http://schemas.openxmlformats.org/drawingml/2006/main" cx="14156250" cy="468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5515bf7ed74b4a"/>
          </a:graphicData>
        </a:graphic>
      </p:graphicFrame>
      <p:sp>
        <p:nvSpPr>
          <p:cNvPr id="3278" name="figure5_caption">
            <a:extLst xmlns:a="http://schemas.openxmlformats.org/drawingml/2006/main">
              <a:ext uri="{FF2B5EF4-FFF2-40B4-BE49-F238E27FC236}">
                <a16:creationId xmlns:a16="http://schemas.microsoft.com/office/drawing/2014/main" id="{A615EE55-3C42-4013-B9D0-61BC8219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3093750"/>
            <a:ext cx="1378125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5. All 30 locked single-step displacements at 50×. MOSR reaches 4.542 nm Step SD with the same learned weights and the corresponding optical calibration.</a:t>
            </a:r>
          </a:p>
        </p:txBody>
      </p:sp>
      <p:sp>
        <p:nvSpPr>
          <p:cNvPr id="3279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EB72134E-2525-4FE9-8CA2-C550043F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5718750"/>
            <a:ext cx="13781250" cy="22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 shared reconstruction weights and objective-specific optical guidance, MOSR reduces single-step variation by 57.2% at 20× and 23.5% at 50×. The observed reductions under a common center readout support MOSR for cross-magnification micro-displacement inspection.</a:t>
            </a:r>
          </a:p>
        </p:txBody>
      </p:sp>
      <p:sp>
        <p:nvSpPr>
          <p:cNvPr id="3280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8027B545-2AC5-4E1A-968C-B9A5915A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375000"/>
            <a:ext cx="13687500" cy="24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270814280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2026-10-03T08:43:14.2780000Z</dcterms:created>
  <dcterms:modified xsi:type="dcterms:W3CDTF">2026-10-03T08:43:14.2790000Z</dcterms:modified>
</coreProperties>
</file>