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9103d15b87499a" /><Relationship Type="http://schemas.openxmlformats.org/officeDocument/2006/relationships/extended-properties" Target="/docProps/app.xml" Id="Rf81025d4b1af425b" /><Relationship Type="http://schemas.openxmlformats.org/officeDocument/2006/relationships/officeDocument" Target="/ppt/presentation.xml" Id="R79eb5506106748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fe550101384291"/>
  </p:sldMasterIdLst>
  <p:notesMasterIdLst>
    <p:notesMasterId xmlns:r="http://schemas.openxmlformats.org/officeDocument/2006/relationships" r:id="Rfad9d85ec9794eaa"/>
  </p:notesMasterIdLst>
  <p:sldIdLst>
    <p:sldId xmlns:r="http://schemas.openxmlformats.org/officeDocument/2006/relationships" id="256" r:id="R0e224a239d054c62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a272d5813347c4" /><Relationship Type="http://schemas.openxmlformats.org/officeDocument/2006/relationships/slideMaster" Target="/ppt/slideMasters/slideMaster1.xml" Id="R3ffe550101384291" /><Relationship Type="http://schemas.openxmlformats.org/officeDocument/2006/relationships/notesMaster" Target="/ppt/notesMasters/notesMaster1.xml" Id="Rfad9d85ec9794eaa" /><Relationship Type="http://schemas.openxmlformats.org/officeDocument/2006/relationships/presProps" Target="/ppt/presProps.xml" Id="Ra52a806a8ecf47a0" /><Relationship Type="http://schemas.openxmlformats.org/officeDocument/2006/relationships/viewProps" Target="/ppt/viewProps.xml" Id="Rd285efa6abfc4da6" /><Relationship Type="http://schemas.openxmlformats.org/officeDocument/2006/relationships/tableStyles" Target="/ppt/tableStyles.xml" Id="R55195600961b44a6" /><Relationship Type="http://schemas.openxmlformats.org/officeDocument/2006/relationships/slide" Target="/ppt/slides/slide1.xml" Id="R0e224a239d054c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90e3319f3d45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58fe8cf2834ee0" /><Relationship Type="http://schemas.openxmlformats.org/officeDocument/2006/relationships/notesMaster" Target="/ppt/notesMasters/notesMaster1.xml" Id="Rbc60374cdae14f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Public model name: MOSR. Internal provenance maps to the fixed R152 delivery checkpoint in the experiment record.</a:t>
            </a:r>
            <a:endParaRPr/>
          </a:p>
          <a:p xmlns:a="http://schemas.openxmlformats.org/drawingml/2006/main">
            <a:pPr>
              <a:buNone/>
            </a:pPr>
            <a:r>
              <a:t>User selected the original four-condition dataset with 30 single steps per condition; the separate 30-repeat-scan dataset is not part of this poster.</a:t>
            </a:r>
            <a:endParaRPr/>
          </a:p>
          <a:p xmlns:a="http://schemas.openxmlformats.org/drawingml/2006/main">
            <a:pPr>
              <a:buNone/>
            </a:pPr>
            <a:r>
              <a:t>Source summary: C:\Users\Rio\.codex\worktrees\impact-r152\GMM_2_Final\Experiments\R152_IMPACT2026Validation\results\localization_improvement\improved_summary.csv</a:t>
            </a:r>
            <a:endParaRPr/>
          </a:p>
          <a:p xmlns:a="http://schemas.openxmlformats.org/drawingml/2006/main">
            <a:pPr>
              <a:buNone/>
            </a:pPr>
            <a:r>
              <a:t>Source pair data: C:\Users\Rio\.codex\worktrees\impact-r152\GMM_2_Final\Experiments\R152_IMPACT2026Validation\results\localization_improvement\improved_pairs.csv</a:t>
            </a:r>
            <a:endParaRPr/>
          </a:p>
          <a:p xmlns:a="http://schemas.openxmlformats.org/drawingml/2006/main">
            <a:pPr>
              <a:buNone/>
            </a:pPr>
            <a:r>
              <a:t>Primary quantity: one sample SD (ddof=1) of 30 image-measured single-step displacements per condition. The four SDs are averaged arithmetically. Percentage reduction of the mean uses the ratio of those means.</a:t>
            </a:r>
            <a:endParaRPr/>
          </a:p>
          <a:p xmlns:a="http://schemas.openxmlformats.org/drawingml/2006/main">
            <a:pPr>
              <a:buNone/>
            </a:pPr>
            <a:r>
              <a:t>Images are the first locked 0.5 µm frame at each objective. Common crop and grayscale mapping; exact image paths remain in the source inspection manifest.</a:t>
            </a:r>
            <a:endParaRPr/>
          </a:p>
          <a:p xmlns:a="http://schemas.openxmlformats.org/drawingml/2006/main">
            <a:pPr>
              <a:buNone/>
            </a:pPr>
            <a:r>
              <a:t>Chart style follows the submitted manuscript: Times New Roman chart text, monochrome patterns, explicit native-pixel scales, zero-baseline axes, and manuscript-style captions and table rules.</a:t>
            </a:r>
            <a:endParaRPr/>
          </a:p>
          <a:p xmlns:a="http://schemas.openxmlformats.org/drawingml/2006/main">
            <a:pPr>
              <a:buNone/>
            </a:pPr>
            <a:r>
              <a:t>Template: C:/Users/Rio/OneDrive/學業/碩班/論文/投稿/IMPACT2026/4. Poster_Sample_2026 (2).pptx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dee3c1a16344f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47f113487e48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b29545da4944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99d8c9cb245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bfde4c3cf041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d0a0662bfe408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66d898219d4dc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a79541fb741d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4e56ff6b82467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ad8bf1a7e14d6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e17c604e84758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8638C67-C80C-49A3-A9E5-745D863EAB8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508C0B08-B987-4508-812E-054D07FABD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9E55172-DCFC-4A97-B426-8E63DEDE95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D173B55B-95A0-4C46-8AE6-BE83B609C3B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9DA12B9F-8838-43A5-8589-C9D3AC2A2E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6DFDF729-A0BE-4242-990E-D0BD5663A8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029195D-5FA4-458F-860B-2735DA90FC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F63511EF-49E0-4417-ABFA-4DFBA4F251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202E0220-A768-4CDA-AFFB-3E9D1A24788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DC32E3F-02BB-4B91-BB96-9178F80A10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733D932F-F476-4B5A-9C32-AE12A5578B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CF8B4373-E817-47C6-9C00-C153FF6E0F3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706B9814-8121-4D36-BF5C-25EBC074133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62151B7D-D14E-4FEE-95E5-A8C66546C72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0AAE1056-043C-4124-BB50-96D4D93050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1EE1BCA-C6B6-4C52-82AB-AB10E80E4E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A13E6BDF-E070-4FED-8F04-3FE00C60B3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FAA7FF8B-E04A-4F62-A4E1-2ACAB9D923A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8E9206D-3373-4294-AB43-83ED9591D5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FE173494-733D-495B-A37D-B43F696AB29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8B4E5882-6CC3-4FB9-9A4F-6AF11E5217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BD8F08DF-A644-4AF0-9260-4C18242808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DF500F0-B816-4564-9668-933C414413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76DEBBDF-593A-4460-9E71-93E6C9AEE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F6BA078B-CDE9-4BE5-874F-D54B58763F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9c81fc1735420c" /><Relationship Type="http://schemas.openxmlformats.org/officeDocument/2006/relationships/slideLayout" Target="/ppt/slideLayouts/slideLayout1.xml" Id="R4414417feb0c463f" /><Relationship Type="http://schemas.openxmlformats.org/officeDocument/2006/relationships/slideLayout" Target="/ppt/slideLayouts/slideLayout2.xml" Id="Rab5a87abd1b84c31" /><Relationship Type="http://schemas.openxmlformats.org/officeDocument/2006/relationships/slideLayout" Target="/ppt/slideLayouts/slideLayout3.xml" Id="Rca4b159faf884348" /><Relationship Type="http://schemas.openxmlformats.org/officeDocument/2006/relationships/slideLayout" Target="/ppt/slideLayouts/slideLayout4.xml" Id="R37ae9aa812324e36" /><Relationship Type="http://schemas.openxmlformats.org/officeDocument/2006/relationships/slideLayout" Target="/ppt/slideLayouts/slideLayout5.xml" Id="Rf8a36a8988fc4397" /><Relationship Type="http://schemas.openxmlformats.org/officeDocument/2006/relationships/slideLayout" Target="/ppt/slideLayouts/slideLayout6.xml" Id="R192c05da90c143a4" /><Relationship Type="http://schemas.openxmlformats.org/officeDocument/2006/relationships/slideLayout" Target="/ppt/slideLayouts/slideLayout7.xml" Id="R5d276a5fe2024af3" /><Relationship Type="http://schemas.openxmlformats.org/officeDocument/2006/relationships/slideLayout" Target="/ppt/slideLayouts/slideLayout8.xml" Id="R788e422b57144cb8" /><Relationship Type="http://schemas.openxmlformats.org/officeDocument/2006/relationships/slideLayout" Target="/ppt/slideLayouts/slideLayout9.xml" Id="R35aefd60507b41e4" /><Relationship Type="http://schemas.openxmlformats.org/officeDocument/2006/relationships/slideLayout" Target="/ppt/slideLayouts/slideLayout10.xml" Id="Rdb7dc75eb488447e" /><Relationship Type="http://schemas.openxmlformats.org/officeDocument/2006/relationships/slideLayout" Target="/ppt/slideLayouts/slideLayout11.xml" Id="R222732a47170492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14417feb0c463f"/>
    <p:sldLayoutId xmlns:r="http://schemas.openxmlformats.org/officeDocument/2006/relationships" id="2147483650" r:id="Rab5a87abd1b84c31"/>
    <p:sldLayoutId xmlns:r="http://schemas.openxmlformats.org/officeDocument/2006/relationships" id="2147483651" r:id="Rca4b159faf884348"/>
    <p:sldLayoutId xmlns:r="http://schemas.openxmlformats.org/officeDocument/2006/relationships" id="2147483652" r:id="R37ae9aa812324e36"/>
    <p:sldLayoutId xmlns:r="http://schemas.openxmlformats.org/officeDocument/2006/relationships" id="2147483653" r:id="Rf8a36a8988fc4397"/>
    <p:sldLayoutId xmlns:r="http://schemas.openxmlformats.org/officeDocument/2006/relationships" id="2147483654" r:id="R192c05da90c143a4"/>
    <p:sldLayoutId xmlns:r="http://schemas.openxmlformats.org/officeDocument/2006/relationships" id="2147483655" r:id="R5d276a5fe2024af3"/>
    <p:sldLayoutId xmlns:r="http://schemas.openxmlformats.org/officeDocument/2006/relationships" id="2147483656" r:id="R788e422b57144cb8"/>
    <p:sldLayoutId xmlns:r="http://schemas.openxmlformats.org/officeDocument/2006/relationships" id="2147483657" r:id="R35aefd60507b41e4"/>
    <p:sldLayoutId xmlns:r="http://schemas.openxmlformats.org/officeDocument/2006/relationships" id="2147483658" r:id="Rdb7dc75eb488447e"/>
    <p:sldLayoutId xmlns:r="http://schemas.openxmlformats.org/officeDocument/2006/relationships" id="2147483659" r:id="R222732a471704921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a74abe79c4c16" /><Relationship Type="http://schemas.openxmlformats.org/officeDocument/2006/relationships/image" Target="/ppt/media/image.jpeg" Id="R059dcdddc4814740" /><Relationship Type="http://schemas.openxmlformats.org/officeDocument/2006/relationships/image" Target="/ppt/media/image.png" Id="Rf785f6e643c54a44" /><Relationship Type="http://schemas.openxmlformats.org/officeDocument/2006/relationships/image" Target="/ppt/media/image2.png" Id="Rf8b537c451ae4ba8" /><Relationship Type="http://schemas.openxmlformats.org/officeDocument/2006/relationships/image" Target="/ppt/media/image3.png" Id="R279e23cc0a994e62" /><Relationship Type="http://schemas.openxmlformats.org/officeDocument/2006/relationships/image" Target="/ppt/media/image4.png" Id="R47604e6396af4953" /><Relationship Type="http://schemas.openxmlformats.org/officeDocument/2006/relationships/chart" Target="/ppt/slides/charts/chart1.xml" Id="R927bd03c25354273" /><Relationship Type="http://schemas.openxmlformats.org/officeDocument/2006/relationships/notesSlide" Target="/ppt/notesSlides/notesSlide1.xml" Id="Rc20cfa501a594b3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</c:v>
          </c:tx>
          <c:spPr>
            <a:pattFill xmlns:a="http://schemas.openxmlformats.org/drawingml/2006/main" prst="pct5">
              <a:fgClr>
                <a:srgbClr val="111111"/>
              </a:fgClr>
              <a:bgClr>
                <a:srgbClr val="D8D8D8"/>
              </a:bgClr>
            </a:pattFill>
            <a:ln xmlns:a="http://schemas.openxmlformats.org/drawingml/2006/main" w="9525">
              <a:solidFill>
                <a:srgbClr val="111111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50× / 0.5</c:v>
                </c:pt>
                <c:pt idx="1">
                  <c:v>50× / 1.0</c:v>
                </c:pt>
                <c:pt idx="2">
                  <c:v>20× / 0.5</c:v>
                </c:pt>
                <c:pt idx="3">
                  <c:v>20× / 1.0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5.237896</c:v>
                </c:pt>
                <c:pt idx="1">
                  <c:v>5.430076</c:v>
                </c:pt>
                <c:pt idx="2">
                  <c:v>14.162182</c:v>
                </c:pt>
                <c:pt idx="3">
                  <c:v>10.527768</c:v>
                </c:pt>
              </c:numCache>
            </c:numRef>
          </c:val>
        </c:ser>
        <c:ser>
          <c:idx val="1"/>
          <c:order val="1"/>
          <c:tx>
            <c:v>Wiener</c:v>
          </c:tx>
          <c:spPr>
            <a:pattFill xmlns:a="http://schemas.openxmlformats.org/drawingml/2006/main" prst="upDiag">
              <a:fgClr>
                <a:srgbClr val="111111"/>
              </a:fgClr>
              <a:bgClr>
                <a:srgbClr val="AFAFAF"/>
              </a:bgClr>
            </a:pattFill>
            <a:ln xmlns:a="http://schemas.openxmlformats.org/drawingml/2006/main" w="9525">
              <a:solidFill>
                <a:srgbClr val="111111"/>
              </a:solidFill>
            </a:ln>
          </c:spPr>
          <c:cat>
            <c:strRef>
              <c:f>'Chart Data'!$C$2:$C$5</c:f>
              <c:strCache>
                <c:ptCount val="4"/>
                <c:pt idx="0">
                  <c:v>50× / 0.5</c:v>
                </c:pt>
                <c:pt idx="1">
                  <c:v>50× / 1.0</c:v>
                </c:pt>
                <c:pt idx="2">
                  <c:v>20× / 0.5</c:v>
                </c:pt>
                <c:pt idx="3">
                  <c:v>20× / 1.0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4.907045</c:v>
                </c:pt>
                <c:pt idx="1">
                  <c:v>4.589671</c:v>
                </c:pt>
                <c:pt idx="2">
                  <c:v>11.076843</c:v>
                </c:pt>
                <c:pt idx="3">
                  <c:v>11.006544</c:v>
                </c:pt>
              </c:numCache>
            </c:numRef>
          </c:val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81818"/>
            </a:solidFill>
            <a:ln xmlns:a="http://schemas.openxmlformats.org/drawingml/2006/main" w="9525">
              <a:solidFill>
                <a:srgbClr val="111111"/>
              </a:solidFill>
            </a:ln>
          </c:spPr>
          <c:cat>
            <c:strRef>
              <c:f>'Chart Data'!$E$2:$E$5</c:f>
              <c:strCache>
                <c:ptCount val="4"/>
                <c:pt idx="0">
                  <c:v>50× / 0.5</c:v>
                </c:pt>
                <c:pt idx="1">
                  <c:v>50× / 1.0</c:v>
                </c:pt>
                <c:pt idx="2">
                  <c:v>20× / 0.5</c:v>
                </c:pt>
                <c:pt idx="3">
                  <c:v>20× / 1.0</c:v>
                </c:pt>
              </c:strCache>
            </c:strRef>
          </c:cat>
          <c:val>
            <c:numRef>
              <c:f>'Chart Data'!$F$2:$F$5</c:f>
              <c:numCache>
                <c:formatCode>0.00</c:formatCode>
                <c:ptCount val="4"/>
                <c:pt idx="0">
                  <c:v>4.722652</c:v>
                </c:pt>
                <c:pt idx="1">
                  <c:v>4.547155</c:v>
                </c:pt>
                <c:pt idx="2">
                  <c:v>10.754313</c:v>
                </c:pt>
                <c:pt idx="3">
                  <c:v>8.429192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75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Objective / nominal step (µm)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325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SD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325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325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CE886BF3-EDFB-467E-9589-97139C97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750" y="80375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E39DD721-A44B-4368-9808-E00E3120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00" y="80000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17BAEF6A-97F2-48BD-A253-2659E4F4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96343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A6786D6A-746F-4372-95F9-846BADCC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325781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C4303CFF-02F4-439D-86E1-854A9251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0" y="500000"/>
            <a:ext cx="31387500" cy="6900000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29913BD8-CCA1-4445-9ADE-AE39621E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41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248A719F-D35C-4E17-8599-14ACA90E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7875000"/>
            <a:ext cx="13687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1254F7CB-8CFB-40A0-B137-FFB78CD4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A77931DA-728F-409D-8F68-52438F15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C96618AC-3F03-461F-84BA-6C5852FC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000" y="1846875"/>
            <a:ext cx="328125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3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dcdddc48147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625" y="857813"/>
            <a:ext cx="2512500" cy="84375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096" name="authors">
            <a:extLst xmlns:a="http://schemas.openxmlformats.org/drawingml/2006/main">
              <a:ext uri="{FF2B5EF4-FFF2-40B4-BE49-F238E27FC236}">
                <a16:creationId xmlns:a16="http://schemas.microsoft.com/office/drawing/2014/main" id="{413DD109-9B80-4CAF-93CC-7BAF05E5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 xmlns:a="http://schemas.openxmlformats.org/drawingml/2006/main">
              <a:ext uri="{FF2B5EF4-FFF2-40B4-BE49-F238E27FC236}">
                <a16:creationId xmlns:a16="http://schemas.microsoft.com/office/drawing/2014/main" id="{21D17E64-BD09-4CB4-99E9-F8D67C49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 xmlns:a="http://schemas.openxmlformats.org/drawingml/2006/main">
              <a:ext uri="{FF2B5EF4-FFF2-40B4-BE49-F238E27FC236}">
                <a16:creationId xmlns:a16="http://schemas.microsoft.com/office/drawing/2014/main" id="{5733CCC3-93B7-46D1-908B-68F978CC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 xmlns:a="http://schemas.openxmlformats.org/drawingml/2006/main">
              <a:ext uri="{FF2B5EF4-FFF2-40B4-BE49-F238E27FC236}">
                <a16:creationId xmlns:a16="http://schemas.microsoft.com/office/drawing/2014/main" id="{D5613E1B-07FE-4D48-A324-6D478A70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40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Optical inspection benefits from reconstruction when clearer boundaries produce more stable position measurements. Changing magnification changes object-space sampling and the pixel phase of the same motion. Single-step displacement dispersion therefore provides a direct test of measurement utility.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reconstructs each monochrome image on its original pixel grid. One fixed set of learned weights serves 20× and 50× objectives. Raw, fixed Wiener and MOSR use the same image pairs and pillar identities.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primary outcome is one standard deviation from 30 locked single-step displacements in each condition.</a:t>
            </a:r>
          </a:p>
        </p:txBody>
      </p:sp>
      <p:sp>
        <p:nvSpPr>
          <p:cNvPr id="3100" name="raw_label">
            <a:extLst xmlns:a="http://schemas.openxmlformats.org/drawingml/2006/main">
              <a:ext uri="{FF2B5EF4-FFF2-40B4-BE49-F238E27FC236}">
                <a16:creationId xmlns:a16="http://schemas.microsoft.com/office/drawing/2014/main" id="{EB7F5032-83FA-4F9A-9614-10671410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75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1" name="mosr_label">
            <a:extLst xmlns:a="http://schemas.openxmlformats.org/drawingml/2006/main">
              <a:ext uri="{FF2B5EF4-FFF2-40B4-BE49-F238E27FC236}">
                <a16:creationId xmlns:a16="http://schemas.microsoft.com/office/drawing/2014/main" id="{E3D896FC-ACF7-4856-B4AE-87885A86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500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02" name="mag-20×">
            <a:extLst xmlns:a="http://schemas.openxmlformats.org/drawingml/2006/main">
              <a:ext uri="{FF2B5EF4-FFF2-40B4-BE49-F238E27FC236}">
                <a16:creationId xmlns:a16="http://schemas.microsoft.com/office/drawing/2014/main" id="{9C9C4AED-4840-49C9-A618-A2B06F3E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500000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5f6e643c54a44"/>
          <a:stretch xmlns:a="http://schemas.openxmlformats.org/drawingml/2006/main"/>
        </p:blipFill>
        <p:spPr>
          <a:xfrm xmlns:a="http://schemas.openxmlformats.org/drawingml/2006/main">
            <a:off x="1546875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4" name="scale-20×-Raw">
            <a:extLst xmlns:a="http://schemas.openxmlformats.org/drawingml/2006/main">
              <a:ext uri="{FF2B5EF4-FFF2-40B4-BE49-F238E27FC236}">
                <a16:creationId xmlns:a16="http://schemas.microsoft.com/office/drawing/2014/main" id="{4096969A-BBC1-40E1-B259-776AAEA9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792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5" name="scale-label-20×-Raw">
            <a:extLst xmlns:a="http://schemas.openxmlformats.org/drawingml/2006/main">
              <a:ext uri="{FF2B5EF4-FFF2-40B4-BE49-F238E27FC236}">
                <a16:creationId xmlns:a16="http://schemas.microsoft.com/office/drawing/2014/main" id="{24581E7E-C7F1-4511-9FFA-922E7411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292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537c451ae4ba8"/>
          <a:stretch xmlns:a="http://schemas.openxmlformats.org/drawingml/2006/main"/>
        </p:blipFill>
        <p:spPr>
          <a:xfrm xmlns:a="http://schemas.openxmlformats.org/drawingml/2006/main">
            <a:off x="8812500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7" name="scale-20×-R152">
            <a:extLst xmlns:a="http://schemas.openxmlformats.org/drawingml/2006/main">
              <a:ext uri="{FF2B5EF4-FFF2-40B4-BE49-F238E27FC236}">
                <a16:creationId xmlns:a16="http://schemas.microsoft.com/office/drawing/2014/main" id="{13E4CB72-881A-45D9-9F6C-9C428809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417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8" name="scale-label-20×-R152">
            <a:extLst xmlns:a="http://schemas.openxmlformats.org/drawingml/2006/main">
              <a:ext uri="{FF2B5EF4-FFF2-40B4-BE49-F238E27FC236}">
                <a16:creationId xmlns:a16="http://schemas.microsoft.com/office/drawing/2014/main" id="{40A1395E-ECEE-4BA0-89B3-B233EAED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917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09" name="mag-50×">
            <a:extLst xmlns:a="http://schemas.openxmlformats.org/drawingml/2006/main">
              <a:ext uri="{FF2B5EF4-FFF2-40B4-BE49-F238E27FC236}">
                <a16:creationId xmlns:a16="http://schemas.microsoft.com/office/drawing/2014/main" id="{2A5BA278-2A29-4B23-B70C-F1AB4E38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184375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e23cc0a994e62"/>
          <a:stretch xmlns:a="http://schemas.openxmlformats.org/drawingml/2006/main"/>
        </p:blipFill>
        <p:spPr>
          <a:xfrm xmlns:a="http://schemas.openxmlformats.org/drawingml/2006/main">
            <a:off x="1546875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1" name="scale-50×-Raw">
            <a:extLst xmlns:a="http://schemas.openxmlformats.org/drawingml/2006/main">
              <a:ext uri="{FF2B5EF4-FFF2-40B4-BE49-F238E27FC236}">
                <a16:creationId xmlns:a16="http://schemas.microsoft.com/office/drawing/2014/main" id="{A61728ED-36C5-4D59-B34B-8736CD69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199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2" name="scale-label-50×-Raw">
            <a:extLst xmlns:a="http://schemas.openxmlformats.org/drawingml/2006/main">
              <a:ext uri="{FF2B5EF4-FFF2-40B4-BE49-F238E27FC236}">
                <a16:creationId xmlns:a16="http://schemas.microsoft.com/office/drawing/2014/main" id="{2804D02A-2BA9-43F6-A36D-0547FAD9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699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04e6396af4953"/>
          <a:stretch xmlns:a="http://schemas.openxmlformats.org/drawingml/2006/main"/>
        </p:blipFill>
        <p:spPr>
          <a:xfrm xmlns:a="http://schemas.openxmlformats.org/drawingml/2006/main">
            <a:off x="8812500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4" name="scale-50×-R152">
            <a:extLst xmlns:a="http://schemas.openxmlformats.org/drawingml/2006/main">
              <a:ext uri="{FF2B5EF4-FFF2-40B4-BE49-F238E27FC236}">
                <a16:creationId xmlns:a16="http://schemas.microsoft.com/office/drawing/2014/main" id="{B98E8DD2-7CEF-4DEB-9C0F-940F32C4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2824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5" name="scale-label-50×-R152">
            <a:extLst xmlns:a="http://schemas.openxmlformats.org/drawingml/2006/main">
              <a:ext uri="{FF2B5EF4-FFF2-40B4-BE49-F238E27FC236}">
                <a16:creationId xmlns:a16="http://schemas.microsoft.com/office/drawing/2014/main" id="{8F934B54-F44C-49B2-A0BC-0E872C84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324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6" name="fig1_caption">
            <a:extLst xmlns:a="http://schemas.openxmlformats.org/drawingml/2006/main">
              <a:ext uri="{FF2B5EF4-FFF2-40B4-BE49-F238E27FC236}">
                <a16:creationId xmlns:a16="http://schemas.microsoft.com/office/drawing/2014/main" id="{DEC1745E-47B1-4BBE-A7F7-FDCF87A8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8687500"/>
            <a:ext cx="1387500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Native-grid Raw and MOSR pillar fields at 20× and 50×. The common display range preserves direct visual comparison. Scale bars: 2 µm.</a:t>
            </a:r>
          </a:p>
        </p:txBody>
      </p:sp>
      <p:sp>
        <p:nvSpPr>
          <p:cNvPr id="3117" name="methods_body">
            <a:extLst xmlns:a="http://schemas.openxmlformats.org/drawingml/2006/main">
              <a:ext uri="{FF2B5EF4-FFF2-40B4-BE49-F238E27FC236}">
                <a16:creationId xmlns:a16="http://schemas.microsoft.com/office/drawing/2014/main" id="{FB82F3C9-463B-4B26-B12A-CB05BB7C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406250"/>
            <a:ext cx="13875000" cy="47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Reconstruction. MOSR combines U-Net context [1], anti-aliasing [2] and bounded PSF-guided correction. The learned weights remain fixed across objectives. Optical inputs comprise 25 measured kernels at 20× and one calibrated kernel at 50×.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Localization. Coarse contours [3] initialize geometric least-squares circle (LSC) centers [4]. The common reader refines each pillar with 720 uniform radial directions, 0.05-pixel profile sampling and three center updates.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Displacement. Each image pair yields nine independent horizontal center shifts. After conversion to object space, their absolute median defines one single-step displacement. The same procedure applies to all three image methods.</a:t>
            </a:r>
          </a:p>
        </p:txBody>
      </p:sp>
      <p:sp>
        <p:nvSpPr>
          <p:cNvPr id="3118" name="table1_caption">
            <a:extLst xmlns:a="http://schemas.openxmlformats.org/drawingml/2006/main">
              <a:ext uri="{FF2B5EF4-FFF2-40B4-BE49-F238E27FC236}">
                <a16:creationId xmlns:a16="http://schemas.microsoft.com/office/drawing/2014/main" id="{9CF623E6-7AA9-4358-9673-88F3D731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6328125"/>
            <a:ext cx="1378125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FIXED ACQUISITION CONDITIONS</a:t>
            </a:r>
          </a:p>
        </p:txBody>
      </p:sp>
      <p:graphicFrame>
        <p:nvGraphicFramePr>
          <p:cNvPr id="3167" name=""/>
          <p:cNvGraphicFramePr/>
          <p:nvPr/>
        </p:nvGraphicFramePr>
        <p:xfrm>
          <a:off xmlns:a="http://schemas.openxmlformats.org/drawingml/2006/main" x="1218750" y="37125000"/>
          <a:ext xmlns:a="http://schemas.openxmlformats.org/drawingml/2006/main" cx="13781250" cy="345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6250"/>
                <a:gridCol w="3468750"/>
                <a:gridCol w="2812500"/>
                <a:gridCol w="3843750"/>
              </a:tblGrid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120" name="statistics_definition">
            <a:extLst xmlns:a="http://schemas.openxmlformats.org/drawingml/2006/main">
              <a:ext uri="{FF2B5EF4-FFF2-40B4-BE49-F238E27FC236}">
                <a16:creationId xmlns:a16="http://schemas.microsoft.com/office/drawing/2014/main" id="{5FDC2568-2687-4664-9C28-C4675275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40875000"/>
            <a:ext cx="13781250" cy="9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Within each condition, Step SD is the sample standard deviation of its 30 single-step displacements (denominator 29). The reported mean is the arithmetic mean of the four condition-level SDs.</a:t>
            </a:r>
          </a:p>
        </p:txBody>
      </p:sp>
      <p:sp>
        <p:nvSpPr>
          <p:cNvPr id="3121" name="results_intro">
            <a:extLst xmlns:a="http://schemas.openxmlformats.org/drawingml/2006/main">
              <a:ext uri="{FF2B5EF4-FFF2-40B4-BE49-F238E27FC236}">
                <a16:creationId xmlns:a16="http://schemas.microsoft.com/office/drawing/2014/main" id="{9764221F-6391-429A-9239-B8B93702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0218750"/>
            <a:ext cx="13781250" cy="16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Each condition contributes one Step SD from 30 measured single steps. MOSR yields the lowest Step SD in all four conditions, directly linking reconstruction to reduced step-to-step dispersion.</a:t>
            </a:r>
          </a:p>
        </p:txBody>
      </p:sp>
      <p:sp>
        <p:nvSpPr>
          <p:cNvPr id="3122" name="primary_gain">
            <a:extLst xmlns:a="http://schemas.openxmlformats.org/drawingml/2006/main">
              <a:ext uri="{FF2B5EF4-FFF2-40B4-BE49-F238E27FC236}">
                <a16:creationId xmlns:a16="http://schemas.microsoft.com/office/drawing/2014/main" id="{1062001E-F0F7-450A-A732-0E79FA4C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375000"/>
            <a:ext cx="7265625" cy="19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19.5%</a:t>
            </a:r>
          </a:p>
        </p:txBody>
      </p:sp>
      <p:sp>
        <p:nvSpPr>
          <p:cNvPr id="3123" name="primary_values">
            <a:extLst xmlns:a="http://schemas.openxmlformats.org/drawingml/2006/main">
              <a:ext uri="{FF2B5EF4-FFF2-40B4-BE49-F238E27FC236}">
                <a16:creationId xmlns:a16="http://schemas.microsoft.com/office/drawing/2014/main" id="{89060BEF-03F1-4A68-B70F-F9D5A761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8750" y="12703125"/>
            <a:ext cx="5578125" cy="13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8.84 nm  Raw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7.11 nm  MOSR</a:t>
            </a:r>
          </a:p>
        </p:txBody>
      </p:sp>
      <p:sp>
        <p:nvSpPr>
          <p:cNvPr id="3124" name="primary_gain_label">
            <a:extLst xmlns:a="http://schemas.openxmlformats.org/drawingml/2006/main">
              <a:ext uri="{FF2B5EF4-FFF2-40B4-BE49-F238E27FC236}">
                <a16:creationId xmlns:a16="http://schemas.microsoft.com/office/drawing/2014/main" id="{A1487106-91E7-4B6A-9AFE-823F8498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4390625"/>
            <a:ext cx="13593750" cy="8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the mean Step SD</a:t>
            </a:r>
          </a:p>
        </p:txBody>
      </p:sp>
      <p:graphicFrame>
        <p:nvGraphicFramePr>
          <p:cNvPr id="3173" name="Chart"/>
          <p:cNvGraphicFramePr/>
          <p:nvPr/>
        </p:nvGraphicFramePr>
        <p:xfrm>
          <a:off xmlns:a="http://schemas.openxmlformats.org/drawingml/2006/main" x="17062500" y="15750000"/>
          <a:ext xmlns:a="http://schemas.openxmlformats.org/drawingml/2006/main" cx="14156250" cy="690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7bd03c25354273"/>
          </a:graphicData>
        </a:graphic>
      </p:graphicFrame>
      <p:sp>
        <p:nvSpPr>
          <p:cNvPr id="3126" name="fig2_caption">
            <a:extLst xmlns:a="http://schemas.openxmlformats.org/drawingml/2006/main">
              <a:ext uri="{FF2B5EF4-FFF2-40B4-BE49-F238E27FC236}">
                <a16:creationId xmlns:a16="http://schemas.microsoft.com/office/drawing/2014/main" id="{E3A3E3E9-4A95-4577-80E9-D776F3D7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2968750"/>
            <a:ext cx="13781250" cy="92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Condition-level standard deviation of 30 single-step displacements. All methods use the same locked pairs and circle-center reader.</a:t>
            </a:r>
          </a:p>
        </p:txBody>
      </p:sp>
      <p:sp>
        <p:nvSpPr>
          <p:cNvPr id="3127" name="result_interpretation">
            <a:extLst xmlns:a="http://schemas.openxmlformats.org/drawingml/2006/main">
              <a:ext uri="{FF2B5EF4-FFF2-40B4-BE49-F238E27FC236}">
                <a16:creationId xmlns:a16="http://schemas.microsoft.com/office/drawing/2014/main" id="{B472D8E1-9D02-4425-906D-0A685002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4281250"/>
            <a:ext cx="13781250" cy="17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reduction relative to Raw spans 9.8–24.1% across the four conditions. The largest reduction occurs at 20× with 0.5 µm steps, where Step SD decreases from 14.16 to 10.75 nm. MOSR also improves both 50× conditions.</a:t>
            </a:r>
          </a:p>
        </p:txBody>
      </p:sp>
      <p:sp>
        <p:nvSpPr>
          <p:cNvPr id="3128" name="table2_caption">
            <a:extLst xmlns:a="http://schemas.openxmlformats.org/drawingml/2006/main">
              <a:ext uri="{FF2B5EF4-FFF2-40B4-BE49-F238E27FC236}">
                <a16:creationId xmlns:a16="http://schemas.microsoft.com/office/drawing/2014/main" id="{7F4039F0-9D5E-4D5A-A9E9-47568DD1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6343750"/>
            <a:ext cx="137812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II. STEP SD AND RELATIVE REDUCTION</a:t>
            </a:r>
          </a:p>
        </p:txBody>
      </p:sp>
      <p:graphicFrame>
        <p:nvGraphicFramePr>
          <p:cNvPr id="3177" name=""/>
          <p:cNvGraphicFramePr/>
          <p:nvPr/>
        </p:nvGraphicFramePr>
        <p:xfrm>
          <a:off xmlns:a="http://schemas.openxmlformats.org/drawingml/2006/main" x="17156250" y="27187500"/>
          <a:ext xmlns:a="http://schemas.openxmlformats.org/drawingml/2006/main" cx="13781250" cy="457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31250"/>
                <a:gridCol w="2109375"/>
                <a:gridCol w="2343750"/>
                <a:gridCol w="2109375"/>
                <a:gridCol w="3187500"/>
              </a:tblGrid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Condition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MOSR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Reduction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vs Raw (%)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 / 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4.91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4.72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 / 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16.3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 / 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14.16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 / 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10.53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130" name="table2_note">
            <a:extLst xmlns:a="http://schemas.openxmlformats.org/drawingml/2006/main">
              <a:ext uri="{FF2B5EF4-FFF2-40B4-BE49-F238E27FC236}">
                <a16:creationId xmlns:a16="http://schemas.microsoft.com/office/drawing/2014/main" id="{C368EF14-B53F-4120-AC70-E49994C4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1875000"/>
            <a:ext cx="13781250" cy="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Mean row: arithmetic mean of the four SDs. Reduction = (Raw − MOSR) / Raw.</a:t>
            </a:r>
          </a:p>
        </p:txBody>
      </p:sp>
      <p:sp>
        <p:nvSpPr>
          <p:cNvPr id="3131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A8B6869B-A5AD-4DB9-BB51-8286FDB4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4125000"/>
            <a:ext cx="13781250" cy="29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lowers single-step dispersion in every tested condition, with reductions of 9.8–24.1% relative to Raw. The mean condition-level Step SD decreases by 19.5%.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set of reconstruction weights supports both objectives. Clearer pillar boundaries and lower displacement dispersion establish MOSR as a measurement-oriented reconstruction approach for cross-magnification optical inspection.</a:t>
            </a:r>
          </a:p>
        </p:txBody>
      </p:sp>
      <p:sp>
        <p:nvSpPr>
          <p:cNvPr id="3132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7C39204D-1806-4F67-82E6-0BCDB321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9000000"/>
            <a:ext cx="13687500" cy="26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494139611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2026-09-29T16:59:17.0660000Z</dcterms:created>
  <dcterms:modified xsi:type="dcterms:W3CDTF">2026-09-29T16:59:17.0660000Z</dcterms:modified>
</coreProperties>
</file>