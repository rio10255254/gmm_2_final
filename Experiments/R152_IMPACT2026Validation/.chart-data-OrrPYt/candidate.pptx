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bab55d4ca44d1" /><Relationship Type="http://schemas.openxmlformats.org/officeDocument/2006/relationships/extended-properties" Target="/docProps/app.xml" Id="R0f22405c39884f48" /><Relationship Type="http://schemas.openxmlformats.org/officeDocument/2006/relationships/officeDocument" Target="/ppt/presentation.xml" Id="Ra76047ff73ce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034088d46941bf"/>
  </p:sldMasterIdLst>
  <p:notesMasterIdLst>
    <p:notesMasterId xmlns:r="http://schemas.openxmlformats.org/officeDocument/2006/relationships" r:id="R66bf80fa965a4613"/>
  </p:notesMasterIdLst>
  <p:sldIdLst>
    <p:sldId xmlns:r="http://schemas.openxmlformats.org/officeDocument/2006/relationships" id="256" r:id="R0192568ed9e84548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59f21b7b54552" /><Relationship Type="http://schemas.openxmlformats.org/officeDocument/2006/relationships/slideMaster" Target="/ppt/slideMasters/slideMaster1.xml" Id="Rce034088d46941bf" /><Relationship Type="http://schemas.openxmlformats.org/officeDocument/2006/relationships/notesMaster" Target="/ppt/notesMasters/notesMaster1.xml" Id="R66bf80fa965a4613" /><Relationship Type="http://schemas.openxmlformats.org/officeDocument/2006/relationships/presProps" Target="/ppt/presProps.xml" Id="Raf2b92892d644631" /><Relationship Type="http://schemas.openxmlformats.org/officeDocument/2006/relationships/viewProps" Target="/ppt/viewProps.xml" Id="Re62c8158aad64850" /><Relationship Type="http://schemas.openxmlformats.org/officeDocument/2006/relationships/tableStyles" Target="/ppt/tableStyles.xml" Id="R829c98f3a8024c80" /><Relationship Type="http://schemas.openxmlformats.org/officeDocument/2006/relationships/slide" Target="/ppt/slides/slide1.xml" Id="R0192568ed9e8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adc6cfc8f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fae9d755f4ad7" /><Relationship Type="http://schemas.openxmlformats.org/officeDocument/2006/relationships/notesMaster" Target="/ppt/notesMasters/notesMaster1.xml" Id="R4769f5d7af36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cohort, 30 complete scans, 30 observed adjacent steps each. The line chart shows each scan SD. Summary is pooled within-scan SD, sqrt(mean(scan SD squared)); scans contain equal counts. This is not an average across acquisition conditions.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30 Raw-locked adjacent pairs. The bar chart is one sample SD per method from those 30 steps.</a:t>
            </a:r>
            <a:endParaRPr/>
          </a:p>
          <a:p xmlns:a="http://schemas.openxmlformats.org/drawingml/2006/main">
            <a:pPr>
              <a:buNone/>
            </a:pPr>
            <a:r>
              <a:t>These are separate acquisition cohorts, not a matched causal isolation of magnification. All three methods share identical inputs and the same native normal-gradient geometric LSC reader within each condition.</a:t>
            </a:r>
            <a:endParaRPr/>
          </a:p>
          <a:p xmlns:a="http://schemas.openxmlformats.org/drawingml/2006/main">
            <a:pPr>
              <a:buNone/>
            </a:pPr>
            <a:r>
              <a:t>The 0.5 micrometer 50x condition is retained in the complete audit and supplementary results; the submitted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All measured source numbers, reconstruction checks and citations are in the independent experiment workspace.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f2cf05ebb41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f3242d27145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48278fd0440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0dff57f4749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502ac9d404e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ca85f67bb4c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160693f9f44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3197ebaf34f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fd1eca05f4c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74975a98f42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5edca6336419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AB1BD8A-8B87-445C-B85D-B013F636A4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E2F6E245-1662-430D-B422-B0D1CCD6DE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882AE70-4B24-47AE-96F5-A1C1CD731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3CCFB85-1CBC-4AC0-B80A-0EB72D11C2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DD18B53-D7E9-4CB7-8449-50AE11D753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645805A-98AC-4A26-9257-D49732268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56823A-A726-4DCE-BF70-6489B85FD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E14B8B1-EE8D-4A4B-B87E-675034749F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951BAEC-35BB-43A9-B9FD-7D71D7F977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6068E67-2434-4627-91A4-91CF41C5D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D8CA984-3C01-4194-B04F-0F7E87608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8F875C5-A528-4610-8EFA-85AC18632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555516FB-AFDD-4AED-82F7-45D2CD92F1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29833E9-621D-4359-BBF2-89C8F6649A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3ED62C5-5847-470D-B27E-922D41238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4E1D61F-7A91-4524-A267-9CA0730CC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3565524-9BD2-4FE2-91AE-5461E1C3CC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F7943CE-98E7-48AB-BB13-0DEA9384B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E365053-17AB-4A74-AF65-0C10E3ED1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DDB5444E-5582-4402-91B4-B6641ED3ABB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2CA3482-9DA8-421B-8C37-F601724287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E653133-E4D2-4B37-8B57-269B18F7C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9651E6C-0466-454A-ACA0-AD3A7E697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592980A-E99C-40EB-B82C-3EB179739C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69C965B-3FDF-4F3A-9792-330CDBE55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a331432e54f75" /><Relationship Type="http://schemas.openxmlformats.org/officeDocument/2006/relationships/slideLayout" Target="/ppt/slideLayouts/slideLayout1.xml" Id="R783a157bbaa24d8f" /><Relationship Type="http://schemas.openxmlformats.org/officeDocument/2006/relationships/slideLayout" Target="/ppt/slideLayouts/slideLayout2.xml" Id="R9dced614249b4592" /><Relationship Type="http://schemas.openxmlformats.org/officeDocument/2006/relationships/slideLayout" Target="/ppt/slideLayouts/slideLayout3.xml" Id="Re991ec89571148ba" /><Relationship Type="http://schemas.openxmlformats.org/officeDocument/2006/relationships/slideLayout" Target="/ppt/slideLayouts/slideLayout4.xml" Id="R0087f9707cdd4bd6" /><Relationship Type="http://schemas.openxmlformats.org/officeDocument/2006/relationships/slideLayout" Target="/ppt/slideLayouts/slideLayout5.xml" Id="Rfca1358880c44780" /><Relationship Type="http://schemas.openxmlformats.org/officeDocument/2006/relationships/slideLayout" Target="/ppt/slideLayouts/slideLayout6.xml" Id="R45d7dc538a644a56" /><Relationship Type="http://schemas.openxmlformats.org/officeDocument/2006/relationships/slideLayout" Target="/ppt/slideLayouts/slideLayout7.xml" Id="Rb15031fbfec54d6b" /><Relationship Type="http://schemas.openxmlformats.org/officeDocument/2006/relationships/slideLayout" Target="/ppt/slideLayouts/slideLayout8.xml" Id="R2305dc614115443d" /><Relationship Type="http://schemas.openxmlformats.org/officeDocument/2006/relationships/slideLayout" Target="/ppt/slideLayouts/slideLayout9.xml" Id="R8ab8bec074824ae3" /><Relationship Type="http://schemas.openxmlformats.org/officeDocument/2006/relationships/slideLayout" Target="/ppt/slideLayouts/slideLayout10.xml" Id="Rb864adf3c8f74c26" /><Relationship Type="http://schemas.openxmlformats.org/officeDocument/2006/relationships/slideLayout" Target="/ppt/slideLayouts/slideLayout11.xml" Id="Rc0b9eff9d9ad450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a157bbaa24d8f"/>
    <p:sldLayoutId xmlns:r="http://schemas.openxmlformats.org/officeDocument/2006/relationships" id="2147483650" r:id="R9dced614249b4592"/>
    <p:sldLayoutId xmlns:r="http://schemas.openxmlformats.org/officeDocument/2006/relationships" id="2147483651" r:id="Re991ec89571148ba"/>
    <p:sldLayoutId xmlns:r="http://schemas.openxmlformats.org/officeDocument/2006/relationships" id="2147483652" r:id="R0087f9707cdd4bd6"/>
    <p:sldLayoutId xmlns:r="http://schemas.openxmlformats.org/officeDocument/2006/relationships" id="2147483653" r:id="Rfca1358880c44780"/>
    <p:sldLayoutId xmlns:r="http://schemas.openxmlformats.org/officeDocument/2006/relationships" id="2147483654" r:id="R45d7dc538a644a56"/>
    <p:sldLayoutId xmlns:r="http://schemas.openxmlformats.org/officeDocument/2006/relationships" id="2147483655" r:id="Rb15031fbfec54d6b"/>
    <p:sldLayoutId xmlns:r="http://schemas.openxmlformats.org/officeDocument/2006/relationships" id="2147483656" r:id="R2305dc614115443d"/>
    <p:sldLayoutId xmlns:r="http://schemas.openxmlformats.org/officeDocument/2006/relationships" id="2147483657" r:id="R8ab8bec074824ae3"/>
    <p:sldLayoutId xmlns:r="http://schemas.openxmlformats.org/officeDocument/2006/relationships" id="2147483658" r:id="Rb864adf3c8f74c26"/>
    <p:sldLayoutId xmlns:r="http://schemas.openxmlformats.org/officeDocument/2006/relationships" id="2147483659" r:id="Rc0b9eff9d9ad4507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c2049278143f2" /><Relationship Type="http://schemas.openxmlformats.org/officeDocument/2006/relationships/image" Target="/ppt/media/image.jpeg" Id="R1820a6a879f04d4c" /><Relationship Type="http://schemas.openxmlformats.org/officeDocument/2006/relationships/image" Target="/ppt/media/image.png" Id="R0fd8826f1cf94f79" /><Relationship Type="http://schemas.openxmlformats.org/officeDocument/2006/relationships/image" Target="/ppt/media/image2.png" Id="R7863940690004dd9" /><Relationship Type="http://schemas.openxmlformats.org/officeDocument/2006/relationships/image" Target="/ppt/media/image3.png" Id="R9d39778a0d0f4c38" /><Relationship Type="http://schemas.openxmlformats.org/officeDocument/2006/relationships/image" Target="/ppt/media/image4.png" Id="R1ecb6e86b8ce4cd8" /><Relationship Type="http://schemas.openxmlformats.org/officeDocument/2006/relationships/chart" Target="/ppt/slides/charts/chart1.xml" Id="Rb2ad1809822f42ef" /><Relationship Type="http://schemas.openxmlformats.org/officeDocument/2006/relationships/chart" Target="/ppt/slides/charts/chart2.xml" Id="Raed65d0a1ca24694" /><Relationship Type="http://schemas.openxmlformats.org/officeDocument/2006/relationships/notesSlide" Target="/ppt/notesSlides/notesSlide1.xml" Id="R5afb4ac875324f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7.673786</c:v>
                </c:pt>
                <c:pt idx="1">
                  <c:v>7.419405</c:v>
                </c:pt>
                <c:pt idx="2">
                  <c:v>9.653318</c:v>
                </c:pt>
                <c:pt idx="3">
                  <c:v>9.000257</c:v>
                </c:pt>
                <c:pt idx="4">
                  <c:v>9.665428</c:v>
                </c:pt>
                <c:pt idx="5">
                  <c:v>7.659357</c:v>
                </c:pt>
                <c:pt idx="6">
                  <c:v>9.506103</c:v>
                </c:pt>
                <c:pt idx="7">
                  <c:v>9.832487</c:v>
                </c:pt>
                <c:pt idx="8">
                  <c:v>9.318423</c:v>
                </c:pt>
                <c:pt idx="9">
                  <c:v>9.92903</c:v>
                </c:pt>
                <c:pt idx="10">
                  <c:v>7.353788</c:v>
                </c:pt>
                <c:pt idx="11">
                  <c:v>9.246503</c:v>
                </c:pt>
                <c:pt idx="12">
                  <c:v>10.802784</c:v>
                </c:pt>
                <c:pt idx="13">
                  <c:v>6.952348</c:v>
                </c:pt>
                <c:pt idx="14">
                  <c:v>8.90556</c:v>
                </c:pt>
                <c:pt idx="15">
                  <c:v>11.457155</c:v>
                </c:pt>
                <c:pt idx="16">
                  <c:v>10.900367</c:v>
                </c:pt>
                <c:pt idx="17">
                  <c:v>11.368474</c:v>
                </c:pt>
                <c:pt idx="18">
                  <c:v>10.276689</c:v>
                </c:pt>
                <c:pt idx="19">
                  <c:v>9.89601</c:v>
                </c:pt>
                <c:pt idx="20">
                  <c:v>10.901541</c:v>
                </c:pt>
                <c:pt idx="21">
                  <c:v>11.101913</c:v>
                </c:pt>
                <c:pt idx="22">
                  <c:v>13.782461</c:v>
                </c:pt>
                <c:pt idx="23">
                  <c:v>12.266395</c:v>
                </c:pt>
                <c:pt idx="24">
                  <c:v>12.39184</c:v>
                </c:pt>
                <c:pt idx="25">
                  <c:v>10.314117</c:v>
                </c:pt>
                <c:pt idx="26">
                  <c:v>10.64413</c:v>
                </c:pt>
                <c:pt idx="27">
                  <c:v>10.597998</c:v>
                </c:pt>
                <c:pt idx="28">
                  <c:v>9.484928</c:v>
                </c:pt>
                <c:pt idx="29">
                  <c:v>13.548245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7.114887</c:v>
                </c:pt>
                <c:pt idx="1">
                  <c:v>5.739583</c:v>
                </c:pt>
                <c:pt idx="2">
                  <c:v>7.034443</c:v>
                </c:pt>
                <c:pt idx="3">
                  <c:v>6.035852</c:v>
                </c:pt>
                <c:pt idx="4">
                  <c:v>5.61128</c:v>
                </c:pt>
                <c:pt idx="5">
                  <c:v>6.150352</c:v>
                </c:pt>
                <c:pt idx="6">
                  <c:v>5.79436</c:v>
                </c:pt>
                <c:pt idx="7">
                  <c:v>5.662249</c:v>
                </c:pt>
                <c:pt idx="8">
                  <c:v>8.138545</c:v>
                </c:pt>
                <c:pt idx="9">
                  <c:v>5.973368</c:v>
                </c:pt>
                <c:pt idx="10">
                  <c:v>4.903213</c:v>
                </c:pt>
                <c:pt idx="11">
                  <c:v>6.976592</c:v>
                </c:pt>
                <c:pt idx="12">
                  <c:v>8.14444</c:v>
                </c:pt>
                <c:pt idx="13">
                  <c:v>7.275514</c:v>
                </c:pt>
                <c:pt idx="14">
                  <c:v>5.382559</c:v>
                </c:pt>
                <c:pt idx="15">
                  <c:v>7.324778</c:v>
                </c:pt>
                <c:pt idx="16">
                  <c:v>5.859561</c:v>
                </c:pt>
                <c:pt idx="17">
                  <c:v>6.671378</c:v>
                </c:pt>
                <c:pt idx="18">
                  <c:v>5.304365</c:v>
                </c:pt>
                <c:pt idx="19">
                  <c:v>10.282642</c:v>
                </c:pt>
                <c:pt idx="20">
                  <c:v>8.262622</c:v>
                </c:pt>
                <c:pt idx="21">
                  <c:v>10.13655</c:v>
                </c:pt>
                <c:pt idx="22">
                  <c:v>12.664052</c:v>
                </c:pt>
                <c:pt idx="23">
                  <c:v>14.872753</c:v>
                </c:pt>
                <c:pt idx="24">
                  <c:v>11.815431</c:v>
                </c:pt>
                <c:pt idx="25">
                  <c:v>15.093454</c:v>
                </c:pt>
                <c:pt idx="26">
                  <c:v>9.374171</c:v>
                </c:pt>
                <c:pt idx="27">
                  <c:v>8.808932</c:v>
                </c:pt>
                <c:pt idx="28">
                  <c:v>9.219305</c:v>
                </c:pt>
                <c:pt idx="29">
                  <c:v>8.264449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3.848346</c:v>
                </c:pt>
                <c:pt idx="1">
                  <c:v>3.665054</c:v>
                </c:pt>
                <c:pt idx="2">
                  <c:v>3.616307</c:v>
                </c:pt>
                <c:pt idx="3">
                  <c:v>3.377203</c:v>
                </c:pt>
                <c:pt idx="4">
                  <c:v>3.9215</c:v>
                </c:pt>
                <c:pt idx="5">
                  <c:v>4.036928</c:v>
                </c:pt>
                <c:pt idx="6">
                  <c:v>4.06794</c:v>
                </c:pt>
                <c:pt idx="7">
                  <c:v>4.422821</c:v>
                </c:pt>
                <c:pt idx="8">
                  <c:v>4.491446</c:v>
                </c:pt>
                <c:pt idx="9">
                  <c:v>3.882162</c:v>
                </c:pt>
                <c:pt idx="10">
                  <c:v>3.515973</c:v>
                </c:pt>
                <c:pt idx="11">
                  <c:v>4.807692</c:v>
                </c:pt>
                <c:pt idx="12">
                  <c:v>3.906009</c:v>
                </c:pt>
                <c:pt idx="13">
                  <c:v>3.64357</c:v>
                </c:pt>
                <c:pt idx="14">
                  <c:v>4.230138</c:v>
                </c:pt>
                <c:pt idx="15">
                  <c:v>4.060178</c:v>
                </c:pt>
                <c:pt idx="16">
                  <c:v>5.498878</c:v>
                </c:pt>
                <c:pt idx="17">
                  <c:v>4.409009</c:v>
                </c:pt>
                <c:pt idx="18">
                  <c:v>4.599307</c:v>
                </c:pt>
                <c:pt idx="19">
                  <c:v>5.417411</c:v>
                </c:pt>
                <c:pt idx="20">
                  <c:v>5.100712</c:v>
                </c:pt>
                <c:pt idx="21">
                  <c:v>5.383024</c:v>
                </c:pt>
                <c:pt idx="22">
                  <c:v>6.989032</c:v>
                </c:pt>
                <c:pt idx="23">
                  <c:v>6.901149</c:v>
                </c:pt>
                <c:pt idx="24">
                  <c:v>6.34537</c:v>
                </c:pt>
                <c:pt idx="25">
                  <c:v>6.510709</c:v>
                </c:pt>
                <c:pt idx="26">
                  <c:v>6.290474</c:v>
                </c:pt>
                <c:pt idx="27">
                  <c:v>5.010363</c:v>
                </c:pt>
                <c:pt idx="28">
                  <c:v>5.273691</c:v>
                </c:pt>
                <c:pt idx="29">
                  <c:v>5.391519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Scan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5.938042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4.721663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Data'!$F$2:$F$2</c:f>
              <c:numCache>
                <c:formatCode>0.000</c:formatCode>
                <c:ptCount val="1"/>
                <c:pt idx="0">
                  <c:v>4.54174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none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B63C0E14-AB7D-4B3E-A0CB-13FA22E2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F155988-232E-4E37-BBC7-494DEAF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C6401201-CC30-4CCE-9AE1-14922A3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C20866B1-B188-481E-A08B-44144C1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74FACDD-93F3-4B54-922C-7119998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45D8BB61-AF91-4659-94BF-F6B340C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2E840DD-017B-4DD6-9845-0168F50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ADE0CFA9-0833-4285-8B6E-B2C23F2C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1EAA944-99D9-4733-9BAC-876BD49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A3EF4929-1C9E-4FC0-9065-23C0A16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0a6a879f04d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50605DEB-2C0B-4347-9336-42BDE59D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3A21486D-F656-44FA-A425-76567ED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98AF1631-DAFB-4A42-A299-2ACF1F1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34E0F29A-06AC-4183-9BD9-8A653CD9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2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Microscopy reconstruction supports optical inspection when clearer boundaries also produce more stable position measurements. Objective changes alter object-space sampling, optical blur and the pixel phase of motion. The variation of measured single steps provides a direct test of reconstruction for displacement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native pixel grid. One fixed set of learned weights serves 20× and 50× objectives. This study examines each objective at a common nominal step of 1 µm, with Raw, fixed Wiener and MOSR sharing the same image pairs and circle-center calculation.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C025690C-EDC4-471A-8150-AA42EF55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B53DC164-FF24-405E-950A-1831315A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1005C8B1-66F9-451F-ABDE-5D64FE9A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8826f1cf94f79"/>
          <a:stretch xmlns:a="http://schemas.openxmlformats.org/drawingml/2006/main"/>
        </p:blipFill>
        <p:spPr>
          <a:xfrm xmlns:a="http://schemas.openxmlformats.org/drawingml/2006/main">
            <a:off x="1546875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E783CFC-C5A0-41AA-B9ED-801F2591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90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29FA87B4-9962-4512-9602-0DB27EF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90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3940690004dd9"/>
          <a:stretch xmlns:a="http://schemas.openxmlformats.org/drawingml/2006/main"/>
        </p:blipFill>
        <p:spPr>
          <a:xfrm xmlns:a="http://schemas.openxmlformats.org/drawingml/2006/main">
            <a:off x="8812500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3B1EC6F6-0A96-4A18-BF30-7614A40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8415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2DDD9ED6-9E99-4753-82F3-F45F771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915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70A81AEF-8BE3-4643-891F-3E51C79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9778a0d0f4c38"/>
          <a:stretch xmlns:a="http://schemas.openxmlformats.org/drawingml/2006/main"/>
        </p:blipFill>
        <p:spPr>
          <a:xfrm xmlns:a="http://schemas.openxmlformats.org/drawingml/2006/main">
            <a:off x="1546875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ACD97A9D-9997-446F-A7B3-DF71DD7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42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29001BD6-8638-4A5F-8121-D8564D1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42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b6e86b8ce4cd8"/>
          <a:stretch xmlns:a="http://schemas.openxmlformats.org/drawingml/2006/main"/>
        </p:blipFill>
        <p:spPr>
          <a:xfrm xmlns:a="http://schemas.openxmlformats.org/drawingml/2006/main">
            <a:off x="8812500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43064E18-FCA0-43E4-A969-0F54AFE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267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CE3002D6-8A86-4D3E-94D5-A1FB63C2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767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688DA120-FB67-4A70-BD51-25E843EE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20× and 50×, 1 µm datasets. Each comparison uses the same field and grayscale range.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D4BEDDD2-5052-444D-8EAB-F74D1CB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 guidance. The optical inputs comprise 25 measured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maximum-gradient boundary points. Geometric least-squares circle fitting [4] uses 64 points at 20× and 96 at 50×. Gradient peaks provide subpixel boundary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The median of nine pillar-center changes defines each step along the acquisition motion direction. The 20× dataset contains 30 complete scans of 30 steps. The 50× dataset contains 30 locked adjacent-frame pairs.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E54FE400-B584-4AE4-947A-E603B64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225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scans × 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054321CA-5A49-4FD2-BBDE-8602579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781250" cy="18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scan or locked set yields the sample SD of 30 steps (denominator 29). At 20×, all 30 scan SDs are shown; the within-scan summary is the square root of their mean squared SD. The 50× result is reported separately. Both use image-measured displacement.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2FF58088-5336-4705-8AD9-6DB63A7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D8AC10F-718E-42E8-AB4C-4557CE8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repeated scans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823E48EE-799B-48B7-8924-A1D1504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52.3%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525AF869-C463-4693-8DB7-ED6E077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10.200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4.865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D5C1B54F-4A60-4638-B6BF-B8CD94B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pooled within-scan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ad1809822f42ef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CF9F8483-C55D-4D56-9259-802BFB7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Each point is the SD of 30 measured steps in one 20× scan. The 30 scans retain their individual results for all three methods.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BA33014-424B-4099-A86A-8C89BF8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Step SD in all 30 scans, with per-scan reductions of 36.9–64.6% relative to Raw. The within-scan summary is 8.431 nm for fixed Wiener and 4.865 nm for MOSR.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5D0D7D08-22E9-46B4-A345-53CD7C1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locked pairs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DE67DC9A-C6D8-40C5-9E44-9C7AB5ED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49D96630-CD33-43F5-9374-9D3C0141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9411935B-3FA1-4B0E-8DEB-511271F5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45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d65d0a1ca24694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574235A6-C44E-4DD8-9665-8A11301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734375"/>
            <a:ext cx="13781250" cy="13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SD of the 30 locked 1 µm displacements at 50×. The same calibrated optical input supports Wiener and MOSR; the circle-center calculation is shared by all methods.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620F503A-8B29-40D8-9B26-0B13238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MOSR lowers pooled within-scan step variation by 52.3% and improves all 30 repeated scans. At 50×, Step SD falls by 23.5% for the fixed 1 µm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displacement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FCA9DB74-69AC-4A44-B01E-3D0DFBB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544842278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2026-09-29T17:26:15.7030000Z</dcterms:created>
  <dcterms:modified xsi:type="dcterms:W3CDTF">2026-09-29T17:26:15.7030000Z</dcterms:modified>
</coreProperties>
</file>